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259"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8852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9966960" y="-1463040"/>
            <a:ext cx="4572000" cy="4572000"/>
          </a:xfrm>
          <a:prstGeom prst="ellipse">
            <a:avLst/>
          </a:prstGeom>
          <a:solidFill>
            <a:srgbClr val="155D36"/>
          </a:solidFill>
          <a:ln/>
        </p:spPr>
      </p:sp>
      <p:sp>
        <p:nvSpPr>
          <p:cNvPr id="3" name="Shape 1"/>
          <p:cNvSpPr/>
          <p:nvPr/>
        </p:nvSpPr>
        <p:spPr>
          <a:xfrm>
            <a:off x="-2011680" y="4754880"/>
            <a:ext cx="4114800" cy="4114800"/>
          </a:xfrm>
          <a:prstGeom prst="ellipse">
            <a:avLst/>
          </a:prstGeom>
          <a:solidFill>
            <a:srgbClr val="155D36"/>
          </a:solidFill>
          <a:ln/>
        </p:spPr>
      </p:sp>
      <p:sp>
        <p:nvSpPr>
          <p:cNvPr id="4" name="Text 2"/>
          <p:cNvSpPr/>
          <p:nvPr/>
        </p:nvSpPr>
        <p:spPr>
          <a:xfrm>
            <a:off x="822960" y="1097280"/>
            <a:ext cx="10543032" cy="457200"/>
          </a:xfrm>
          <a:prstGeom prst="rect">
            <a:avLst/>
          </a:prstGeom>
          <a:noFill/>
          <a:ln/>
        </p:spPr>
        <p:txBody>
          <a:bodyPr wrap="square" lIns="0" tIns="0" rIns="0" bIns="0" rtlCol="0" anchor="ctr"/>
          <a:lstStyle/>
          <a:p>
            <a:pPr marL="0" indent="0">
              <a:buNone/>
            </a:pPr>
            <a:r>
              <a:rPr lang="en-US" sz="2200" b="1" kern="0" spc="200" dirty="0">
                <a:solidFill>
                  <a:srgbClr val="8E2DE2"/>
                </a:solidFill>
                <a:latin typeface="Calibri" pitchFamily="34" charset="0"/>
                <a:ea typeface="Calibri" pitchFamily="34" charset="-122"/>
                <a:cs typeface="Calibri" pitchFamily="34" charset="-120"/>
              </a:rPr>
              <a:t>VIBEATHON CÔTE D'IVOIRE 2026 — 1ère ÉDITION</a:t>
            </a:r>
            <a:endParaRPr lang="en-US" sz="2200" dirty="0"/>
          </a:p>
        </p:txBody>
      </p:sp>
      <p:sp>
        <p:nvSpPr>
          <p:cNvPr id="5" name="Text 3"/>
          <p:cNvSpPr/>
          <p:nvPr/>
        </p:nvSpPr>
        <p:spPr>
          <a:xfrm>
            <a:off x="777240" y="1600200"/>
            <a:ext cx="10634472" cy="1554480"/>
          </a:xfrm>
          <a:prstGeom prst="rect">
            <a:avLst/>
          </a:prstGeom>
          <a:noFill/>
          <a:ln/>
        </p:spPr>
        <p:txBody>
          <a:bodyPr wrap="square" lIns="0" tIns="0" rIns="0" bIns="0" rtlCol="0" anchor="ctr"/>
          <a:lstStyle/>
          <a:p>
            <a:pPr marL="0" indent="0">
              <a:buNone/>
            </a:pPr>
            <a:r>
              <a:rPr lang="en-US" sz="6800" b="1" dirty="0">
                <a:solidFill>
                  <a:srgbClr val="FFFFFF"/>
                </a:solidFill>
                <a:latin typeface="Cambria" pitchFamily="34" charset="0"/>
                <a:ea typeface="Cambria" pitchFamily="34" charset="-122"/>
                <a:cs typeface="Cambria" pitchFamily="34" charset="-120"/>
              </a:rPr>
              <a:t>PITCH MASTERCLASS</a:t>
            </a:r>
            <a:endParaRPr lang="en-US" sz="6800" dirty="0"/>
          </a:p>
        </p:txBody>
      </p:sp>
      <p:sp>
        <p:nvSpPr>
          <p:cNvPr id="6" name="Text 4"/>
          <p:cNvSpPr/>
          <p:nvPr/>
        </p:nvSpPr>
        <p:spPr>
          <a:xfrm>
            <a:off x="822960" y="3108960"/>
            <a:ext cx="10543032" cy="685800"/>
          </a:xfrm>
          <a:prstGeom prst="rect">
            <a:avLst/>
          </a:prstGeom>
          <a:noFill/>
          <a:ln/>
        </p:spPr>
        <p:txBody>
          <a:bodyPr wrap="square" lIns="0" tIns="0" rIns="0" bIns="0" rtlCol="0" anchor="ctr"/>
          <a:lstStyle/>
          <a:p>
            <a:pPr marL="0" indent="0">
              <a:buNone/>
            </a:pPr>
            <a:r>
              <a:rPr lang="en-US" sz="2550" i="1" dirty="0">
                <a:solidFill>
                  <a:srgbClr val="C24BEE"/>
                </a:solidFill>
                <a:latin typeface="Calibri" pitchFamily="34" charset="0"/>
                <a:ea typeface="Calibri" pitchFamily="34" charset="-122"/>
                <a:cs typeface="Calibri" pitchFamily="34" charset="-120"/>
              </a:rPr>
              <a:t>Intelligence artificielle et environnement : innover pour un avenir durable et inclusif</a:t>
            </a:r>
            <a:endParaRPr lang="en-US" sz="2550" dirty="0"/>
          </a:p>
        </p:txBody>
      </p:sp>
      <p:sp>
        <p:nvSpPr>
          <p:cNvPr id="7" name="Shape 5"/>
          <p:cNvSpPr/>
          <p:nvPr/>
        </p:nvSpPr>
        <p:spPr>
          <a:xfrm>
            <a:off x="822960" y="3931920"/>
            <a:ext cx="2011680" cy="0"/>
          </a:xfrm>
          <a:prstGeom prst="line">
            <a:avLst/>
          </a:prstGeom>
          <a:noFill/>
          <a:ln w="25400">
            <a:solidFill>
              <a:srgbClr val="8E2DE2"/>
            </a:solidFill>
            <a:prstDash val="solid"/>
          </a:ln>
        </p:spPr>
      </p:sp>
      <p:sp>
        <p:nvSpPr>
          <p:cNvPr id="8" name="Text 6"/>
          <p:cNvSpPr/>
          <p:nvPr/>
        </p:nvSpPr>
        <p:spPr>
          <a:xfrm>
            <a:off x="822960" y="4206240"/>
            <a:ext cx="10360152" cy="1371600"/>
          </a:xfrm>
          <a:prstGeom prst="rect">
            <a:avLst/>
          </a:prstGeom>
          <a:noFill/>
          <a:ln/>
        </p:spPr>
        <p:txBody>
          <a:bodyPr wrap="square" lIns="0" tIns="0" rIns="0" bIns="0" rtlCol="0" anchor="ctr"/>
          <a:lstStyle/>
          <a:p>
            <a:pPr marL="0" indent="0">
              <a:lnSpc>
                <a:spcPct val="135000"/>
              </a:lnSpc>
              <a:buNone/>
            </a:pPr>
            <a:r>
              <a:rPr lang="en-US" sz="2200" b="1" dirty="0">
                <a:solidFill>
                  <a:srgbClr val="FFFFFF"/>
                </a:solidFill>
                <a:latin typeface="Calibri" pitchFamily="34" charset="0"/>
                <a:ea typeface="Calibri" pitchFamily="34" charset="-122"/>
                <a:cs typeface="Calibri" pitchFamily="34" charset="-120"/>
              </a:rPr>
              <a:t>Formation intensive — 4 heures · 11 juillet 2026 · CSCTICAO</a:t>
            </a:r>
            <a:endParaRPr lang="en-US" sz="2200" dirty="0"/>
          </a:p>
          <a:p>
            <a:pPr marL="0" indent="0">
              <a:lnSpc>
                <a:spcPct val="135000"/>
              </a:lnSpc>
              <a:buNone/>
            </a:pPr>
            <a:r>
              <a:rPr lang="en-US" sz="2200" dirty="0">
                <a:solidFill>
                  <a:srgbClr val="FFFFFF"/>
                </a:solidFill>
                <a:latin typeface="Calibri" pitchFamily="34" charset="0"/>
                <a:ea typeface="Calibri" pitchFamily="34" charset="-122"/>
                <a:cs typeface="Calibri" pitchFamily="34" charset="-120"/>
              </a:rPr>
              <a:t>100 compétiteurs — 20 équipes de 5</a:t>
            </a:r>
            <a:endParaRPr lang="en-US" sz="2200" dirty="0"/>
          </a:p>
          <a:p>
            <a:pPr marL="0" indent="0">
              <a:lnSpc>
                <a:spcPct val="135000"/>
              </a:lnSpc>
              <a:buNone/>
            </a:pPr>
            <a:r>
              <a:rPr lang="en-US" sz="2200" dirty="0">
                <a:solidFill>
                  <a:srgbClr val="FFFFFF"/>
                </a:solidFill>
                <a:latin typeface="Calibri" pitchFamily="34" charset="0"/>
                <a:ea typeface="Calibri" pitchFamily="34" charset="-122"/>
                <a:cs typeface="Calibri" pitchFamily="34" charset="-120"/>
              </a:rPr>
              <a:t>Facilitateur : Esaie DIEI — HBS Alumni, Directeur Général AFRINOVATECH</a:t>
            </a:r>
            <a:endParaRPr lang="en-US" sz="2200" dirty="0"/>
          </a:p>
        </p:txBody>
      </p:sp>
      <p:sp>
        <p:nvSpPr>
          <p:cNvPr id="9" name="Text 7"/>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10" name="Text 8"/>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411480"/>
          </a:xfrm>
          <a:prstGeom prst="rect">
            <a:avLst/>
          </a:prstGeom>
          <a:noFill/>
          <a:ln/>
        </p:spPr>
        <p:txBody>
          <a:bodyPr wrap="square" lIns="0" tIns="0" rIns="0" bIns="0" rtlCol="0" anchor="ctr"/>
          <a:lstStyle/>
          <a:p>
            <a:pPr marL="0" indent="0">
              <a:buNone/>
            </a:pPr>
            <a:r>
              <a:rPr lang="en-US" sz="1900" b="1" kern="0" spc="200" dirty="0">
                <a:solidFill>
                  <a:srgbClr val="8E2DE2"/>
                </a:solidFill>
                <a:latin typeface="Calibri" pitchFamily="34" charset="0"/>
                <a:ea typeface="Calibri" pitchFamily="34" charset="-122"/>
                <a:cs typeface="Calibri" pitchFamily="34" charset="-120"/>
              </a:rPr>
              <a:t>LE FACILITATEUR</a:t>
            </a:r>
            <a:endParaRPr lang="en-US" sz="1900" dirty="0"/>
          </a:p>
        </p:txBody>
      </p:sp>
      <p:sp>
        <p:nvSpPr>
          <p:cNvPr id="3" name="Text 1"/>
          <p:cNvSpPr/>
          <p:nvPr/>
        </p:nvSpPr>
        <p:spPr>
          <a:xfrm>
            <a:off x="640080" y="868680"/>
            <a:ext cx="10908792" cy="1188720"/>
          </a:xfrm>
          <a:prstGeom prst="rect">
            <a:avLst/>
          </a:prstGeom>
          <a:noFill/>
          <a:ln/>
        </p:spPr>
        <p:txBody>
          <a:bodyPr wrap="square" lIns="0" tIns="0" rIns="0" bIns="0" rtlCol="0" anchor="t"/>
          <a:lstStyle/>
          <a:p>
            <a:pPr marL="0" indent="0">
              <a:buNone/>
            </a:pPr>
            <a:r>
              <a:rPr lang="en-US" sz="4200" b="1" dirty="0">
                <a:solidFill>
                  <a:srgbClr val="000000"/>
                </a:solidFill>
                <a:latin typeface="Cambria" pitchFamily="34" charset="0"/>
                <a:ea typeface="Cambria" pitchFamily="34" charset="-122"/>
                <a:cs typeface="Cambria" pitchFamily="34" charset="-120"/>
              </a:rPr>
              <a:t>Une formation animée par un HBS Alumni</a:t>
            </a:r>
            <a:endParaRPr lang="en-US" sz="4200" dirty="0"/>
          </a:p>
        </p:txBody>
      </p:sp>
      <p:sp>
        <p:nvSpPr>
          <p:cNvPr id="4" name="Shape 2"/>
          <p:cNvSpPr/>
          <p:nvPr/>
        </p:nvSpPr>
        <p:spPr>
          <a:xfrm>
            <a:off x="640080" y="2148840"/>
            <a:ext cx="914400" cy="914400"/>
          </a:xfrm>
          <a:prstGeom prst="ellipse">
            <a:avLst/>
          </a:prstGeom>
          <a:solidFill>
            <a:srgbClr val="8E2DE2"/>
          </a:solidFill>
          <a:ln/>
        </p:spPr>
      </p:sp>
      <p:pic>
        <p:nvPicPr>
          <p:cNvPr id="5" name="Image 0" descr="preencoded.png"/>
          <p:cNvPicPr>
            <a:picLocks noChangeAspect="1"/>
          </p:cNvPicPr>
          <p:nvPr/>
        </p:nvPicPr>
        <p:blipFill>
          <a:blip r:embed="rId3"/>
          <a:stretch>
            <a:fillRect/>
          </a:stretch>
        </p:blipFill>
        <p:spPr>
          <a:xfrm>
            <a:off x="749808" y="2258568"/>
            <a:ext cx="694944" cy="694944"/>
          </a:xfrm>
          <a:prstGeom prst="rect">
            <a:avLst/>
          </a:prstGeom>
        </p:spPr>
      </p:pic>
      <p:sp>
        <p:nvSpPr>
          <p:cNvPr id="6" name="Text 3"/>
          <p:cNvSpPr/>
          <p:nvPr/>
        </p:nvSpPr>
        <p:spPr>
          <a:xfrm>
            <a:off x="1828800" y="2148840"/>
            <a:ext cx="9628632" cy="1463040"/>
          </a:xfrm>
          <a:prstGeom prst="rect">
            <a:avLst/>
          </a:prstGeom>
          <a:noFill/>
          <a:ln/>
        </p:spPr>
        <p:txBody>
          <a:bodyPr wrap="square" lIns="0" tIns="0" rIns="0" bIns="0" rtlCol="0" anchor="ctr"/>
          <a:lstStyle/>
          <a:p>
            <a:pPr marL="0" indent="0">
              <a:lnSpc>
                <a:spcPct val="125000"/>
              </a:lnSpc>
              <a:buNone/>
            </a:pPr>
            <a:r>
              <a:rPr lang="en-US" sz="2600" b="1" dirty="0">
                <a:solidFill>
                  <a:srgbClr val="000000"/>
                </a:solidFill>
                <a:latin typeface="Calibri" pitchFamily="34" charset="0"/>
                <a:ea typeface="Calibri" pitchFamily="34" charset="-122"/>
                <a:cs typeface="Calibri" pitchFamily="34" charset="-120"/>
              </a:rPr>
              <a:t>Esaie DIEI</a:t>
            </a:r>
            <a:endParaRPr lang="en-US" sz="2600" dirty="0"/>
          </a:p>
          <a:p>
            <a:pPr marL="0" indent="0">
              <a:lnSpc>
                <a:spcPct val="125000"/>
              </a:lnSpc>
              <a:buNone/>
            </a:pPr>
            <a:r>
              <a:rPr lang="en-US" sz="2050" dirty="0">
                <a:solidFill>
                  <a:srgbClr val="1A1A1A"/>
                </a:solidFill>
                <a:latin typeface="Calibri" pitchFamily="34" charset="0"/>
                <a:ea typeface="Calibri" pitchFamily="34" charset="-122"/>
                <a:cs typeface="Calibri" pitchFamily="34" charset="-120"/>
              </a:rPr>
              <a:t>Directeur Général, AFRINOVATECH</a:t>
            </a:r>
          </a:p>
          <a:p>
            <a:pPr marL="0" indent="0">
              <a:lnSpc>
                <a:spcPct val="125000"/>
              </a:lnSpc>
              <a:buNone/>
            </a:pPr>
            <a:r>
              <a:rPr lang="en-US" sz="2050" dirty="0">
                <a:solidFill>
                  <a:srgbClr val="1A1A1A"/>
                </a:solidFill>
                <a:latin typeface="Calibri" pitchFamily="34" charset="0"/>
                <a:ea typeface="Calibri" pitchFamily="34" charset="-122"/>
                <a:cs typeface="Calibri" pitchFamily="34" charset="-120"/>
              </a:rPr>
              <a:t>Harvard Business School Alumni</a:t>
            </a:r>
            <a:endParaRPr lang="en-US" sz="2600" dirty="0"/>
          </a:p>
          <a:p>
            <a:pPr marL="0" indent="0">
              <a:lnSpc>
                <a:spcPct val="125000"/>
              </a:lnSpc>
              <a:buNone/>
            </a:pPr>
            <a:r>
              <a:rPr lang="en-US" sz="2050" dirty="0">
                <a:solidFill>
                  <a:srgbClr val="1A1A1A"/>
                </a:solidFill>
                <a:latin typeface="Calibri" pitchFamily="34" charset="0"/>
                <a:ea typeface="Calibri" pitchFamily="34" charset="-122"/>
                <a:cs typeface="Calibri" pitchFamily="34" charset="-120"/>
              </a:rPr>
              <a:t>Expérience internationale en fintech et transformation digitale en Afrique de l'Ouest.</a:t>
            </a:r>
            <a:endParaRPr lang="en-US" sz="2600" dirty="0"/>
          </a:p>
        </p:txBody>
      </p:sp>
      <p:sp>
        <p:nvSpPr>
          <p:cNvPr id="7" name="Shape 4"/>
          <p:cNvSpPr/>
          <p:nvPr/>
        </p:nvSpPr>
        <p:spPr>
          <a:xfrm>
            <a:off x="640080" y="3886199"/>
            <a:ext cx="10908792" cy="2326341"/>
          </a:xfrm>
          <a:prstGeom prst="rect">
            <a:avLst/>
          </a:prstGeom>
          <a:solidFill>
            <a:srgbClr val="EAF5EE"/>
          </a:solidFill>
          <a:ln/>
          <a:effectLst>
            <a:outerShdw blurRad="152400" dist="38100" dir="2700000" algn="bl" rotWithShape="0">
              <a:srgbClr val="000000">
                <a:alpha val="15000"/>
              </a:srgbClr>
            </a:outerShdw>
          </a:effectLst>
        </p:spPr>
      </p:sp>
      <p:sp>
        <p:nvSpPr>
          <p:cNvPr id="8" name="Text 5"/>
          <p:cNvSpPr/>
          <p:nvPr/>
        </p:nvSpPr>
        <p:spPr>
          <a:xfrm>
            <a:off x="864198" y="4042456"/>
            <a:ext cx="10360152" cy="457200"/>
          </a:xfrm>
          <a:prstGeom prst="rect">
            <a:avLst/>
          </a:prstGeom>
          <a:noFill/>
          <a:ln/>
        </p:spPr>
        <p:txBody>
          <a:bodyPr wrap="square" lIns="0" tIns="0" rIns="0" bIns="0" rtlCol="0" anchor="ctr"/>
          <a:lstStyle/>
          <a:p>
            <a:pPr marL="0" indent="0">
              <a:buNone/>
            </a:pPr>
            <a:r>
              <a:rPr lang="en-US" sz="2300" b="1" dirty="0">
                <a:solidFill>
                  <a:srgbClr val="000000"/>
                </a:solidFill>
                <a:latin typeface="Cambria" pitchFamily="34" charset="0"/>
                <a:ea typeface="Cambria" pitchFamily="34" charset="-122"/>
                <a:cs typeface="Cambria" pitchFamily="34" charset="-120"/>
              </a:rPr>
              <a:t>Approche pédagogique : la méthode des Case Study</a:t>
            </a:r>
            <a:endParaRPr lang="en-US" sz="2300" dirty="0"/>
          </a:p>
        </p:txBody>
      </p:sp>
      <p:sp>
        <p:nvSpPr>
          <p:cNvPr id="9" name="Text 6"/>
          <p:cNvSpPr/>
          <p:nvPr/>
        </p:nvSpPr>
        <p:spPr>
          <a:xfrm>
            <a:off x="914400" y="4617720"/>
            <a:ext cx="10703858" cy="1097280"/>
          </a:xfrm>
          <a:prstGeom prst="rect">
            <a:avLst/>
          </a:prstGeom>
          <a:noFill/>
          <a:ln/>
        </p:spPr>
        <p:txBody>
          <a:bodyPr wrap="square" lIns="0" tIns="0" rIns="0" bIns="0" rtlCol="0" anchor="ctr"/>
          <a:lstStyle/>
          <a:p>
            <a:pPr marL="0" indent="0">
              <a:lnSpc>
                <a:spcPct val="130000"/>
              </a:lnSpc>
              <a:buNone/>
            </a:pPr>
            <a:endParaRPr lang="en-US" sz="2050" dirty="0">
              <a:solidFill>
                <a:srgbClr val="1A1A1A"/>
              </a:solidFill>
              <a:latin typeface="Calibri" pitchFamily="34" charset="0"/>
              <a:ea typeface="Calibri" pitchFamily="34" charset="-122"/>
              <a:cs typeface="Calibri" pitchFamily="34" charset="-120"/>
            </a:endParaRPr>
          </a:p>
          <a:p>
            <a:pPr marL="342900" indent="-342900">
              <a:lnSpc>
                <a:spcPct val="130000"/>
              </a:lnSpc>
              <a:buFont typeface="Arial" panose="020B0604020202020204" pitchFamily="34" charset="0"/>
              <a:buChar char="•"/>
            </a:pPr>
            <a:r>
              <a:rPr lang="en-US" sz="2050" dirty="0">
                <a:solidFill>
                  <a:srgbClr val="1A1A1A"/>
                </a:solidFill>
                <a:latin typeface="Calibri" pitchFamily="34" charset="0"/>
                <a:ea typeface="Calibri" pitchFamily="34" charset="-122"/>
                <a:cs typeface="Calibri" pitchFamily="34" charset="-120"/>
              </a:rPr>
              <a:t>Confrontation directe à des situations réelles. </a:t>
            </a:r>
          </a:p>
          <a:p>
            <a:pPr marL="342900" indent="-342900">
              <a:lnSpc>
                <a:spcPct val="130000"/>
              </a:lnSpc>
              <a:buFont typeface="Arial" panose="020B0604020202020204" pitchFamily="34" charset="0"/>
              <a:buChar char="•"/>
            </a:pPr>
            <a:r>
              <a:rPr lang="en-US" sz="2050" dirty="0">
                <a:solidFill>
                  <a:srgbClr val="1A1A1A"/>
                </a:solidFill>
                <a:latin typeface="Calibri" pitchFamily="34" charset="0"/>
                <a:ea typeface="Calibri" pitchFamily="34" charset="-122"/>
                <a:cs typeface="Calibri" pitchFamily="34" charset="-120"/>
              </a:rPr>
              <a:t>Questions sans complaisance. </a:t>
            </a:r>
          </a:p>
          <a:p>
            <a:pPr marL="342900" indent="-342900">
              <a:lnSpc>
                <a:spcPct val="130000"/>
              </a:lnSpc>
              <a:buFont typeface="Arial" panose="020B0604020202020204" pitchFamily="34" charset="0"/>
              <a:buChar char="•"/>
            </a:pPr>
            <a:r>
              <a:rPr lang="en-US" sz="2050" dirty="0" err="1">
                <a:solidFill>
                  <a:srgbClr val="1A1A1A"/>
                </a:solidFill>
                <a:latin typeface="Calibri" pitchFamily="34" charset="0"/>
                <a:ea typeface="Calibri" pitchFamily="34" charset="-122"/>
                <a:cs typeface="Calibri" pitchFamily="34" charset="-120"/>
              </a:rPr>
              <a:t>Chaque</a:t>
            </a:r>
            <a:r>
              <a:rPr lang="en-US" sz="2050" dirty="0">
                <a:solidFill>
                  <a:srgbClr val="1A1A1A"/>
                </a:solidFill>
                <a:latin typeface="Calibri" pitchFamily="34" charset="0"/>
                <a:ea typeface="Calibri" pitchFamily="34" charset="-122"/>
                <a:cs typeface="Calibri" pitchFamily="34" charset="-120"/>
              </a:rPr>
              <a:t> compétiteur peut être interpellé individuellement, sans préavis — exactement comme devant le jury final.</a:t>
            </a:r>
            <a:endParaRPr lang="en-US" sz="2050" dirty="0"/>
          </a:p>
        </p:txBody>
      </p:sp>
      <p:sp>
        <p:nvSpPr>
          <p:cNvPr id="10" name="Text 7"/>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11" name="Text 8"/>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411480"/>
          </a:xfrm>
          <a:prstGeom prst="rect">
            <a:avLst/>
          </a:prstGeom>
          <a:noFill/>
          <a:ln/>
        </p:spPr>
        <p:txBody>
          <a:bodyPr wrap="square" lIns="0" tIns="0" rIns="0" bIns="0" rtlCol="0" anchor="ctr"/>
          <a:lstStyle/>
          <a:p>
            <a:pPr marL="0" indent="0">
              <a:buNone/>
            </a:pPr>
            <a:r>
              <a:rPr lang="en-US" sz="1900" b="1" kern="0" spc="200" dirty="0">
                <a:solidFill>
                  <a:srgbClr val="8E2DE2"/>
                </a:solidFill>
                <a:latin typeface="Calibri" pitchFamily="34" charset="0"/>
                <a:ea typeface="Calibri" pitchFamily="34" charset="-122"/>
                <a:cs typeface="Calibri" pitchFamily="34" charset="-120"/>
              </a:rPr>
              <a:t>OBJECTIFS DE LA SESSION</a:t>
            </a:r>
            <a:endParaRPr lang="en-US" sz="1900" dirty="0"/>
          </a:p>
        </p:txBody>
      </p:sp>
      <p:sp>
        <p:nvSpPr>
          <p:cNvPr id="3" name="Text 1"/>
          <p:cNvSpPr/>
          <p:nvPr/>
        </p:nvSpPr>
        <p:spPr>
          <a:xfrm>
            <a:off x="640080" y="868680"/>
            <a:ext cx="10908792" cy="1188720"/>
          </a:xfrm>
          <a:prstGeom prst="rect">
            <a:avLst/>
          </a:prstGeom>
          <a:noFill/>
          <a:ln/>
        </p:spPr>
        <p:txBody>
          <a:bodyPr wrap="square" lIns="0" tIns="0" rIns="0" bIns="0" rtlCol="0" anchor="t"/>
          <a:lstStyle/>
          <a:p>
            <a:pPr marL="0" indent="0">
              <a:buNone/>
            </a:pPr>
            <a:r>
              <a:rPr lang="en-US" sz="4200" b="1" dirty="0">
                <a:solidFill>
                  <a:srgbClr val="000000"/>
                </a:solidFill>
                <a:latin typeface="Cambria" pitchFamily="34" charset="0"/>
                <a:ea typeface="Cambria" pitchFamily="34" charset="-122"/>
                <a:cs typeface="Cambria" pitchFamily="34" charset="-120"/>
              </a:rPr>
              <a:t>À la fin, chaque équipe saura...</a:t>
            </a:r>
            <a:endParaRPr lang="en-US" sz="4200" dirty="0"/>
          </a:p>
        </p:txBody>
      </p:sp>
      <p:sp>
        <p:nvSpPr>
          <p:cNvPr id="4" name="Shape 2"/>
          <p:cNvSpPr/>
          <p:nvPr/>
        </p:nvSpPr>
        <p:spPr>
          <a:xfrm>
            <a:off x="640080" y="2148840"/>
            <a:ext cx="3429000" cy="1874520"/>
          </a:xfrm>
          <a:prstGeom prst="rect">
            <a:avLst/>
          </a:prstGeom>
          <a:solidFill>
            <a:srgbClr val="EAF5EE"/>
          </a:solidFill>
          <a:ln/>
          <a:effectLst>
            <a:outerShdw blurRad="152400" dist="38100" dir="2700000" algn="bl" rotWithShape="0">
              <a:srgbClr val="000000">
                <a:alpha val="15000"/>
              </a:srgbClr>
            </a:outerShdw>
          </a:effectLst>
        </p:spPr>
      </p:sp>
      <p:sp>
        <p:nvSpPr>
          <p:cNvPr id="5" name="Shape 3"/>
          <p:cNvSpPr/>
          <p:nvPr/>
        </p:nvSpPr>
        <p:spPr>
          <a:xfrm>
            <a:off x="868680" y="2377440"/>
            <a:ext cx="548640" cy="548640"/>
          </a:xfrm>
          <a:prstGeom prst="ellipse">
            <a:avLst/>
          </a:prstGeom>
          <a:solidFill>
            <a:srgbClr val="8E2DE2"/>
          </a:solidFill>
          <a:ln/>
        </p:spPr>
      </p:sp>
      <p:pic>
        <p:nvPicPr>
          <p:cNvPr id="6" name="Image 0" descr="preencoded.png"/>
          <p:cNvPicPr>
            <a:picLocks noChangeAspect="1"/>
          </p:cNvPicPr>
          <p:nvPr/>
        </p:nvPicPr>
        <p:blipFill>
          <a:blip r:embed="rId3"/>
          <a:stretch>
            <a:fillRect/>
          </a:stretch>
        </p:blipFill>
        <p:spPr>
          <a:xfrm>
            <a:off x="934517" y="2443277"/>
            <a:ext cx="416966" cy="416966"/>
          </a:xfrm>
          <a:prstGeom prst="rect">
            <a:avLst/>
          </a:prstGeom>
        </p:spPr>
      </p:pic>
      <p:sp>
        <p:nvSpPr>
          <p:cNvPr id="7" name="Text 4"/>
          <p:cNvSpPr/>
          <p:nvPr/>
        </p:nvSpPr>
        <p:spPr>
          <a:xfrm>
            <a:off x="868680" y="3017520"/>
            <a:ext cx="2971800" cy="457200"/>
          </a:xfrm>
          <a:prstGeom prst="rect">
            <a:avLst/>
          </a:prstGeom>
          <a:noFill/>
          <a:ln/>
        </p:spPr>
        <p:txBody>
          <a:bodyPr wrap="square" lIns="0" tIns="0" rIns="0" bIns="0" rtlCol="0" anchor="ctr"/>
          <a:lstStyle/>
          <a:p>
            <a:pPr marL="0" indent="0">
              <a:buNone/>
            </a:pPr>
            <a:r>
              <a:rPr lang="en-US" sz="1850" b="1" dirty="0">
                <a:solidFill>
                  <a:srgbClr val="000000"/>
                </a:solidFill>
                <a:latin typeface="Calibri" pitchFamily="34" charset="0"/>
                <a:ea typeface="Calibri" pitchFamily="34" charset="-122"/>
                <a:cs typeface="Calibri" pitchFamily="34" charset="-120"/>
              </a:rPr>
              <a:t>Expliquer le problème</a:t>
            </a:r>
            <a:endParaRPr lang="en-US" sz="1850" dirty="0"/>
          </a:p>
        </p:txBody>
      </p:sp>
      <p:sp>
        <p:nvSpPr>
          <p:cNvPr id="8" name="Text 5"/>
          <p:cNvSpPr/>
          <p:nvPr/>
        </p:nvSpPr>
        <p:spPr>
          <a:xfrm>
            <a:off x="868680" y="3447288"/>
            <a:ext cx="2971800" cy="502920"/>
          </a:xfrm>
          <a:prstGeom prst="rect">
            <a:avLst/>
          </a:prstGeom>
          <a:noFill/>
          <a:ln/>
        </p:spPr>
        <p:txBody>
          <a:bodyPr wrap="square" lIns="0" tIns="0" rIns="0" bIns="0" rtlCol="0" anchor="ctr"/>
          <a:lstStyle/>
          <a:p>
            <a:pPr marL="0" indent="0">
              <a:buNone/>
            </a:pPr>
            <a:r>
              <a:rPr lang="en-US" sz="1700" dirty="0">
                <a:solidFill>
                  <a:srgbClr val="6E6E6E"/>
                </a:solidFill>
                <a:latin typeface="Calibri" pitchFamily="34" charset="0"/>
                <a:ea typeface="Calibri" pitchFamily="34" charset="-122"/>
                <a:cs typeface="Calibri" pitchFamily="34" charset="-120"/>
              </a:rPr>
              <a:t>Clairement, avec des données à l'appui</a:t>
            </a:r>
            <a:endParaRPr lang="en-US" sz="1700" dirty="0"/>
          </a:p>
        </p:txBody>
      </p:sp>
      <p:sp>
        <p:nvSpPr>
          <p:cNvPr id="9" name="Shape 6"/>
          <p:cNvSpPr/>
          <p:nvPr/>
        </p:nvSpPr>
        <p:spPr>
          <a:xfrm>
            <a:off x="4434840" y="2148840"/>
            <a:ext cx="3429000" cy="1874520"/>
          </a:xfrm>
          <a:prstGeom prst="rect">
            <a:avLst/>
          </a:prstGeom>
          <a:solidFill>
            <a:srgbClr val="EAF5EE"/>
          </a:solidFill>
          <a:ln/>
          <a:effectLst>
            <a:outerShdw blurRad="152400" dist="38100" dir="2700000" algn="bl" rotWithShape="0">
              <a:srgbClr val="000000">
                <a:alpha val="15000"/>
              </a:srgbClr>
            </a:outerShdw>
          </a:effectLst>
        </p:spPr>
      </p:sp>
      <p:sp>
        <p:nvSpPr>
          <p:cNvPr id="10" name="Shape 7"/>
          <p:cNvSpPr/>
          <p:nvPr/>
        </p:nvSpPr>
        <p:spPr>
          <a:xfrm>
            <a:off x="4663440" y="2377440"/>
            <a:ext cx="548640" cy="548640"/>
          </a:xfrm>
          <a:prstGeom prst="ellipse">
            <a:avLst/>
          </a:prstGeom>
          <a:solidFill>
            <a:srgbClr val="8E2DE2"/>
          </a:solidFill>
          <a:ln/>
        </p:spPr>
      </p:sp>
      <p:pic>
        <p:nvPicPr>
          <p:cNvPr id="11" name="Image 1" descr="preencoded.png"/>
          <p:cNvPicPr>
            <a:picLocks noChangeAspect="1"/>
          </p:cNvPicPr>
          <p:nvPr/>
        </p:nvPicPr>
        <p:blipFill>
          <a:blip r:embed="rId4"/>
          <a:stretch>
            <a:fillRect/>
          </a:stretch>
        </p:blipFill>
        <p:spPr>
          <a:xfrm>
            <a:off x="4729277" y="2443277"/>
            <a:ext cx="416966" cy="416966"/>
          </a:xfrm>
          <a:prstGeom prst="rect">
            <a:avLst/>
          </a:prstGeom>
        </p:spPr>
      </p:pic>
      <p:sp>
        <p:nvSpPr>
          <p:cNvPr id="12" name="Text 8"/>
          <p:cNvSpPr/>
          <p:nvPr/>
        </p:nvSpPr>
        <p:spPr>
          <a:xfrm>
            <a:off x="4663440" y="3017520"/>
            <a:ext cx="2971800" cy="457200"/>
          </a:xfrm>
          <a:prstGeom prst="rect">
            <a:avLst/>
          </a:prstGeom>
          <a:noFill/>
          <a:ln/>
        </p:spPr>
        <p:txBody>
          <a:bodyPr wrap="square" lIns="0" tIns="0" rIns="0" bIns="0" rtlCol="0" anchor="ctr"/>
          <a:lstStyle/>
          <a:p>
            <a:pPr marL="0" indent="0">
              <a:buNone/>
            </a:pPr>
            <a:r>
              <a:rPr lang="en-US" sz="1850" b="1" dirty="0">
                <a:solidFill>
                  <a:srgbClr val="000000"/>
                </a:solidFill>
                <a:latin typeface="Calibri" pitchFamily="34" charset="0"/>
                <a:ea typeface="Calibri" pitchFamily="34" charset="-122"/>
                <a:cs typeface="Calibri" pitchFamily="34" charset="-120"/>
              </a:rPr>
              <a:t>Présenter sa solution IA</a:t>
            </a:r>
            <a:endParaRPr lang="en-US" sz="1850" dirty="0"/>
          </a:p>
        </p:txBody>
      </p:sp>
      <p:sp>
        <p:nvSpPr>
          <p:cNvPr id="13" name="Text 9"/>
          <p:cNvSpPr/>
          <p:nvPr/>
        </p:nvSpPr>
        <p:spPr>
          <a:xfrm>
            <a:off x="4663440" y="3447288"/>
            <a:ext cx="2971800" cy="502920"/>
          </a:xfrm>
          <a:prstGeom prst="rect">
            <a:avLst/>
          </a:prstGeom>
          <a:noFill/>
          <a:ln/>
        </p:spPr>
        <p:txBody>
          <a:bodyPr wrap="square" lIns="0" tIns="0" rIns="0" bIns="0" rtlCol="0" anchor="ctr"/>
          <a:lstStyle/>
          <a:p>
            <a:pPr marL="0" indent="0">
              <a:buNone/>
            </a:pPr>
            <a:r>
              <a:rPr lang="en-US" sz="1700" dirty="0">
                <a:solidFill>
                  <a:srgbClr val="6E6E6E"/>
                </a:solidFill>
                <a:latin typeface="Calibri" pitchFamily="34" charset="0"/>
                <a:ea typeface="Calibri" pitchFamily="34" charset="-122"/>
                <a:cs typeface="Calibri" pitchFamily="34" charset="-120"/>
              </a:rPr>
              <a:t>De façon compréhensible, même pour un non-technicien</a:t>
            </a:r>
            <a:endParaRPr lang="en-US" sz="1700" dirty="0"/>
          </a:p>
        </p:txBody>
      </p:sp>
      <p:sp>
        <p:nvSpPr>
          <p:cNvPr id="14" name="Shape 10"/>
          <p:cNvSpPr/>
          <p:nvPr/>
        </p:nvSpPr>
        <p:spPr>
          <a:xfrm>
            <a:off x="8229600" y="2148840"/>
            <a:ext cx="3429000" cy="1874520"/>
          </a:xfrm>
          <a:prstGeom prst="rect">
            <a:avLst/>
          </a:prstGeom>
          <a:solidFill>
            <a:srgbClr val="EAF5EE"/>
          </a:solidFill>
          <a:ln/>
          <a:effectLst>
            <a:outerShdw blurRad="152400" dist="38100" dir="2700000" algn="bl" rotWithShape="0">
              <a:srgbClr val="000000">
                <a:alpha val="15000"/>
              </a:srgbClr>
            </a:outerShdw>
          </a:effectLst>
        </p:spPr>
      </p:sp>
      <p:sp>
        <p:nvSpPr>
          <p:cNvPr id="15" name="Shape 11"/>
          <p:cNvSpPr/>
          <p:nvPr/>
        </p:nvSpPr>
        <p:spPr>
          <a:xfrm>
            <a:off x="8458200" y="2377440"/>
            <a:ext cx="548640" cy="548640"/>
          </a:xfrm>
          <a:prstGeom prst="ellipse">
            <a:avLst/>
          </a:prstGeom>
          <a:solidFill>
            <a:srgbClr val="8E2DE2"/>
          </a:solidFill>
          <a:ln/>
        </p:spPr>
      </p:sp>
      <p:pic>
        <p:nvPicPr>
          <p:cNvPr id="16" name="Image 2" descr="preencoded.png"/>
          <p:cNvPicPr>
            <a:picLocks noChangeAspect="1"/>
          </p:cNvPicPr>
          <p:nvPr/>
        </p:nvPicPr>
        <p:blipFill>
          <a:blip r:embed="rId5"/>
          <a:stretch>
            <a:fillRect/>
          </a:stretch>
        </p:blipFill>
        <p:spPr>
          <a:xfrm>
            <a:off x="8524037" y="2443277"/>
            <a:ext cx="416966" cy="416966"/>
          </a:xfrm>
          <a:prstGeom prst="rect">
            <a:avLst/>
          </a:prstGeom>
        </p:spPr>
      </p:pic>
      <p:sp>
        <p:nvSpPr>
          <p:cNvPr id="17" name="Text 12"/>
          <p:cNvSpPr/>
          <p:nvPr/>
        </p:nvSpPr>
        <p:spPr>
          <a:xfrm>
            <a:off x="8458200" y="3017520"/>
            <a:ext cx="2971800" cy="457200"/>
          </a:xfrm>
          <a:prstGeom prst="rect">
            <a:avLst/>
          </a:prstGeom>
          <a:noFill/>
          <a:ln/>
        </p:spPr>
        <p:txBody>
          <a:bodyPr wrap="square" lIns="0" tIns="0" rIns="0" bIns="0" rtlCol="0" anchor="ctr"/>
          <a:lstStyle/>
          <a:p>
            <a:pPr marL="0" indent="0">
              <a:buNone/>
            </a:pPr>
            <a:r>
              <a:rPr lang="en-US" sz="1850" b="1" dirty="0">
                <a:solidFill>
                  <a:srgbClr val="000000"/>
                </a:solidFill>
                <a:latin typeface="Calibri" pitchFamily="34" charset="0"/>
                <a:ea typeface="Calibri" pitchFamily="34" charset="-122"/>
                <a:cs typeface="Calibri" pitchFamily="34" charset="-120"/>
              </a:rPr>
              <a:t>Raconter une histoire</a:t>
            </a:r>
            <a:endParaRPr lang="en-US" sz="1850" dirty="0"/>
          </a:p>
        </p:txBody>
      </p:sp>
      <p:sp>
        <p:nvSpPr>
          <p:cNvPr id="18" name="Text 13"/>
          <p:cNvSpPr/>
          <p:nvPr/>
        </p:nvSpPr>
        <p:spPr>
          <a:xfrm>
            <a:off x="8458200" y="3447288"/>
            <a:ext cx="2971800" cy="502920"/>
          </a:xfrm>
          <a:prstGeom prst="rect">
            <a:avLst/>
          </a:prstGeom>
          <a:noFill/>
          <a:ln/>
        </p:spPr>
        <p:txBody>
          <a:bodyPr wrap="square" lIns="0" tIns="0" rIns="0" bIns="0" rtlCol="0" anchor="ctr"/>
          <a:lstStyle/>
          <a:p>
            <a:pPr marL="0" indent="0">
              <a:buNone/>
            </a:pPr>
            <a:r>
              <a:rPr lang="en-US" sz="1700" dirty="0">
                <a:solidFill>
                  <a:srgbClr val="6E6E6E"/>
                </a:solidFill>
                <a:latin typeface="Calibri" pitchFamily="34" charset="0"/>
                <a:ea typeface="Calibri" pitchFamily="34" charset="-122"/>
                <a:cs typeface="Calibri" pitchFamily="34" charset="-120"/>
              </a:rPr>
              <a:t>Qui reste en mémoire, pas juste des fonctionnalités</a:t>
            </a:r>
            <a:endParaRPr lang="en-US" sz="1700" dirty="0"/>
          </a:p>
        </p:txBody>
      </p:sp>
      <p:sp>
        <p:nvSpPr>
          <p:cNvPr id="19" name="Shape 14"/>
          <p:cNvSpPr/>
          <p:nvPr/>
        </p:nvSpPr>
        <p:spPr>
          <a:xfrm>
            <a:off x="640080" y="4297680"/>
            <a:ext cx="3429000" cy="1874520"/>
          </a:xfrm>
          <a:prstGeom prst="rect">
            <a:avLst/>
          </a:prstGeom>
          <a:solidFill>
            <a:srgbClr val="EAF5EE"/>
          </a:solidFill>
          <a:ln/>
          <a:effectLst>
            <a:outerShdw blurRad="152400" dist="38100" dir="2700000" algn="bl" rotWithShape="0">
              <a:srgbClr val="000000">
                <a:alpha val="15000"/>
              </a:srgbClr>
            </a:outerShdw>
          </a:effectLst>
        </p:spPr>
      </p:sp>
      <p:sp>
        <p:nvSpPr>
          <p:cNvPr id="20" name="Shape 15"/>
          <p:cNvSpPr/>
          <p:nvPr/>
        </p:nvSpPr>
        <p:spPr>
          <a:xfrm>
            <a:off x="868680" y="4526280"/>
            <a:ext cx="548640" cy="548640"/>
          </a:xfrm>
          <a:prstGeom prst="ellipse">
            <a:avLst/>
          </a:prstGeom>
          <a:solidFill>
            <a:srgbClr val="8E2DE2"/>
          </a:solidFill>
          <a:ln/>
        </p:spPr>
      </p:sp>
      <p:pic>
        <p:nvPicPr>
          <p:cNvPr id="21" name="Image 3" descr="preencoded.png"/>
          <p:cNvPicPr>
            <a:picLocks noChangeAspect="1"/>
          </p:cNvPicPr>
          <p:nvPr/>
        </p:nvPicPr>
        <p:blipFill>
          <a:blip r:embed="rId6"/>
          <a:stretch>
            <a:fillRect/>
          </a:stretch>
        </p:blipFill>
        <p:spPr>
          <a:xfrm>
            <a:off x="934517" y="4592117"/>
            <a:ext cx="416966" cy="416966"/>
          </a:xfrm>
          <a:prstGeom prst="rect">
            <a:avLst/>
          </a:prstGeom>
        </p:spPr>
      </p:pic>
      <p:sp>
        <p:nvSpPr>
          <p:cNvPr id="22" name="Text 16"/>
          <p:cNvSpPr/>
          <p:nvPr/>
        </p:nvSpPr>
        <p:spPr>
          <a:xfrm>
            <a:off x="868680" y="5166360"/>
            <a:ext cx="2971800" cy="457200"/>
          </a:xfrm>
          <a:prstGeom prst="rect">
            <a:avLst/>
          </a:prstGeom>
          <a:noFill/>
          <a:ln/>
        </p:spPr>
        <p:txBody>
          <a:bodyPr wrap="square" lIns="0" tIns="0" rIns="0" bIns="0" rtlCol="0" anchor="ctr"/>
          <a:lstStyle/>
          <a:p>
            <a:pPr marL="0" indent="0">
              <a:buNone/>
            </a:pPr>
            <a:r>
              <a:rPr lang="en-US" sz="1850" b="1" dirty="0">
                <a:solidFill>
                  <a:srgbClr val="000000"/>
                </a:solidFill>
                <a:latin typeface="Calibri" pitchFamily="34" charset="0"/>
                <a:ea typeface="Calibri" pitchFamily="34" charset="-122"/>
                <a:cs typeface="Calibri" pitchFamily="34" charset="-120"/>
              </a:rPr>
              <a:t>Répondre au jury</a:t>
            </a:r>
            <a:endParaRPr lang="en-US" sz="1850" dirty="0"/>
          </a:p>
        </p:txBody>
      </p:sp>
      <p:sp>
        <p:nvSpPr>
          <p:cNvPr id="23" name="Text 17"/>
          <p:cNvSpPr/>
          <p:nvPr/>
        </p:nvSpPr>
        <p:spPr>
          <a:xfrm>
            <a:off x="868680" y="5596128"/>
            <a:ext cx="2971800" cy="502920"/>
          </a:xfrm>
          <a:prstGeom prst="rect">
            <a:avLst/>
          </a:prstGeom>
          <a:noFill/>
          <a:ln/>
        </p:spPr>
        <p:txBody>
          <a:bodyPr wrap="square" lIns="0" tIns="0" rIns="0" bIns="0" rtlCol="0" anchor="ctr"/>
          <a:lstStyle/>
          <a:p>
            <a:pPr marL="0" indent="0">
              <a:buNone/>
            </a:pPr>
            <a:r>
              <a:rPr lang="en-US" sz="1700" dirty="0">
                <a:solidFill>
                  <a:srgbClr val="6E6E6E"/>
                </a:solidFill>
                <a:latin typeface="Calibri" pitchFamily="34" charset="0"/>
                <a:ea typeface="Calibri" pitchFamily="34" charset="-122"/>
                <a:cs typeface="Calibri" pitchFamily="34" charset="-120"/>
              </a:rPr>
              <a:t>Avec assurance, en moins d'une minute</a:t>
            </a:r>
            <a:endParaRPr lang="en-US" sz="1700" dirty="0"/>
          </a:p>
        </p:txBody>
      </p:sp>
      <p:sp>
        <p:nvSpPr>
          <p:cNvPr id="24" name="Shape 18"/>
          <p:cNvSpPr/>
          <p:nvPr/>
        </p:nvSpPr>
        <p:spPr>
          <a:xfrm>
            <a:off x="4434840" y="4297680"/>
            <a:ext cx="3429000" cy="1874520"/>
          </a:xfrm>
          <a:prstGeom prst="rect">
            <a:avLst/>
          </a:prstGeom>
          <a:solidFill>
            <a:srgbClr val="EAF5EE"/>
          </a:solidFill>
          <a:ln/>
          <a:effectLst>
            <a:outerShdw blurRad="152400" dist="38100" dir="2700000" algn="bl" rotWithShape="0">
              <a:srgbClr val="000000">
                <a:alpha val="15000"/>
              </a:srgbClr>
            </a:outerShdw>
          </a:effectLst>
        </p:spPr>
      </p:sp>
      <p:sp>
        <p:nvSpPr>
          <p:cNvPr id="25" name="Shape 19"/>
          <p:cNvSpPr/>
          <p:nvPr/>
        </p:nvSpPr>
        <p:spPr>
          <a:xfrm>
            <a:off x="4663440" y="4526280"/>
            <a:ext cx="548640" cy="548640"/>
          </a:xfrm>
          <a:prstGeom prst="ellipse">
            <a:avLst/>
          </a:prstGeom>
          <a:solidFill>
            <a:srgbClr val="8E2DE2"/>
          </a:solidFill>
          <a:ln/>
        </p:spPr>
      </p:sp>
      <p:pic>
        <p:nvPicPr>
          <p:cNvPr id="26" name="Image 4" descr="preencoded.png"/>
          <p:cNvPicPr>
            <a:picLocks noChangeAspect="1"/>
          </p:cNvPicPr>
          <p:nvPr/>
        </p:nvPicPr>
        <p:blipFill>
          <a:blip r:embed="rId7"/>
          <a:stretch>
            <a:fillRect/>
          </a:stretch>
        </p:blipFill>
        <p:spPr>
          <a:xfrm>
            <a:off x="4729277" y="4592117"/>
            <a:ext cx="416966" cy="416966"/>
          </a:xfrm>
          <a:prstGeom prst="rect">
            <a:avLst/>
          </a:prstGeom>
        </p:spPr>
      </p:pic>
      <p:sp>
        <p:nvSpPr>
          <p:cNvPr id="27" name="Text 20"/>
          <p:cNvSpPr/>
          <p:nvPr/>
        </p:nvSpPr>
        <p:spPr>
          <a:xfrm>
            <a:off x="4663440" y="5166360"/>
            <a:ext cx="2971800" cy="457200"/>
          </a:xfrm>
          <a:prstGeom prst="rect">
            <a:avLst/>
          </a:prstGeom>
          <a:noFill/>
          <a:ln/>
        </p:spPr>
        <p:txBody>
          <a:bodyPr wrap="square" lIns="0" tIns="0" rIns="0" bIns="0" rtlCol="0" anchor="ctr"/>
          <a:lstStyle/>
          <a:p>
            <a:pPr marL="0" indent="0">
              <a:buNone/>
            </a:pPr>
            <a:r>
              <a:rPr lang="en-US" sz="1850" b="1" dirty="0">
                <a:solidFill>
                  <a:srgbClr val="000000"/>
                </a:solidFill>
                <a:latin typeface="Calibri" pitchFamily="34" charset="0"/>
                <a:ea typeface="Calibri" pitchFamily="34" charset="-122"/>
                <a:cs typeface="Calibri" pitchFamily="34" charset="-120"/>
              </a:rPr>
              <a:t>Prouver sa capacité d'exécution</a:t>
            </a:r>
            <a:endParaRPr lang="en-US" sz="1850" dirty="0"/>
          </a:p>
        </p:txBody>
      </p:sp>
      <p:sp>
        <p:nvSpPr>
          <p:cNvPr id="28" name="Text 21"/>
          <p:cNvSpPr/>
          <p:nvPr/>
        </p:nvSpPr>
        <p:spPr>
          <a:xfrm>
            <a:off x="4663440" y="5596128"/>
            <a:ext cx="2971800" cy="502920"/>
          </a:xfrm>
          <a:prstGeom prst="rect">
            <a:avLst/>
          </a:prstGeom>
          <a:noFill/>
          <a:ln/>
        </p:spPr>
        <p:txBody>
          <a:bodyPr wrap="square" lIns="0" tIns="0" rIns="0" bIns="0" rtlCol="0" anchor="ctr"/>
          <a:lstStyle/>
          <a:p>
            <a:pPr marL="0" indent="0">
              <a:buNone/>
            </a:pPr>
            <a:r>
              <a:rPr lang="en-US" sz="1700" dirty="0">
                <a:solidFill>
                  <a:srgbClr val="6E6E6E"/>
                </a:solidFill>
                <a:latin typeface="Calibri" pitchFamily="34" charset="0"/>
                <a:ea typeface="Calibri" pitchFamily="34" charset="-122"/>
                <a:cs typeface="Calibri" pitchFamily="34" charset="-120"/>
              </a:rPr>
              <a:t>Dans un marché africain réglementé</a:t>
            </a:r>
            <a:endParaRPr lang="en-US" sz="1700" dirty="0"/>
          </a:p>
        </p:txBody>
      </p:sp>
      <p:sp>
        <p:nvSpPr>
          <p:cNvPr id="29" name="Shape 22"/>
          <p:cNvSpPr/>
          <p:nvPr/>
        </p:nvSpPr>
        <p:spPr>
          <a:xfrm>
            <a:off x="8229600" y="4297680"/>
            <a:ext cx="3429000" cy="1874520"/>
          </a:xfrm>
          <a:prstGeom prst="rect">
            <a:avLst/>
          </a:prstGeom>
          <a:solidFill>
            <a:srgbClr val="EAF5EE"/>
          </a:solidFill>
          <a:ln/>
          <a:effectLst>
            <a:outerShdw blurRad="152400" dist="38100" dir="2700000" algn="bl" rotWithShape="0">
              <a:srgbClr val="000000">
                <a:alpha val="15000"/>
              </a:srgbClr>
            </a:outerShdw>
          </a:effectLst>
        </p:spPr>
      </p:sp>
      <p:sp>
        <p:nvSpPr>
          <p:cNvPr id="30" name="Shape 23"/>
          <p:cNvSpPr/>
          <p:nvPr/>
        </p:nvSpPr>
        <p:spPr>
          <a:xfrm>
            <a:off x="8458200" y="4526280"/>
            <a:ext cx="548640" cy="548640"/>
          </a:xfrm>
          <a:prstGeom prst="ellipse">
            <a:avLst/>
          </a:prstGeom>
          <a:solidFill>
            <a:srgbClr val="8E2DE2"/>
          </a:solidFill>
          <a:ln/>
        </p:spPr>
      </p:sp>
      <p:pic>
        <p:nvPicPr>
          <p:cNvPr id="31" name="Image 5" descr="preencoded.png"/>
          <p:cNvPicPr>
            <a:picLocks noChangeAspect="1"/>
          </p:cNvPicPr>
          <p:nvPr/>
        </p:nvPicPr>
        <p:blipFill>
          <a:blip r:embed="rId8"/>
          <a:stretch>
            <a:fillRect/>
          </a:stretch>
        </p:blipFill>
        <p:spPr>
          <a:xfrm>
            <a:off x="8524037" y="4592117"/>
            <a:ext cx="416966" cy="416966"/>
          </a:xfrm>
          <a:prstGeom prst="rect">
            <a:avLst/>
          </a:prstGeom>
        </p:spPr>
      </p:pic>
      <p:sp>
        <p:nvSpPr>
          <p:cNvPr id="32" name="Text 24"/>
          <p:cNvSpPr/>
          <p:nvPr/>
        </p:nvSpPr>
        <p:spPr>
          <a:xfrm>
            <a:off x="8458200" y="5166360"/>
            <a:ext cx="2971800" cy="457200"/>
          </a:xfrm>
          <a:prstGeom prst="rect">
            <a:avLst/>
          </a:prstGeom>
          <a:noFill/>
          <a:ln/>
        </p:spPr>
        <p:txBody>
          <a:bodyPr wrap="square" lIns="0" tIns="0" rIns="0" bIns="0" rtlCol="0" anchor="ctr"/>
          <a:lstStyle/>
          <a:p>
            <a:pPr marL="0" indent="0">
              <a:buNone/>
            </a:pPr>
            <a:r>
              <a:rPr lang="en-US" sz="1850" b="1" dirty="0">
                <a:solidFill>
                  <a:srgbClr val="000000"/>
                </a:solidFill>
                <a:latin typeface="Calibri" pitchFamily="34" charset="0"/>
                <a:ea typeface="Calibri" pitchFamily="34" charset="-122"/>
                <a:cs typeface="Calibri" pitchFamily="34" charset="-120"/>
              </a:rPr>
              <a:t>Livrer un pitch gagnant</a:t>
            </a:r>
            <a:endParaRPr lang="en-US" sz="1850" dirty="0"/>
          </a:p>
        </p:txBody>
      </p:sp>
      <p:sp>
        <p:nvSpPr>
          <p:cNvPr id="33" name="Text 25"/>
          <p:cNvSpPr/>
          <p:nvPr/>
        </p:nvSpPr>
        <p:spPr>
          <a:xfrm>
            <a:off x="8458200" y="5596128"/>
            <a:ext cx="2971800" cy="502920"/>
          </a:xfrm>
          <a:prstGeom prst="rect">
            <a:avLst/>
          </a:prstGeom>
          <a:noFill/>
          <a:ln/>
        </p:spPr>
        <p:txBody>
          <a:bodyPr wrap="square" lIns="0" tIns="0" rIns="0" bIns="0" rtlCol="0" anchor="ctr"/>
          <a:lstStyle/>
          <a:p>
            <a:pPr marL="0" indent="0">
              <a:buNone/>
            </a:pPr>
            <a:r>
              <a:rPr lang="en-US" sz="1700" dirty="0">
                <a:solidFill>
                  <a:srgbClr val="6E6E6E"/>
                </a:solidFill>
                <a:latin typeface="Calibri" pitchFamily="34" charset="0"/>
                <a:ea typeface="Calibri" pitchFamily="34" charset="-122"/>
                <a:cs typeface="Calibri" pitchFamily="34" charset="-120"/>
              </a:rPr>
              <a:t>5 minutes, présence scénique convaincante</a:t>
            </a:r>
            <a:endParaRPr lang="en-US" sz="1700" dirty="0"/>
          </a:p>
        </p:txBody>
      </p:sp>
      <p:sp>
        <p:nvSpPr>
          <p:cNvPr id="34" name="Text 26"/>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35" name="Text 2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3</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457200"/>
          </a:xfrm>
          <a:prstGeom prst="rect">
            <a:avLst/>
          </a:prstGeom>
          <a:noFill/>
          <a:ln/>
        </p:spPr>
        <p:txBody>
          <a:bodyPr wrap="square" lIns="0" tIns="0" rIns="0" bIns="0" rtlCol="0" anchor="ctr"/>
          <a:lstStyle/>
          <a:p>
            <a:pPr marL="0" indent="0">
              <a:buNone/>
            </a:pPr>
            <a:r>
              <a:rPr lang="en-US" sz="1900" b="1" kern="0" spc="200" dirty="0">
                <a:solidFill>
                  <a:srgbClr val="8E2DE2"/>
                </a:solidFill>
                <a:latin typeface="Calibri" pitchFamily="34" charset="0"/>
                <a:ea typeface="Calibri" pitchFamily="34" charset="-122"/>
                <a:cs typeface="Calibri" pitchFamily="34" charset="-120"/>
              </a:rPr>
              <a:t>CE QUE LES JURÉS ÉVALUENT RÉELLEMENT</a:t>
            </a:r>
            <a:endParaRPr lang="en-US" sz="1900" dirty="0"/>
          </a:p>
        </p:txBody>
      </p:sp>
      <p:sp>
        <p:nvSpPr>
          <p:cNvPr id="3" name="Text 1"/>
          <p:cNvSpPr/>
          <p:nvPr/>
        </p:nvSpPr>
        <p:spPr>
          <a:xfrm>
            <a:off x="640080" y="914400"/>
            <a:ext cx="10908792" cy="91440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Ce n'est pas la technologie</a:t>
            </a:r>
            <a:endParaRPr lang="en-US" sz="3800" dirty="0"/>
          </a:p>
        </p:txBody>
      </p:sp>
      <p:sp>
        <p:nvSpPr>
          <p:cNvPr id="4" name="Shape 2"/>
          <p:cNvSpPr/>
          <p:nvPr/>
        </p:nvSpPr>
        <p:spPr>
          <a:xfrm>
            <a:off x="640080" y="2057400"/>
            <a:ext cx="5212080" cy="914400"/>
          </a:xfrm>
          <a:prstGeom prst="rect">
            <a:avLst/>
          </a:prstGeom>
          <a:solidFill>
            <a:srgbClr val="155D36"/>
          </a:solidFill>
          <a:ln/>
        </p:spPr>
      </p:sp>
      <p:sp>
        <p:nvSpPr>
          <p:cNvPr id="5" name="Shape 3"/>
          <p:cNvSpPr/>
          <p:nvPr/>
        </p:nvSpPr>
        <p:spPr>
          <a:xfrm>
            <a:off x="868680" y="2286000"/>
            <a:ext cx="457200" cy="457200"/>
          </a:xfrm>
          <a:prstGeom prst="ellipse">
            <a:avLst/>
          </a:prstGeom>
          <a:solidFill>
            <a:srgbClr val="8E2DE2"/>
          </a:solidFill>
          <a:ln/>
        </p:spPr>
      </p:sp>
      <p:sp>
        <p:nvSpPr>
          <p:cNvPr id="6" name="Text 4"/>
          <p:cNvSpPr/>
          <p:nvPr/>
        </p:nvSpPr>
        <p:spPr>
          <a:xfrm>
            <a:off x="868680" y="2286000"/>
            <a:ext cx="457200" cy="457200"/>
          </a:xfrm>
          <a:prstGeom prst="rect">
            <a:avLst/>
          </a:prstGeom>
          <a:noFill/>
          <a:ln/>
        </p:spPr>
        <p:txBody>
          <a:bodyPr wrap="square" lIns="0" tIns="0" rIns="0" bIns="0" rtlCol="0" anchor="ctr"/>
          <a:lstStyle/>
          <a:p>
            <a:pPr marL="0" indent="0" algn="ctr">
              <a:buNone/>
            </a:pPr>
            <a:r>
              <a:rPr lang="en-US" sz="2050" b="1" dirty="0">
                <a:solidFill>
                  <a:srgbClr val="000000"/>
                </a:solidFill>
                <a:latin typeface="Calibri" pitchFamily="34" charset="0"/>
                <a:ea typeface="Calibri" pitchFamily="34" charset="-122"/>
                <a:cs typeface="Calibri" pitchFamily="34" charset="-120"/>
              </a:rPr>
              <a:t>1</a:t>
            </a:r>
            <a:endParaRPr lang="en-US" sz="2050" dirty="0"/>
          </a:p>
        </p:txBody>
      </p:sp>
      <p:sp>
        <p:nvSpPr>
          <p:cNvPr id="7" name="Text 5"/>
          <p:cNvSpPr/>
          <p:nvPr/>
        </p:nvSpPr>
        <p:spPr>
          <a:xfrm>
            <a:off x="1508760" y="2057400"/>
            <a:ext cx="4160520" cy="914400"/>
          </a:xfrm>
          <a:prstGeom prst="rect">
            <a:avLst/>
          </a:prstGeom>
          <a:noFill/>
          <a:ln/>
        </p:spPr>
        <p:txBody>
          <a:bodyPr wrap="square" lIns="0" tIns="0" rIns="0" bIns="0" rtlCol="0" anchor="ctr"/>
          <a:lstStyle/>
          <a:p>
            <a:pPr marL="0" indent="0">
              <a:buNone/>
            </a:pPr>
            <a:r>
              <a:rPr lang="en-US" sz="1900" dirty="0">
                <a:solidFill>
                  <a:srgbClr val="FFFFFF"/>
                </a:solidFill>
                <a:latin typeface="Calibri" pitchFamily="34" charset="0"/>
                <a:ea typeface="Calibri" pitchFamily="34" charset="-122"/>
                <a:cs typeface="Calibri" pitchFamily="34" charset="-120"/>
              </a:rPr>
              <a:t>Est-ce un vrai problème ?</a:t>
            </a:r>
            <a:endParaRPr lang="en-US" sz="1900" dirty="0"/>
          </a:p>
        </p:txBody>
      </p:sp>
      <p:sp>
        <p:nvSpPr>
          <p:cNvPr id="8" name="Shape 6"/>
          <p:cNvSpPr/>
          <p:nvPr/>
        </p:nvSpPr>
        <p:spPr>
          <a:xfrm>
            <a:off x="6309360" y="2057400"/>
            <a:ext cx="5212080" cy="914400"/>
          </a:xfrm>
          <a:prstGeom prst="rect">
            <a:avLst/>
          </a:prstGeom>
          <a:solidFill>
            <a:srgbClr val="155D36"/>
          </a:solidFill>
          <a:ln/>
        </p:spPr>
      </p:sp>
      <p:sp>
        <p:nvSpPr>
          <p:cNvPr id="9" name="Shape 7"/>
          <p:cNvSpPr/>
          <p:nvPr/>
        </p:nvSpPr>
        <p:spPr>
          <a:xfrm>
            <a:off x="6537960" y="2286000"/>
            <a:ext cx="457200" cy="457200"/>
          </a:xfrm>
          <a:prstGeom prst="ellipse">
            <a:avLst/>
          </a:prstGeom>
          <a:solidFill>
            <a:srgbClr val="8E2DE2"/>
          </a:solidFill>
          <a:ln/>
        </p:spPr>
      </p:sp>
      <p:sp>
        <p:nvSpPr>
          <p:cNvPr id="10" name="Text 8"/>
          <p:cNvSpPr/>
          <p:nvPr/>
        </p:nvSpPr>
        <p:spPr>
          <a:xfrm>
            <a:off x="6537960" y="2286000"/>
            <a:ext cx="457200" cy="457200"/>
          </a:xfrm>
          <a:prstGeom prst="rect">
            <a:avLst/>
          </a:prstGeom>
          <a:noFill/>
          <a:ln/>
        </p:spPr>
        <p:txBody>
          <a:bodyPr wrap="square" lIns="0" tIns="0" rIns="0" bIns="0" rtlCol="0" anchor="ctr"/>
          <a:lstStyle/>
          <a:p>
            <a:pPr marL="0" indent="0" algn="ctr">
              <a:buNone/>
            </a:pPr>
            <a:r>
              <a:rPr lang="en-US" sz="2050" b="1" dirty="0">
                <a:solidFill>
                  <a:srgbClr val="000000"/>
                </a:solidFill>
                <a:latin typeface="Calibri" pitchFamily="34" charset="0"/>
                <a:ea typeface="Calibri" pitchFamily="34" charset="-122"/>
                <a:cs typeface="Calibri" pitchFamily="34" charset="-120"/>
              </a:rPr>
              <a:t>2</a:t>
            </a:r>
            <a:endParaRPr lang="en-US" sz="2050" dirty="0"/>
          </a:p>
        </p:txBody>
      </p:sp>
      <p:sp>
        <p:nvSpPr>
          <p:cNvPr id="11" name="Text 9"/>
          <p:cNvSpPr/>
          <p:nvPr/>
        </p:nvSpPr>
        <p:spPr>
          <a:xfrm>
            <a:off x="7178040" y="2057400"/>
            <a:ext cx="4160520" cy="914400"/>
          </a:xfrm>
          <a:prstGeom prst="rect">
            <a:avLst/>
          </a:prstGeom>
          <a:noFill/>
          <a:ln/>
        </p:spPr>
        <p:txBody>
          <a:bodyPr wrap="square" lIns="0" tIns="0" rIns="0" bIns="0" rtlCol="0" anchor="ctr"/>
          <a:lstStyle/>
          <a:p>
            <a:pPr marL="0" indent="0">
              <a:buNone/>
            </a:pPr>
            <a:r>
              <a:rPr lang="en-US" sz="1900" dirty="0">
                <a:solidFill>
                  <a:srgbClr val="FFFFFF"/>
                </a:solidFill>
                <a:latin typeface="Calibri" pitchFamily="34" charset="0"/>
                <a:ea typeface="Calibri" pitchFamily="34" charset="-122"/>
                <a:cs typeface="Calibri" pitchFamily="34" charset="-120"/>
              </a:rPr>
              <a:t>Quelqu'un en a-t-il réellement besoin ?</a:t>
            </a:r>
            <a:endParaRPr lang="en-US" sz="1900" dirty="0"/>
          </a:p>
        </p:txBody>
      </p:sp>
      <p:sp>
        <p:nvSpPr>
          <p:cNvPr id="12" name="Shape 10"/>
          <p:cNvSpPr/>
          <p:nvPr/>
        </p:nvSpPr>
        <p:spPr>
          <a:xfrm>
            <a:off x="640080" y="3227832"/>
            <a:ext cx="5212080" cy="914400"/>
          </a:xfrm>
          <a:prstGeom prst="rect">
            <a:avLst/>
          </a:prstGeom>
          <a:solidFill>
            <a:srgbClr val="155D36"/>
          </a:solidFill>
          <a:ln/>
        </p:spPr>
      </p:sp>
      <p:sp>
        <p:nvSpPr>
          <p:cNvPr id="13" name="Shape 11"/>
          <p:cNvSpPr/>
          <p:nvPr/>
        </p:nvSpPr>
        <p:spPr>
          <a:xfrm>
            <a:off x="868680" y="3456432"/>
            <a:ext cx="457200" cy="457200"/>
          </a:xfrm>
          <a:prstGeom prst="ellipse">
            <a:avLst/>
          </a:prstGeom>
          <a:solidFill>
            <a:srgbClr val="8E2DE2"/>
          </a:solidFill>
          <a:ln/>
        </p:spPr>
      </p:sp>
      <p:sp>
        <p:nvSpPr>
          <p:cNvPr id="14" name="Text 12"/>
          <p:cNvSpPr/>
          <p:nvPr/>
        </p:nvSpPr>
        <p:spPr>
          <a:xfrm>
            <a:off x="868680" y="3456432"/>
            <a:ext cx="457200" cy="457200"/>
          </a:xfrm>
          <a:prstGeom prst="rect">
            <a:avLst/>
          </a:prstGeom>
          <a:noFill/>
          <a:ln/>
        </p:spPr>
        <p:txBody>
          <a:bodyPr wrap="square" lIns="0" tIns="0" rIns="0" bIns="0" rtlCol="0" anchor="ctr"/>
          <a:lstStyle/>
          <a:p>
            <a:pPr marL="0" indent="0" algn="ctr">
              <a:buNone/>
            </a:pPr>
            <a:r>
              <a:rPr lang="en-US" sz="2050" b="1" dirty="0">
                <a:solidFill>
                  <a:srgbClr val="000000"/>
                </a:solidFill>
                <a:latin typeface="Calibri" pitchFamily="34" charset="0"/>
                <a:ea typeface="Calibri" pitchFamily="34" charset="-122"/>
                <a:cs typeface="Calibri" pitchFamily="34" charset="-120"/>
              </a:rPr>
              <a:t>3</a:t>
            </a:r>
            <a:endParaRPr lang="en-US" sz="2050" dirty="0"/>
          </a:p>
        </p:txBody>
      </p:sp>
      <p:sp>
        <p:nvSpPr>
          <p:cNvPr id="15" name="Text 13"/>
          <p:cNvSpPr/>
          <p:nvPr/>
        </p:nvSpPr>
        <p:spPr>
          <a:xfrm>
            <a:off x="1508760" y="3227832"/>
            <a:ext cx="4160520" cy="914400"/>
          </a:xfrm>
          <a:prstGeom prst="rect">
            <a:avLst/>
          </a:prstGeom>
          <a:noFill/>
          <a:ln/>
        </p:spPr>
        <p:txBody>
          <a:bodyPr wrap="square" lIns="0" tIns="0" rIns="0" bIns="0" rtlCol="0" anchor="ctr"/>
          <a:lstStyle/>
          <a:p>
            <a:pPr marL="0" indent="0">
              <a:buNone/>
            </a:pPr>
            <a:r>
              <a:rPr lang="en-US" sz="1900" dirty="0">
                <a:solidFill>
                  <a:srgbClr val="FFFFFF"/>
                </a:solidFill>
                <a:latin typeface="Calibri" pitchFamily="34" charset="0"/>
                <a:ea typeface="Calibri" pitchFamily="34" charset="-122"/>
                <a:cs typeface="Calibri" pitchFamily="34" charset="-120"/>
              </a:rPr>
              <a:t>L'IA est-elle vraiment nécessaire ?</a:t>
            </a:r>
            <a:endParaRPr lang="en-US" sz="1900" dirty="0"/>
          </a:p>
        </p:txBody>
      </p:sp>
      <p:sp>
        <p:nvSpPr>
          <p:cNvPr id="16" name="Shape 14"/>
          <p:cNvSpPr/>
          <p:nvPr/>
        </p:nvSpPr>
        <p:spPr>
          <a:xfrm>
            <a:off x="6309360" y="3227832"/>
            <a:ext cx="5212080" cy="914400"/>
          </a:xfrm>
          <a:prstGeom prst="rect">
            <a:avLst/>
          </a:prstGeom>
          <a:solidFill>
            <a:srgbClr val="155D36"/>
          </a:solidFill>
          <a:ln/>
        </p:spPr>
      </p:sp>
      <p:sp>
        <p:nvSpPr>
          <p:cNvPr id="17" name="Shape 15"/>
          <p:cNvSpPr/>
          <p:nvPr/>
        </p:nvSpPr>
        <p:spPr>
          <a:xfrm>
            <a:off x="6537960" y="3456432"/>
            <a:ext cx="457200" cy="457200"/>
          </a:xfrm>
          <a:prstGeom prst="ellipse">
            <a:avLst/>
          </a:prstGeom>
          <a:solidFill>
            <a:srgbClr val="8E2DE2"/>
          </a:solidFill>
          <a:ln/>
        </p:spPr>
      </p:sp>
      <p:sp>
        <p:nvSpPr>
          <p:cNvPr id="18" name="Text 16"/>
          <p:cNvSpPr/>
          <p:nvPr/>
        </p:nvSpPr>
        <p:spPr>
          <a:xfrm>
            <a:off x="6537960" y="3456432"/>
            <a:ext cx="457200" cy="457200"/>
          </a:xfrm>
          <a:prstGeom prst="rect">
            <a:avLst/>
          </a:prstGeom>
          <a:noFill/>
          <a:ln/>
        </p:spPr>
        <p:txBody>
          <a:bodyPr wrap="square" lIns="0" tIns="0" rIns="0" bIns="0" rtlCol="0" anchor="ctr"/>
          <a:lstStyle/>
          <a:p>
            <a:pPr marL="0" indent="0" algn="ctr">
              <a:buNone/>
            </a:pPr>
            <a:r>
              <a:rPr lang="en-US" sz="2050" b="1" dirty="0">
                <a:solidFill>
                  <a:srgbClr val="000000"/>
                </a:solidFill>
                <a:latin typeface="Calibri" pitchFamily="34" charset="0"/>
                <a:ea typeface="Calibri" pitchFamily="34" charset="-122"/>
                <a:cs typeface="Calibri" pitchFamily="34" charset="-120"/>
              </a:rPr>
              <a:t>4</a:t>
            </a:r>
            <a:endParaRPr lang="en-US" sz="2050" dirty="0"/>
          </a:p>
        </p:txBody>
      </p:sp>
      <p:sp>
        <p:nvSpPr>
          <p:cNvPr id="19" name="Text 17"/>
          <p:cNvSpPr/>
          <p:nvPr/>
        </p:nvSpPr>
        <p:spPr>
          <a:xfrm>
            <a:off x="7178040" y="3227832"/>
            <a:ext cx="4160520" cy="914400"/>
          </a:xfrm>
          <a:prstGeom prst="rect">
            <a:avLst/>
          </a:prstGeom>
          <a:noFill/>
          <a:ln/>
        </p:spPr>
        <p:txBody>
          <a:bodyPr wrap="square" lIns="0" tIns="0" rIns="0" bIns="0" rtlCol="0" anchor="ctr"/>
          <a:lstStyle/>
          <a:p>
            <a:pPr marL="0" indent="0">
              <a:buNone/>
            </a:pPr>
            <a:r>
              <a:rPr lang="en-US" sz="1900" dirty="0">
                <a:solidFill>
                  <a:srgbClr val="FFFFFF"/>
                </a:solidFill>
                <a:latin typeface="Calibri" pitchFamily="34" charset="0"/>
                <a:ea typeface="Calibri" pitchFamily="34" charset="-122"/>
                <a:cs typeface="Calibri" pitchFamily="34" charset="-120"/>
              </a:rPr>
              <a:t>Cette solution peut-elle fonctionner ?</a:t>
            </a:r>
            <a:endParaRPr lang="en-US" sz="1900" dirty="0"/>
          </a:p>
        </p:txBody>
      </p:sp>
      <p:sp>
        <p:nvSpPr>
          <p:cNvPr id="20" name="Shape 18"/>
          <p:cNvSpPr/>
          <p:nvPr/>
        </p:nvSpPr>
        <p:spPr>
          <a:xfrm>
            <a:off x="640080" y="4398264"/>
            <a:ext cx="5212080" cy="914400"/>
          </a:xfrm>
          <a:prstGeom prst="rect">
            <a:avLst/>
          </a:prstGeom>
          <a:solidFill>
            <a:srgbClr val="155D36"/>
          </a:solidFill>
          <a:ln/>
        </p:spPr>
      </p:sp>
      <p:sp>
        <p:nvSpPr>
          <p:cNvPr id="21" name="Shape 19"/>
          <p:cNvSpPr/>
          <p:nvPr/>
        </p:nvSpPr>
        <p:spPr>
          <a:xfrm>
            <a:off x="868680" y="4626864"/>
            <a:ext cx="457200" cy="457200"/>
          </a:xfrm>
          <a:prstGeom prst="ellipse">
            <a:avLst/>
          </a:prstGeom>
          <a:solidFill>
            <a:srgbClr val="8E2DE2"/>
          </a:solidFill>
          <a:ln/>
        </p:spPr>
      </p:sp>
      <p:sp>
        <p:nvSpPr>
          <p:cNvPr id="22" name="Text 20"/>
          <p:cNvSpPr/>
          <p:nvPr/>
        </p:nvSpPr>
        <p:spPr>
          <a:xfrm>
            <a:off x="868680" y="4626864"/>
            <a:ext cx="457200" cy="457200"/>
          </a:xfrm>
          <a:prstGeom prst="rect">
            <a:avLst/>
          </a:prstGeom>
          <a:noFill/>
          <a:ln/>
        </p:spPr>
        <p:txBody>
          <a:bodyPr wrap="square" lIns="0" tIns="0" rIns="0" bIns="0" rtlCol="0" anchor="ctr"/>
          <a:lstStyle/>
          <a:p>
            <a:pPr marL="0" indent="0" algn="ctr">
              <a:buNone/>
            </a:pPr>
            <a:r>
              <a:rPr lang="en-US" sz="2050" b="1" dirty="0">
                <a:solidFill>
                  <a:srgbClr val="000000"/>
                </a:solidFill>
                <a:latin typeface="Calibri" pitchFamily="34" charset="0"/>
                <a:ea typeface="Calibri" pitchFamily="34" charset="-122"/>
                <a:cs typeface="Calibri" pitchFamily="34" charset="-120"/>
              </a:rPr>
              <a:t>5</a:t>
            </a:r>
            <a:endParaRPr lang="en-US" sz="2050" dirty="0"/>
          </a:p>
        </p:txBody>
      </p:sp>
      <p:sp>
        <p:nvSpPr>
          <p:cNvPr id="23" name="Text 21"/>
          <p:cNvSpPr/>
          <p:nvPr/>
        </p:nvSpPr>
        <p:spPr>
          <a:xfrm>
            <a:off x="1508760" y="4398264"/>
            <a:ext cx="4160520" cy="914400"/>
          </a:xfrm>
          <a:prstGeom prst="rect">
            <a:avLst/>
          </a:prstGeom>
          <a:noFill/>
          <a:ln/>
        </p:spPr>
        <p:txBody>
          <a:bodyPr wrap="square" lIns="0" tIns="0" rIns="0" bIns="0" rtlCol="0" anchor="ctr"/>
          <a:lstStyle/>
          <a:p>
            <a:pPr marL="0" indent="0">
              <a:buNone/>
            </a:pPr>
            <a:r>
              <a:rPr lang="en-US" sz="1900" dirty="0">
                <a:solidFill>
                  <a:srgbClr val="FFFFFF"/>
                </a:solidFill>
                <a:latin typeface="Calibri" pitchFamily="34" charset="0"/>
                <a:ea typeface="Calibri" pitchFamily="34" charset="-122"/>
                <a:cs typeface="Calibri" pitchFamily="34" charset="-120"/>
              </a:rPr>
              <a:t>Cela peut-il devenir une entreprise ?</a:t>
            </a:r>
            <a:endParaRPr lang="en-US" sz="1900" dirty="0"/>
          </a:p>
        </p:txBody>
      </p:sp>
      <p:sp>
        <p:nvSpPr>
          <p:cNvPr id="24" name="Shape 22"/>
          <p:cNvSpPr/>
          <p:nvPr/>
        </p:nvSpPr>
        <p:spPr>
          <a:xfrm>
            <a:off x="6309360" y="4398264"/>
            <a:ext cx="5212080" cy="914400"/>
          </a:xfrm>
          <a:prstGeom prst="rect">
            <a:avLst/>
          </a:prstGeom>
          <a:solidFill>
            <a:srgbClr val="155D36"/>
          </a:solidFill>
          <a:ln/>
        </p:spPr>
      </p:sp>
      <p:sp>
        <p:nvSpPr>
          <p:cNvPr id="25" name="Shape 23"/>
          <p:cNvSpPr/>
          <p:nvPr/>
        </p:nvSpPr>
        <p:spPr>
          <a:xfrm>
            <a:off x="6537960" y="4626864"/>
            <a:ext cx="457200" cy="457200"/>
          </a:xfrm>
          <a:prstGeom prst="ellipse">
            <a:avLst/>
          </a:prstGeom>
          <a:solidFill>
            <a:srgbClr val="8E2DE2"/>
          </a:solidFill>
          <a:ln/>
        </p:spPr>
      </p:sp>
      <p:sp>
        <p:nvSpPr>
          <p:cNvPr id="26" name="Text 24"/>
          <p:cNvSpPr/>
          <p:nvPr/>
        </p:nvSpPr>
        <p:spPr>
          <a:xfrm>
            <a:off x="6537960" y="4626864"/>
            <a:ext cx="457200" cy="457200"/>
          </a:xfrm>
          <a:prstGeom prst="rect">
            <a:avLst/>
          </a:prstGeom>
          <a:noFill/>
          <a:ln/>
        </p:spPr>
        <p:txBody>
          <a:bodyPr wrap="square" lIns="0" tIns="0" rIns="0" bIns="0" rtlCol="0" anchor="ctr"/>
          <a:lstStyle/>
          <a:p>
            <a:pPr marL="0" indent="0" algn="ctr">
              <a:buNone/>
            </a:pPr>
            <a:r>
              <a:rPr lang="en-US" sz="2050" b="1" dirty="0">
                <a:solidFill>
                  <a:srgbClr val="000000"/>
                </a:solidFill>
                <a:latin typeface="Calibri" pitchFamily="34" charset="0"/>
                <a:ea typeface="Calibri" pitchFamily="34" charset="-122"/>
                <a:cs typeface="Calibri" pitchFamily="34" charset="-120"/>
              </a:rPr>
              <a:t>6</a:t>
            </a:r>
            <a:endParaRPr lang="en-US" sz="2050" dirty="0"/>
          </a:p>
        </p:txBody>
      </p:sp>
      <p:sp>
        <p:nvSpPr>
          <p:cNvPr id="27" name="Text 25"/>
          <p:cNvSpPr/>
          <p:nvPr/>
        </p:nvSpPr>
        <p:spPr>
          <a:xfrm>
            <a:off x="7178040" y="4398264"/>
            <a:ext cx="4160520" cy="914400"/>
          </a:xfrm>
          <a:prstGeom prst="rect">
            <a:avLst/>
          </a:prstGeom>
          <a:noFill/>
          <a:ln/>
        </p:spPr>
        <p:txBody>
          <a:bodyPr wrap="square" lIns="0" tIns="0" rIns="0" bIns="0" rtlCol="0" anchor="ctr"/>
          <a:lstStyle/>
          <a:p>
            <a:pPr marL="0" indent="0">
              <a:buNone/>
            </a:pPr>
            <a:r>
              <a:rPr lang="en-US" sz="1900" dirty="0">
                <a:solidFill>
                  <a:srgbClr val="FFFFFF"/>
                </a:solidFill>
                <a:latin typeface="Calibri" pitchFamily="34" charset="0"/>
                <a:ea typeface="Calibri" pitchFamily="34" charset="-122"/>
                <a:cs typeface="Calibri" pitchFamily="34" charset="-120"/>
              </a:rPr>
              <a:t>Cette équipe m'inspire-t-elle confiance ?</a:t>
            </a:r>
            <a:endParaRPr lang="en-US" sz="1900" dirty="0"/>
          </a:p>
        </p:txBody>
      </p:sp>
      <p:sp>
        <p:nvSpPr>
          <p:cNvPr id="28" name="Text 26"/>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29" name="Text 2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4</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2286000" y="-2286000"/>
            <a:ext cx="5486400" cy="5486400"/>
          </a:xfrm>
          <a:prstGeom prst="ellipse">
            <a:avLst/>
          </a:prstGeom>
          <a:solidFill>
            <a:srgbClr val="155D36"/>
          </a:solidFill>
          <a:ln/>
        </p:spPr>
      </p:sp>
      <p:sp>
        <p:nvSpPr>
          <p:cNvPr id="3" name="Text 1"/>
          <p:cNvSpPr/>
          <p:nvPr/>
        </p:nvSpPr>
        <p:spPr>
          <a:xfrm>
            <a:off x="1097280" y="1828800"/>
            <a:ext cx="9994392" cy="457200"/>
          </a:xfrm>
          <a:prstGeom prst="rect">
            <a:avLst/>
          </a:prstGeom>
          <a:noFill/>
          <a:ln/>
        </p:spPr>
        <p:txBody>
          <a:bodyPr wrap="square" lIns="0" tIns="0" rIns="0" bIns="0" rtlCol="0" anchor="ctr"/>
          <a:lstStyle/>
          <a:p>
            <a:pPr marL="0" indent="0">
              <a:buNone/>
            </a:pPr>
            <a:r>
              <a:rPr lang="en-US" sz="1800" b="1" kern="0" spc="200" dirty="0">
                <a:solidFill>
                  <a:srgbClr val="8E2DE2"/>
                </a:solidFill>
                <a:latin typeface="Calibri" pitchFamily="34" charset="0"/>
                <a:ea typeface="Calibri" pitchFamily="34" charset="-122"/>
                <a:cs typeface="Calibri" pitchFamily="34" charset="-120"/>
              </a:rPr>
              <a:t>RÈGLE D'OR</a:t>
            </a:r>
            <a:endParaRPr lang="en-US" sz="1800" dirty="0"/>
          </a:p>
        </p:txBody>
      </p:sp>
      <p:sp>
        <p:nvSpPr>
          <p:cNvPr id="4" name="Text 2"/>
          <p:cNvSpPr/>
          <p:nvPr/>
        </p:nvSpPr>
        <p:spPr>
          <a:xfrm>
            <a:off x="1097280" y="2331720"/>
            <a:ext cx="9994392" cy="2377440"/>
          </a:xfrm>
          <a:prstGeom prst="rect">
            <a:avLst/>
          </a:prstGeom>
          <a:noFill/>
          <a:ln/>
        </p:spPr>
        <p:txBody>
          <a:bodyPr wrap="square" lIns="0" tIns="0" rIns="0" bIns="0" rtlCol="0" anchor="t"/>
          <a:lstStyle/>
          <a:p>
            <a:pPr marL="0" indent="0">
              <a:lnSpc>
                <a:spcPct val="125000"/>
              </a:lnSpc>
              <a:buNone/>
            </a:pPr>
            <a:r>
              <a:rPr lang="en-US" sz="3200" i="1" dirty="0">
                <a:solidFill>
                  <a:srgbClr val="FFFFFF"/>
                </a:solidFill>
                <a:latin typeface="Cambria" pitchFamily="34" charset="0"/>
                <a:ea typeface="Cambria" pitchFamily="34" charset="-122"/>
                <a:cs typeface="Cambria" pitchFamily="34" charset="-120"/>
              </a:rPr>
              <a:t>« Ne vendez pas votre application. Vendez le problème, l'opportunité, l'impact et le futur que vous construisez. »</a:t>
            </a:r>
            <a:endParaRPr lang="en-US" sz="3200" dirty="0"/>
          </a:p>
        </p:txBody>
      </p:sp>
      <p:sp>
        <p:nvSpPr>
          <p:cNvPr id="5" name="Text 3"/>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6" name="Text 4"/>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5</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411480"/>
          </a:xfrm>
          <a:prstGeom prst="rect">
            <a:avLst/>
          </a:prstGeom>
          <a:noFill/>
          <a:ln/>
        </p:spPr>
        <p:txBody>
          <a:bodyPr wrap="square" lIns="0" tIns="0" rIns="0" bIns="0" rtlCol="0" anchor="ctr"/>
          <a:lstStyle/>
          <a:p>
            <a:pPr marL="0" indent="0">
              <a:buNone/>
            </a:pPr>
            <a:r>
              <a:rPr lang="en-US" sz="1900" b="1" kern="0" spc="200" dirty="0">
                <a:solidFill>
                  <a:srgbClr val="8E2DE2"/>
                </a:solidFill>
                <a:latin typeface="Calibri" pitchFamily="34" charset="0"/>
                <a:ea typeface="Calibri" pitchFamily="34" charset="-122"/>
                <a:cs typeface="Calibri" pitchFamily="34" charset="-120"/>
              </a:rPr>
              <a:t>NOS FONDATIONS</a:t>
            </a:r>
            <a:endParaRPr lang="en-US" sz="1900" dirty="0"/>
          </a:p>
        </p:txBody>
      </p:sp>
      <p:sp>
        <p:nvSpPr>
          <p:cNvPr id="3" name="Text 1"/>
          <p:cNvSpPr/>
          <p:nvPr/>
        </p:nvSpPr>
        <p:spPr>
          <a:xfrm>
            <a:off x="640080" y="868680"/>
            <a:ext cx="10908792" cy="1188720"/>
          </a:xfrm>
          <a:prstGeom prst="rect">
            <a:avLst/>
          </a:prstGeom>
          <a:noFill/>
          <a:ln/>
        </p:spPr>
        <p:txBody>
          <a:bodyPr wrap="square" lIns="0" tIns="0" rIns="0" bIns="0" rtlCol="0" anchor="t"/>
          <a:lstStyle/>
          <a:p>
            <a:pPr marL="0" indent="0">
              <a:buNone/>
            </a:pPr>
            <a:r>
              <a:rPr lang="en-US" sz="4200" b="1" dirty="0">
                <a:solidFill>
                  <a:srgbClr val="000000"/>
                </a:solidFill>
                <a:latin typeface="Cambria" pitchFamily="34" charset="0"/>
                <a:ea typeface="Cambria" pitchFamily="34" charset="-122"/>
                <a:cs typeface="Cambria" pitchFamily="34" charset="-120"/>
              </a:rPr>
              <a:t>Ce que nous empruntons à YC, 500 Global et Plug &amp; Play</a:t>
            </a:r>
            <a:endParaRPr lang="en-US" sz="4200" dirty="0"/>
          </a:p>
        </p:txBody>
      </p:sp>
      <p:sp>
        <p:nvSpPr>
          <p:cNvPr id="4" name="Shape 2"/>
          <p:cNvSpPr/>
          <p:nvPr/>
        </p:nvSpPr>
        <p:spPr>
          <a:xfrm>
            <a:off x="640080" y="2148840"/>
            <a:ext cx="2606040" cy="3566160"/>
          </a:xfrm>
          <a:prstGeom prst="rect">
            <a:avLst/>
          </a:prstGeom>
          <a:solidFill>
            <a:srgbClr val="EAF5EE"/>
          </a:solidFill>
          <a:ln/>
          <a:effectLst>
            <a:outerShdw blurRad="152400" dist="38100" dir="2700000" algn="bl" rotWithShape="0">
              <a:srgbClr val="000000">
                <a:alpha val="15000"/>
              </a:srgbClr>
            </a:outerShdw>
          </a:effectLst>
        </p:spPr>
      </p:sp>
      <p:sp>
        <p:nvSpPr>
          <p:cNvPr id="5" name="Shape 3"/>
          <p:cNvSpPr/>
          <p:nvPr/>
        </p:nvSpPr>
        <p:spPr>
          <a:xfrm>
            <a:off x="914400" y="2423160"/>
            <a:ext cx="594360" cy="594360"/>
          </a:xfrm>
          <a:prstGeom prst="ellipse">
            <a:avLst/>
          </a:prstGeom>
          <a:solidFill>
            <a:srgbClr val="8E2DE2"/>
          </a:solidFill>
          <a:ln/>
        </p:spPr>
      </p:sp>
      <p:pic>
        <p:nvPicPr>
          <p:cNvPr id="6" name="Image 0" descr="preencoded.png"/>
          <p:cNvPicPr>
            <a:picLocks noChangeAspect="1"/>
          </p:cNvPicPr>
          <p:nvPr/>
        </p:nvPicPr>
        <p:blipFill>
          <a:blip r:embed="rId3"/>
          <a:stretch>
            <a:fillRect/>
          </a:stretch>
        </p:blipFill>
        <p:spPr>
          <a:xfrm>
            <a:off x="985723" y="2494483"/>
            <a:ext cx="451714" cy="451714"/>
          </a:xfrm>
          <a:prstGeom prst="rect">
            <a:avLst/>
          </a:prstGeom>
        </p:spPr>
      </p:pic>
      <p:sp>
        <p:nvSpPr>
          <p:cNvPr id="7" name="Text 4"/>
          <p:cNvSpPr/>
          <p:nvPr/>
        </p:nvSpPr>
        <p:spPr>
          <a:xfrm>
            <a:off x="914400" y="3154680"/>
            <a:ext cx="2057400" cy="548640"/>
          </a:xfrm>
          <a:prstGeom prst="rect">
            <a:avLst/>
          </a:prstGeom>
          <a:noFill/>
          <a:ln/>
        </p:spPr>
        <p:txBody>
          <a:bodyPr wrap="square" lIns="0" tIns="0" rIns="0" bIns="0" rtlCol="0" anchor="ctr"/>
          <a:lstStyle/>
          <a:p>
            <a:pPr marL="0" indent="0">
              <a:buNone/>
            </a:pPr>
            <a:r>
              <a:rPr lang="en-US" sz="2050" b="1" dirty="0">
                <a:solidFill>
                  <a:srgbClr val="000000"/>
                </a:solidFill>
                <a:latin typeface="Cambria" pitchFamily="34" charset="0"/>
                <a:ea typeface="Cambria" pitchFamily="34" charset="-122"/>
                <a:cs typeface="Cambria" pitchFamily="34" charset="-120"/>
              </a:rPr>
              <a:t>Y Combinator</a:t>
            </a:r>
            <a:endParaRPr lang="en-US" sz="2050" dirty="0"/>
          </a:p>
        </p:txBody>
      </p:sp>
      <p:sp>
        <p:nvSpPr>
          <p:cNvPr id="8" name="Text 5"/>
          <p:cNvSpPr/>
          <p:nvPr/>
        </p:nvSpPr>
        <p:spPr>
          <a:xfrm>
            <a:off x="914400" y="3749040"/>
            <a:ext cx="2057400" cy="1828800"/>
          </a:xfrm>
          <a:prstGeom prst="rect">
            <a:avLst/>
          </a:prstGeom>
          <a:noFill/>
          <a:ln/>
        </p:spPr>
        <p:txBody>
          <a:bodyPr wrap="square" lIns="0" tIns="0" rIns="0" bIns="0" rtlCol="0" anchor="ctr"/>
          <a:lstStyle/>
          <a:p>
            <a:pPr marL="0" indent="0">
              <a:lnSpc>
                <a:spcPct val="120000"/>
              </a:lnSpc>
              <a:buNone/>
            </a:pPr>
            <a:r>
              <a:rPr lang="en-US" sz="1600" dirty="0">
                <a:solidFill>
                  <a:srgbClr val="6E6E6E"/>
                </a:solidFill>
                <a:latin typeface="Calibri" pitchFamily="34" charset="0"/>
                <a:ea typeface="Calibri" pitchFamily="34" charset="-122"/>
                <a:cs typeface="Calibri" pitchFamily="34" charset="-120"/>
              </a:rPr>
              <a:t>Construire quelque chose que des utilisateurs veulent. Clarté radicale en une phrase.</a:t>
            </a:r>
            <a:endParaRPr lang="en-US" sz="1600" dirty="0"/>
          </a:p>
        </p:txBody>
      </p:sp>
      <p:sp>
        <p:nvSpPr>
          <p:cNvPr id="9" name="Shape 6"/>
          <p:cNvSpPr/>
          <p:nvPr/>
        </p:nvSpPr>
        <p:spPr>
          <a:xfrm>
            <a:off x="3465576" y="2148840"/>
            <a:ext cx="2606040" cy="3566160"/>
          </a:xfrm>
          <a:prstGeom prst="rect">
            <a:avLst/>
          </a:prstGeom>
          <a:solidFill>
            <a:srgbClr val="EAF5EE"/>
          </a:solidFill>
          <a:ln/>
          <a:effectLst>
            <a:outerShdw blurRad="152400" dist="38100" dir="2700000" algn="bl" rotWithShape="0">
              <a:srgbClr val="000000">
                <a:alpha val="15000"/>
              </a:srgbClr>
            </a:outerShdw>
          </a:effectLst>
        </p:spPr>
      </p:sp>
      <p:sp>
        <p:nvSpPr>
          <p:cNvPr id="10" name="Shape 7"/>
          <p:cNvSpPr/>
          <p:nvPr/>
        </p:nvSpPr>
        <p:spPr>
          <a:xfrm>
            <a:off x="3739896" y="2423160"/>
            <a:ext cx="594360" cy="594360"/>
          </a:xfrm>
          <a:prstGeom prst="ellipse">
            <a:avLst/>
          </a:prstGeom>
          <a:solidFill>
            <a:srgbClr val="8E2DE2"/>
          </a:solidFill>
          <a:ln/>
        </p:spPr>
      </p:sp>
      <p:pic>
        <p:nvPicPr>
          <p:cNvPr id="11" name="Image 1" descr="preencoded.png"/>
          <p:cNvPicPr>
            <a:picLocks noChangeAspect="1"/>
          </p:cNvPicPr>
          <p:nvPr/>
        </p:nvPicPr>
        <p:blipFill>
          <a:blip r:embed="rId4"/>
          <a:stretch>
            <a:fillRect/>
          </a:stretch>
        </p:blipFill>
        <p:spPr>
          <a:xfrm>
            <a:off x="3811219" y="2494483"/>
            <a:ext cx="451714" cy="451714"/>
          </a:xfrm>
          <a:prstGeom prst="rect">
            <a:avLst/>
          </a:prstGeom>
        </p:spPr>
      </p:pic>
      <p:sp>
        <p:nvSpPr>
          <p:cNvPr id="12" name="Text 8"/>
          <p:cNvSpPr/>
          <p:nvPr/>
        </p:nvSpPr>
        <p:spPr>
          <a:xfrm>
            <a:off x="3739896" y="3154680"/>
            <a:ext cx="2057400" cy="548640"/>
          </a:xfrm>
          <a:prstGeom prst="rect">
            <a:avLst/>
          </a:prstGeom>
          <a:noFill/>
          <a:ln/>
        </p:spPr>
        <p:txBody>
          <a:bodyPr wrap="square" lIns="0" tIns="0" rIns="0" bIns="0" rtlCol="0" anchor="ctr"/>
          <a:lstStyle/>
          <a:p>
            <a:pPr marL="0" indent="0">
              <a:buNone/>
            </a:pPr>
            <a:r>
              <a:rPr lang="en-US" sz="2050" b="1" dirty="0">
                <a:solidFill>
                  <a:srgbClr val="000000"/>
                </a:solidFill>
                <a:latin typeface="Cambria" pitchFamily="34" charset="0"/>
                <a:ea typeface="Cambria" pitchFamily="34" charset="-122"/>
                <a:cs typeface="Cambria" pitchFamily="34" charset="-120"/>
              </a:rPr>
              <a:t>500 Global</a:t>
            </a:r>
            <a:endParaRPr lang="en-US" sz="2050" dirty="0"/>
          </a:p>
        </p:txBody>
      </p:sp>
      <p:sp>
        <p:nvSpPr>
          <p:cNvPr id="13" name="Text 9"/>
          <p:cNvSpPr/>
          <p:nvPr/>
        </p:nvSpPr>
        <p:spPr>
          <a:xfrm>
            <a:off x="3739896" y="3749040"/>
            <a:ext cx="2057400" cy="1828800"/>
          </a:xfrm>
          <a:prstGeom prst="rect">
            <a:avLst/>
          </a:prstGeom>
          <a:noFill/>
          <a:ln/>
        </p:spPr>
        <p:txBody>
          <a:bodyPr wrap="square" lIns="0" tIns="0" rIns="0" bIns="0" rtlCol="0" anchor="ctr"/>
          <a:lstStyle/>
          <a:p>
            <a:pPr marL="0" indent="0">
              <a:lnSpc>
                <a:spcPct val="120000"/>
              </a:lnSpc>
              <a:buNone/>
            </a:pPr>
            <a:r>
              <a:rPr lang="en-US" sz="1600" dirty="0">
                <a:solidFill>
                  <a:srgbClr val="6E6E6E"/>
                </a:solidFill>
                <a:latin typeface="Calibri" pitchFamily="34" charset="0"/>
                <a:ea typeface="Calibri" pitchFamily="34" charset="-122"/>
                <a:cs typeface="Calibri" pitchFamily="34" charset="-120"/>
              </a:rPr>
              <a:t>La traction et les chiffres priment sur les intentions. Unit economics, preuve d'adoption.</a:t>
            </a:r>
            <a:endParaRPr lang="en-US" sz="1600" dirty="0"/>
          </a:p>
        </p:txBody>
      </p:sp>
      <p:sp>
        <p:nvSpPr>
          <p:cNvPr id="14" name="Shape 10"/>
          <p:cNvSpPr/>
          <p:nvPr/>
        </p:nvSpPr>
        <p:spPr>
          <a:xfrm>
            <a:off x="6291072" y="2148840"/>
            <a:ext cx="2606040" cy="3566160"/>
          </a:xfrm>
          <a:prstGeom prst="rect">
            <a:avLst/>
          </a:prstGeom>
          <a:solidFill>
            <a:srgbClr val="EAF5EE"/>
          </a:solidFill>
          <a:ln/>
          <a:effectLst>
            <a:outerShdw blurRad="152400" dist="38100" dir="2700000" algn="bl" rotWithShape="0">
              <a:srgbClr val="000000">
                <a:alpha val="15000"/>
              </a:srgbClr>
            </a:outerShdw>
          </a:effectLst>
        </p:spPr>
      </p:sp>
      <p:sp>
        <p:nvSpPr>
          <p:cNvPr id="15" name="Shape 11"/>
          <p:cNvSpPr/>
          <p:nvPr/>
        </p:nvSpPr>
        <p:spPr>
          <a:xfrm>
            <a:off x="6565392" y="2423160"/>
            <a:ext cx="594360" cy="594360"/>
          </a:xfrm>
          <a:prstGeom prst="ellipse">
            <a:avLst/>
          </a:prstGeom>
          <a:solidFill>
            <a:srgbClr val="8E2DE2"/>
          </a:solidFill>
          <a:ln/>
        </p:spPr>
      </p:sp>
      <p:pic>
        <p:nvPicPr>
          <p:cNvPr id="16" name="Image 2" descr="preencoded.png"/>
          <p:cNvPicPr>
            <a:picLocks noChangeAspect="1"/>
          </p:cNvPicPr>
          <p:nvPr/>
        </p:nvPicPr>
        <p:blipFill>
          <a:blip r:embed="rId5"/>
          <a:stretch>
            <a:fillRect/>
          </a:stretch>
        </p:blipFill>
        <p:spPr>
          <a:xfrm>
            <a:off x="6636715" y="2494483"/>
            <a:ext cx="451714" cy="451714"/>
          </a:xfrm>
          <a:prstGeom prst="rect">
            <a:avLst/>
          </a:prstGeom>
        </p:spPr>
      </p:pic>
      <p:sp>
        <p:nvSpPr>
          <p:cNvPr id="17" name="Text 12"/>
          <p:cNvSpPr/>
          <p:nvPr/>
        </p:nvSpPr>
        <p:spPr>
          <a:xfrm>
            <a:off x="6565392" y="3154680"/>
            <a:ext cx="2057400" cy="548640"/>
          </a:xfrm>
          <a:prstGeom prst="rect">
            <a:avLst/>
          </a:prstGeom>
          <a:noFill/>
          <a:ln/>
        </p:spPr>
        <p:txBody>
          <a:bodyPr wrap="square" lIns="0" tIns="0" rIns="0" bIns="0" rtlCol="0" anchor="ctr"/>
          <a:lstStyle/>
          <a:p>
            <a:pPr marL="0" indent="0">
              <a:buNone/>
            </a:pPr>
            <a:r>
              <a:rPr lang="en-US" sz="2050" b="1" dirty="0">
                <a:solidFill>
                  <a:srgbClr val="000000"/>
                </a:solidFill>
                <a:latin typeface="Cambria" pitchFamily="34" charset="0"/>
                <a:ea typeface="Cambria" pitchFamily="34" charset="-122"/>
                <a:cs typeface="Cambria" pitchFamily="34" charset="-120"/>
              </a:rPr>
              <a:t>Plug &amp; Play</a:t>
            </a:r>
            <a:endParaRPr lang="en-US" sz="2050" dirty="0"/>
          </a:p>
        </p:txBody>
      </p:sp>
      <p:sp>
        <p:nvSpPr>
          <p:cNvPr id="18" name="Text 13"/>
          <p:cNvSpPr/>
          <p:nvPr/>
        </p:nvSpPr>
        <p:spPr>
          <a:xfrm>
            <a:off x="6565392" y="3749040"/>
            <a:ext cx="2057400" cy="1828800"/>
          </a:xfrm>
          <a:prstGeom prst="rect">
            <a:avLst/>
          </a:prstGeom>
          <a:noFill/>
          <a:ln/>
        </p:spPr>
        <p:txBody>
          <a:bodyPr wrap="square" lIns="0" tIns="0" rIns="0" bIns="0" rtlCol="0" anchor="ctr"/>
          <a:lstStyle/>
          <a:p>
            <a:pPr marL="0" indent="0">
              <a:lnSpc>
                <a:spcPct val="120000"/>
              </a:lnSpc>
              <a:buNone/>
            </a:pPr>
            <a:r>
              <a:rPr lang="en-US" sz="1600" dirty="0">
                <a:solidFill>
                  <a:srgbClr val="6E6E6E"/>
                </a:solidFill>
                <a:latin typeface="Calibri" pitchFamily="34" charset="0"/>
                <a:ea typeface="Calibri" pitchFamily="34" charset="-122"/>
                <a:cs typeface="Calibri" pitchFamily="34" charset="-120"/>
              </a:rPr>
              <a:t>La valeur se mesure à l'adoption par une grande organisation : pilote, conformité.</a:t>
            </a:r>
            <a:endParaRPr lang="en-US" sz="1600" dirty="0"/>
          </a:p>
        </p:txBody>
      </p:sp>
      <p:sp>
        <p:nvSpPr>
          <p:cNvPr id="19" name="Shape 14"/>
          <p:cNvSpPr/>
          <p:nvPr/>
        </p:nvSpPr>
        <p:spPr>
          <a:xfrm>
            <a:off x="9116568" y="2148840"/>
            <a:ext cx="2606040" cy="3566160"/>
          </a:xfrm>
          <a:prstGeom prst="rect">
            <a:avLst/>
          </a:prstGeom>
          <a:solidFill>
            <a:srgbClr val="155D36"/>
          </a:solidFill>
          <a:ln/>
          <a:effectLst>
            <a:outerShdw blurRad="152400" dist="38100" dir="2700000" algn="bl" rotWithShape="0">
              <a:srgbClr val="000000">
                <a:alpha val="15000"/>
              </a:srgbClr>
            </a:outerShdw>
          </a:effectLst>
        </p:spPr>
      </p:sp>
      <p:sp>
        <p:nvSpPr>
          <p:cNvPr id="20" name="Shape 15"/>
          <p:cNvSpPr/>
          <p:nvPr/>
        </p:nvSpPr>
        <p:spPr>
          <a:xfrm>
            <a:off x="9390888" y="2423160"/>
            <a:ext cx="594360" cy="594360"/>
          </a:xfrm>
          <a:prstGeom prst="ellipse">
            <a:avLst/>
          </a:prstGeom>
          <a:solidFill>
            <a:srgbClr val="8E2DE2"/>
          </a:solidFill>
          <a:ln/>
        </p:spPr>
      </p:sp>
      <p:pic>
        <p:nvPicPr>
          <p:cNvPr id="21" name="Image 3" descr="preencoded.png"/>
          <p:cNvPicPr>
            <a:picLocks noChangeAspect="1"/>
          </p:cNvPicPr>
          <p:nvPr/>
        </p:nvPicPr>
        <p:blipFill>
          <a:blip r:embed="rId6"/>
          <a:stretch>
            <a:fillRect/>
          </a:stretch>
        </p:blipFill>
        <p:spPr>
          <a:xfrm>
            <a:off x="9462211" y="2494483"/>
            <a:ext cx="451714" cy="451714"/>
          </a:xfrm>
          <a:prstGeom prst="rect">
            <a:avLst/>
          </a:prstGeom>
        </p:spPr>
      </p:pic>
      <p:sp>
        <p:nvSpPr>
          <p:cNvPr id="22" name="Text 16"/>
          <p:cNvSpPr/>
          <p:nvPr/>
        </p:nvSpPr>
        <p:spPr>
          <a:xfrm>
            <a:off x="9390888" y="3154680"/>
            <a:ext cx="2057400" cy="548640"/>
          </a:xfrm>
          <a:prstGeom prst="rect">
            <a:avLst/>
          </a:prstGeom>
          <a:noFill/>
          <a:ln/>
        </p:spPr>
        <p:txBody>
          <a:bodyPr wrap="square" lIns="0" tIns="0" rIns="0" bIns="0" rtlCol="0" anchor="ctr"/>
          <a:lstStyle/>
          <a:p>
            <a:pPr marL="0" indent="0">
              <a:buNone/>
            </a:pPr>
            <a:r>
              <a:rPr lang="en-US" sz="2050" b="1" dirty="0">
                <a:solidFill>
                  <a:srgbClr val="FFFFFF"/>
                </a:solidFill>
                <a:latin typeface="Cambria" pitchFamily="34" charset="0"/>
                <a:ea typeface="Cambria" pitchFamily="34" charset="-122"/>
                <a:cs typeface="Cambria" pitchFamily="34" charset="-120"/>
              </a:rPr>
              <a:t>AFRINOVATECH</a:t>
            </a:r>
            <a:endParaRPr lang="en-US" sz="2050" dirty="0"/>
          </a:p>
        </p:txBody>
      </p:sp>
      <p:sp>
        <p:nvSpPr>
          <p:cNvPr id="23" name="Text 17"/>
          <p:cNvSpPr/>
          <p:nvPr/>
        </p:nvSpPr>
        <p:spPr>
          <a:xfrm>
            <a:off x="9390888" y="3749040"/>
            <a:ext cx="2057400" cy="1828800"/>
          </a:xfrm>
          <a:prstGeom prst="rect">
            <a:avLst/>
          </a:prstGeom>
          <a:noFill/>
          <a:ln/>
        </p:spPr>
        <p:txBody>
          <a:bodyPr wrap="square" lIns="0" tIns="0" rIns="0" bIns="0" rtlCol="0" anchor="ctr"/>
          <a:lstStyle/>
          <a:p>
            <a:pPr marL="0" indent="0">
              <a:lnSpc>
                <a:spcPct val="120000"/>
              </a:lnSpc>
              <a:buNone/>
            </a:pPr>
            <a:r>
              <a:rPr lang="en-US" sz="1600" dirty="0">
                <a:solidFill>
                  <a:srgbClr val="FFFFFF"/>
                </a:solidFill>
                <a:latin typeface="Calibri" pitchFamily="34" charset="0"/>
                <a:ea typeface="Calibri" pitchFamily="34" charset="-122"/>
                <a:cs typeface="Calibri" pitchFamily="34" charset="-120"/>
              </a:rPr>
              <a:t>Combler le fossé entre excellence mondiale et exécution dans les marchés africains.</a:t>
            </a:r>
            <a:endParaRPr lang="en-US" sz="1600" dirty="0"/>
          </a:p>
        </p:txBody>
      </p:sp>
      <p:sp>
        <p:nvSpPr>
          <p:cNvPr id="24" name="Text 18"/>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25" name="Text 19"/>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6</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411480"/>
          </a:xfrm>
          <a:prstGeom prst="rect">
            <a:avLst/>
          </a:prstGeom>
          <a:noFill/>
          <a:ln/>
        </p:spPr>
        <p:txBody>
          <a:bodyPr wrap="square" lIns="0" tIns="0" rIns="0" bIns="0" rtlCol="0" anchor="ctr"/>
          <a:lstStyle/>
          <a:p>
            <a:pPr marL="0" indent="0">
              <a:buNone/>
            </a:pPr>
            <a:r>
              <a:rPr lang="en-US" sz="1900" b="1" kern="0" spc="200" dirty="0">
                <a:solidFill>
                  <a:srgbClr val="8E2DE2"/>
                </a:solidFill>
                <a:latin typeface="Calibri" pitchFamily="34" charset="0"/>
                <a:ea typeface="Calibri" pitchFamily="34" charset="-122"/>
                <a:cs typeface="Calibri" pitchFamily="34" charset="-120"/>
              </a:rPr>
              <a:t>PROGRAMME — 2H00</a:t>
            </a:r>
            <a:endParaRPr lang="en-US" sz="1900" dirty="0"/>
          </a:p>
        </p:txBody>
      </p:sp>
      <p:sp>
        <p:nvSpPr>
          <p:cNvPr id="3" name="Text 1"/>
          <p:cNvSpPr/>
          <p:nvPr/>
        </p:nvSpPr>
        <p:spPr>
          <a:xfrm>
            <a:off x="640080" y="868680"/>
            <a:ext cx="10908792" cy="1188720"/>
          </a:xfrm>
          <a:prstGeom prst="rect">
            <a:avLst/>
          </a:prstGeom>
          <a:noFill/>
          <a:ln/>
        </p:spPr>
        <p:txBody>
          <a:bodyPr wrap="square" lIns="0" tIns="0" rIns="0" bIns="0" rtlCol="0" anchor="t"/>
          <a:lstStyle/>
          <a:p>
            <a:pPr marL="0" indent="0">
              <a:buNone/>
            </a:pPr>
            <a:r>
              <a:rPr lang="en-US" sz="4200" b="1" dirty="0">
                <a:solidFill>
                  <a:srgbClr val="000000"/>
                </a:solidFill>
                <a:latin typeface="Cambria" pitchFamily="34" charset="0"/>
                <a:ea typeface="Cambria" pitchFamily="34" charset="-122"/>
                <a:cs typeface="Cambria" pitchFamily="34" charset="-120"/>
              </a:rPr>
              <a:t>Vue d'ensemble de la session</a:t>
            </a:r>
            <a:endParaRPr lang="en-US" sz="4200" dirty="0"/>
          </a:p>
        </p:txBody>
      </p:sp>
      <p:sp>
        <p:nvSpPr>
          <p:cNvPr id="4" name="Shape 2"/>
          <p:cNvSpPr/>
          <p:nvPr/>
        </p:nvSpPr>
        <p:spPr>
          <a:xfrm>
            <a:off x="640080" y="2032292"/>
            <a:ext cx="5271516" cy="566928"/>
          </a:xfrm>
          <a:prstGeom prst="rect">
            <a:avLst/>
          </a:prstGeom>
          <a:solidFill>
            <a:srgbClr val="FFFFFF"/>
          </a:solidFill>
          <a:ln/>
        </p:spPr>
      </p:sp>
      <p:sp>
        <p:nvSpPr>
          <p:cNvPr id="5" name="Shape 3"/>
          <p:cNvSpPr/>
          <p:nvPr/>
        </p:nvSpPr>
        <p:spPr>
          <a:xfrm>
            <a:off x="768096" y="2132876"/>
            <a:ext cx="365760" cy="365760"/>
          </a:xfrm>
          <a:prstGeom prst="ellipse">
            <a:avLst/>
          </a:prstGeom>
          <a:solidFill>
            <a:srgbClr val="8E2DE2"/>
          </a:solidFill>
          <a:ln/>
        </p:spPr>
      </p:sp>
      <p:sp>
        <p:nvSpPr>
          <p:cNvPr id="6" name="Text 4"/>
          <p:cNvSpPr/>
          <p:nvPr/>
        </p:nvSpPr>
        <p:spPr>
          <a:xfrm>
            <a:off x="768096" y="2132876"/>
            <a:ext cx="365760" cy="365760"/>
          </a:xfrm>
          <a:prstGeom prst="rect">
            <a:avLst/>
          </a:prstGeom>
          <a:noFill/>
          <a:ln/>
        </p:spPr>
        <p:txBody>
          <a:bodyPr wrap="square" lIns="0" tIns="0" rIns="0" bIns="0" rtlCol="0" anchor="ctr"/>
          <a:lstStyle/>
          <a:p>
            <a:pPr marL="0" indent="0" algn="ctr">
              <a:buNone/>
            </a:pPr>
            <a:r>
              <a:rPr lang="en-US" b="1" dirty="0">
                <a:solidFill>
                  <a:srgbClr val="000000"/>
                </a:solidFill>
                <a:latin typeface="Calibri" pitchFamily="34" charset="0"/>
                <a:ea typeface="Calibri" pitchFamily="34" charset="-122"/>
                <a:cs typeface="Calibri" pitchFamily="34" charset="-120"/>
              </a:rPr>
              <a:t>1</a:t>
            </a:r>
            <a:endParaRPr lang="en-US" dirty="0"/>
          </a:p>
        </p:txBody>
      </p:sp>
      <p:sp>
        <p:nvSpPr>
          <p:cNvPr id="7" name="Text 5"/>
          <p:cNvSpPr/>
          <p:nvPr/>
        </p:nvSpPr>
        <p:spPr>
          <a:xfrm>
            <a:off x="1261872" y="2032292"/>
            <a:ext cx="3762756" cy="566928"/>
          </a:xfrm>
          <a:prstGeom prst="rect">
            <a:avLst/>
          </a:prstGeom>
          <a:noFill/>
          <a:ln/>
        </p:spPr>
        <p:txBody>
          <a:bodyPr wrap="square" lIns="0" tIns="0" rIns="0" bIns="0" rtlCol="0" anchor="ctr"/>
          <a:lstStyle/>
          <a:p>
            <a:pPr marL="0" indent="0">
              <a:lnSpc>
                <a:spcPct val="105000"/>
              </a:lnSpc>
              <a:buNone/>
            </a:pPr>
            <a:r>
              <a:rPr lang="en-US" dirty="0">
                <a:solidFill>
                  <a:srgbClr val="1A1A1A"/>
                </a:solidFill>
                <a:latin typeface="Calibri" pitchFamily="34" charset="0"/>
                <a:ea typeface="Calibri" pitchFamily="34" charset="-122"/>
                <a:cs typeface="Calibri" pitchFamily="34" charset="-120"/>
              </a:rPr>
              <a:t>État d'esprit gagnant — Penser comme les jurés</a:t>
            </a:r>
            <a:endParaRPr lang="en-US" dirty="0"/>
          </a:p>
        </p:txBody>
      </p:sp>
      <p:sp>
        <p:nvSpPr>
          <p:cNvPr id="8" name="Text 6"/>
          <p:cNvSpPr/>
          <p:nvPr/>
        </p:nvSpPr>
        <p:spPr>
          <a:xfrm>
            <a:off x="5042916" y="2032292"/>
            <a:ext cx="868680" cy="566928"/>
          </a:xfrm>
          <a:prstGeom prst="rect">
            <a:avLst/>
          </a:prstGeom>
          <a:noFill/>
          <a:ln/>
        </p:spPr>
        <p:txBody>
          <a:bodyPr wrap="square" lIns="0" tIns="0" rIns="0" bIns="0" rtlCol="0" anchor="ctr"/>
          <a:lstStyle/>
          <a:p>
            <a:pPr marL="0" indent="0" algn="r">
              <a:buNone/>
            </a:pPr>
            <a:r>
              <a:rPr lang="en-US" b="1" dirty="0">
                <a:solidFill>
                  <a:srgbClr val="000000"/>
                </a:solidFill>
                <a:latin typeface="Calibri" pitchFamily="34" charset="0"/>
                <a:ea typeface="Calibri" pitchFamily="34" charset="-122"/>
                <a:cs typeface="Calibri" pitchFamily="34" charset="-120"/>
              </a:rPr>
              <a:t>10 min</a:t>
            </a:r>
            <a:endParaRPr lang="en-US" dirty="0"/>
          </a:p>
        </p:txBody>
      </p:sp>
      <p:sp>
        <p:nvSpPr>
          <p:cNvPr id="9" name="Shape 7"/>
          <p:cNvSpPr/>
          <p:nvPr/>
        </p:nvSpPr>
        <p:spPr>
          <a:xfrm>
            <a:off x="640080" y="2834458"/>
            <a:ext cx="5271516" cy="566928"/>
          </a:xfrm>
          <a:prstGeom prst="rect">
            <a:avLst/>
          </a:prstGeom>
          <a:solidFill>
            <a:srgbClr val="EAF5EE"/>
          </a:solidFill>
          <a:ln/>
        </p:spPr>
      </p:sp>
      <p:sp>
        <p:nvSpPr>
          <p:cNvPr id="10" name="Shape 8"/>
          <p:cNvSpPr/>
          <p:nvPr/>
        </p:nvSpPr>
        <p:spPr>
          <a:xfrm>
            <a:off x="768096" y="2935042"/>
            <a:ext cx="365760" cy="365760"/>
          </a:xfrm>
          <a:prstGeom prst="ellipse">
            <a:avLst/>
          </a:prstGeom>
          <a:solidFill>
            <a:srgbClr val="8E2DE2"/>
          </a:solidFill>
          <a:ln/>
        </p:spPr>
      </p:sp>
      <p:sp>
        <p:nvSpPr>
          <p:cNvPr id="11" name="Text 9"/>
          <p:cNvSpPr/>
          <p:nvPr/>
        </p:nvSpPr>
        <p:spPr>
          <a:xfrm>
            <a:off x="768096" y="2935042"/>
            <a:ext cx="365760" cy="365760"/>
          </a:xfrm>
          <a:prstGeom prst="rect">
            <a:avLst/>
          </a:prstGeom>
          <a:noFill/>
          <a:ln/>
        </p:spPr>
        <p:txBody>
          <a:bodyPr wrap="square" lIns="0" tIns="0" rIns="0" bIns="0" rtlCol="0" anchor="ctr"/>
          <a:lstStyle/>
          <a:p>
            <a:pPr marL="0" indent="0" algn="ctr">
              <a:buNone/>
            </a:pPr>
            <a:r>
              <a:rPr lang="en-US" b="1" dirty="0">
                <a:solidFill>
                  <a:srgbClr val="000000"/>
                </a:solidFill>
                <a:latin typeface="Calibri" pitchFamily="34" charset="0"/>
                <a:ea typeface="Calibri" pitchFamily="34" charset="-122"/>
                <a:cs typeface="Calibri" pitchFamily="34" charset="-120"/>
              </a:rPr>
              <a:t>2</a:t>
            </a:r>
            <a:endParaRPr lang="en-US" dirty="0"/>
          </a:p>
        </p:txBody>
      </p:sp>
      <p:sp>
        <p:nvSpPr>
          <p:cNvPr id="12" name="Text 10"/>
          <p:cNvSpPr/>
          <p:nvPr/>
        </p:nvSpPr>
        <p:spPr>
          <a:xfrm>
            <a:off x="1261872" y="2834458"/>
            <a:ext cx="3762756" cy="566928"/>
          </a:xfrm>
          <a:prstGeom prst="rect">
            <a:avLst/>
          </a:prstGeom>
          <a:noFill/>
          <a:ln/>
        </p:spPr>
        <p:txBody>
          <a:bodyPr wrap="square" lIns="0" tIns="0" rIns="0" bIns="0" rtlCol="0" anchor="ctr"/>
          <a:lstStyle/>
          <a:p>
            <a:pPr marL="0" indent="0">
              <a:lnSpc>
                <a:spcPct val="105000"/>
              </a:lnSpc>
              <a:buNone/>
            </a:pPr>
            <a:r>
              <a:rPr lang="en-US" dirty="0">
                <a:solidFill>
                  <a:srgbClr val="1A1A1A"/>
                </a:solidFill>
                <a:latin typeface="Calibri" pitchFamily="34" charset="0"/>
                <a:ea typeface="Calibri" pitchFamily="34" charset="-122"/>
                <a:cs typeface="Calibri" pitchFamily="34" charset="-120"/>
              </a:rPr>
              <a:t>L'anatomie d'un pitch gagnant — 11 slides</a:t>
            </a:r>
            <a:endParaRPr lang="en-US" dirty="0"/>
          </a:p>
        </p:txBody>
      </p:sp>
      <p:sp>
        <p:nvSpPr>
          <p:cNvPr id="13" name="Text 11"/>
          <p:cNvSpPr/>
          <p:nvPr/>
        </p:nvSpPr>
        <p:spPr>
          <a:xfrm>
            <a:off x="5042916" y="2834458"/>
            <a:ext cx="868680" cy="566928"/>
          </a:xfrm>
          <a:prstGeom prst="rect">
            <a:avLst/>
          </a:prstGeom>
          <a:noFill/>
          <a:ln/>
        </p:spPr>
        <p:txBody>
          <a:bodyPr wrap="square" lIns="0" tIns="0" rIns="0" bIns="0" rtlCol="0" anchor="ctr"/>
          <a:lstStyle/>
          <a:p>
            <a:pPr marL="0" indent="0" algn="r">
              <a:buNone/>
            </a:pPr>
            <a:r>
              <a:rPr lang="en-US" b="1" dirty="0">
                <a:solidFill>
                  <a:srgbClr val="000000"/>
                </a:solidFill>
                <a:latin typeface="Calibri" pitchFamily="34" charset="0"/>
                <a:ea typeface="Calibri" pitchFamily="34" charset="-122"/>
                <a:cs typeface="Calibri" pitchFamily="34" charset="-120"/>
              </a:rPr>
              <a:t>15 min</a:t>
            </a:r>
            <a:endParaRPr lang="en-US" dirty="0"/>
          </a:p>
        </p:txBody>
      </p:sp>
      <p:sp>
        <p:nvSpPr>
          <p:cNvPr id="14" name="Shape 12"/>
          <p:cNvSpPr/>
          <p:nvPr/>
        </p:nvSpPr>
        <p:spPr>
          <a:xfrm>
            <a:off x="640080" y="3591799"/>
            <a:ext cx="5271516" cy="566928"/>
          </a:xfrm>
          <a:prstGeom prst="rect">
            <a:avLst/>
          </a:prstGeom>
          <a:solidFill>
            <a:srgbClr val="FFFFFF"/>
          </a:solidFill>
          <a:ln/>
        </p:spPr>
      </p:sp>
      <p:sp>
        <p:nvSpPr>
          <p:cNvPr id="15" name="Shape 13"/>
          <p:cNvSpPr/>
          <p:nvPr/>
        </p:nvSpPr>
        <p:spPr>
          <a:xfrm>
            <a:off x="768096" y="3692383"/>
            <a:ext cx="365760" cy="365760"/>
          </a:xfrm>
          <a:prstGeom prst="ellipse">
            <a:avLst/>
          </a:prstGeom>
          <a:solidFill>
            <a:srgbClr val="8E2DE2"/>
          </a:solidFill>
          <a:ln/>
        </p:spPr>
      </p:sp>
      <p:sp>
        <p:nvSpPr>
          <p:cNvPr id="16" name="Text 14"/>
          <p:cNvSpPr/>
          <p:nvPr/>
        </p:nvSpPr>
        <p:spPr>
          <a:xfrm>
            <a:off x="768096" y="3692383"/>
            <a:ext cx="365760" cy="365760"/>
          </a:xfrm>
          <a:prstGeom prst="rect">
            <a:avLst/>
          </a:prstGeom>
          <a:noFill/>
          <a:ln/>
        </p:spPr>
        <p:txBody>
          <a:bodyPr wrap="square" lIns="0" tIns="0" rIns="0" bIns="0" rtlCol="0" anchor="ctr"/>
          <a:lstStyle/>
          <a:p>
            <a:pPr marL="0" indent="0" algn="ctr">
              <a:buNone/>
            </a:pPr>
            <a:r>
              <a:rPr lang="en-US" b="1" dirty="0">
                <a:solidFill>
                  <a:srgbClr val="000000"/>
                </a:solidFill>
                <a:latin typeface="Calibri" pitchFamily="34" charset="0"/>
                <a:ea typeface="Calibri" pitchFamily="34" charset="-122"/>
                <a:cs typeface="Calibri" pitchFamily="34" charset="-120"/>
              </a:rPr>
              <a:t>3</a:t>
            </a:r>
            <a:endParaRPr lang="en-US" dirty="0"/>
          </a:p>
        </p:txBody>
      </p:sp>
      <p:sp>
        <p:nvSpPr>
          <p:cNvPr id="17" name="Text 15"/>
          <p:cNvSpPr/>
          <p:nvPr/>
        </p:nvSpPr>
        <p:spPr>
          <a:xfrm>
            <a:off x="1261872" y="3591799"/>
            <a:ext cx="3762756" cy="566928"/>
          </a:xfrm>
          <a:prstGeom prst="rect">
            <a:avLst/>
          </a:prstGeom>
          <a:noFill/>
          <a:ln/>
        </p:spPr>
        <p:txBody>
          <a:bodyPr wrap="square" lIns="0" tIns="0" rIns="0" bIns="0" rtlCol="0" anchor="ctr"/>
          <a:lstStyle/>
          <a:p>
            <a:pPr marL="0" indent="0">
              <a:lnSpc>
                <a:spcPct val="105000"/>
              </a:lnSpc>
              <a:buNone/>
            </a:pPr>
            <a:r>
              <a:rPr lang="en-US" dirty="0">
                <a:solidFill>
                  <a:srgbClr val="1A1A1A"/>
                </a:solidFill>
                <a:latin typeface="Calibri" pitchFamily="34" charset="0"/>
                <a:ea typeface="Calibri" pitchFamily="34" charset="-122"/>
                <a:cs typeface="Calibri" pitchFamily="34" charset="-120"/>
              </a:rPr>
              <a:t>Storytelling qui marque les esprits</a:t>
            </a:r>
            <a:endParaRPr lang="en-US" dirty="0"/>
          </a:p>
        </p:txBody>
      </p:sp>
      <p:sp>
        <p:nvSpPr>
          <p:cNvPr id="18" name="Text 16"/>
          <p:cNvSpPr/>
          <p:nvPr/>
        </p:nvSpPr>
        <p:spPr>
          <a:xfrm>
            <a:off x="5042916" y="3591799"/>
            <a:ext cx="868680" cy="566928"/>
          </a:xfrm>
          <a:prstGeom prst="rect">
            <a:avLst/>
          </a:prstGeom>
          <a:noFill/>
          <a:ln/>
        </p:spPr>
        <p:txBody>
          <a:bodyPr wrap="square" lIns="0" tIns="0" rIns="0" bIns="0" rtlCol="0" anchor="ctr"/>
          <a:lstStyle/>
          <a:p>
            <a:pPr marL="0" indent="0" algn="r">
              <a:buNone/>
            </a:pPr>
            <a:r>
              <a:rPr lang="en-US" b="1" dirty="0">
                <a:solidFill>
                  <a:srgbClr val="000000"/>
                </a:solidFill>
                <a:latin typeface="Calibri" pitchFamily="34" charset="0"/>
                <a:ea typeface="Calibri" pitchFamily="34" charset="-122"/>
                <a:cs typeface="Calibri" pitchFamily="34" charset="-120"/>
              </a:rPr>
              <a:t>15 min</a:t>
            </a:r>
            <a:endParaRPr lang="en-US" dirty="0"/>
          </a:p>
        </p:txBody>
      </p:sp>
      <p:sp>
        <p:nvSpPr>
          <p:cNvPr id="19" name="Shape 17"/>
          <p:cNvSpPr/>
          <p:nvPr/>
        </p:nvSpPr>
        <p:spPr>
          <a:xfrm>
            <a:off x="640080" y="4519468"/>
            <a:ext cx="5271516" cy="566928"/>
          </a:xfrm>
          <a:prstGeom prst="rect">
            <a:avLst/>
          </a:prstGeom>
          <a:solidFill>
            <a:srgbClr val="EAF5EE"/>
          </a:solidFill>
          <a:ln/>
        </p:spPr>
      </p:sp>
      <p:sp>
        <p:nvSpPr>
          <p:cNvPr id="20" name="Shape 18"/>
          <p:cNvSpPr/>
          <p:nvPr/>
        </p:nvSpPr>
        <p:spPr>
          <a:xfrm>
            <a:off x="768096" y="4620052"/>
            <a:ext cx="365760" cy="365760"/>
          </a:xfrm>
          <a:prstGeom prst="ellipse">
            <a:avLst/>
          </a:prstGeom>
          <a:solidFill>
            <a:srgbClr val="8E2DE2"/>
          </a:solidFill>
          <a:ln/>
        </p:spPr>
      </p:sp>
      <p:sp>
        <p:nvSpPr>
          <p:cNvPr id="21" name="Text 19"/>
          <p:cNvSpPr/>
          <p:nvPr/>
        </p:nvSpPr>
        <p:spPr>
          <a:xfrm>
            <a:off x="768096" y="4620052"/>
            <a:ext cx="365760" cy="365760"/>
          </a:xfrm>
          <a:prstGeom prst="rect">
            <a:avLst/>
          </a:prstGeom>
          <a:noFill/>
          <a:ln/>
        </p:spPr>
        <p:txBody>
          <a:bodyPr wrap="square" lIns="0" tIns="0" rIns="0" bIns="0" rtlCol="0" anchor="ctr"/>
          <a:lstStyle/>
          <a:p>
            <a:pPr marL="0" indent="0" algn="ctr">
              <a:buNone/>
            </a:pPr>
            <a:r>
              <a:rPr lang="en-US" b="1" dirty="0">
                <a:solidFill>
                  <a:srgbClr val="000000"/>
                </a:solidFill>
                <a:latin typeface="Calibri" pitchFamily="34" charset="0"/>
                <a:ea typeface="Calibri" pitchFamily="34" charset="-122"/>
                <a:cs typeface="Calibri" pitchFamily="34" charset="-120"/>
              </a:rPr>
              <a:t>4</a:t>
            </a:r>
            <a:endParaRPr lang="en-US" dirty="0"/>
          </a:p>
        </p:txBody>
      </p:sp>
      <p:sp>
        <p:nvSpPr>
          <p:cNvPr id="22" name="Text 20"/>
          <p:cNvSpPr/>
          <p:nvPr/>
        </p:nvSpPr>
        <p:spPr>
          <a:xfrm>
            <a:off x="1261872" y="4519468"/>
            <a:ext cx="3762756" cy="566928"/>
          </a:xfrm>
          <a:prstGeom prst="rect">
            <a:avLst/>
          </a:prstGeom>
          <a:noFill/>
          <a:ln/>
        </p:spPr>
        <p:txBody>
          <a:bodyPr wrap="square" lIns="0" tIns="0" rIns="0" bIns="0" rtlCol="0" anchor="ctr"/>
          <a:lstStyle/>
          <a:p>
            <a:pPr marL="0" indent="0">
              <a:lnSpc>
                <a:spcPct val="105000"/>
              </a:lnSpc>
              <a:buNone/>
            </a:pPr>
            <a:r>
              <a:rPr lang="en-US" dirty="0">
                <a:solidFill>
                  <a:srgbClr val="1A1A1A"/>
                </a:solidFill>
                <a:latin typeface="Calibri" pitchFamily="34" charset="0"/>
                <a:ea typeface="Calibri" pitchFamily="34" charset="-122"/>
                <a:cs typeface="Calibri" pitchFamily="34" charset="-120"/>
              </a:rPr>
              <a:t>Prise de parole en public</a:t>
            </a:r>
            <a:endParaRPr lang="en-US" dirty="0"/>
          </a:p>
        </p:txBody>
      </p:sp>
      <p:sp>
        <p:nvSpPr>
          <p:cNvPr id="23" name="Text 21"/>
          <p:cNvSpPr/>
          <p:nvPr/>
        </p:nvSpPr>
        <p:spPr>
          <a:xfrm>
            <a:off x="5042916" y="4519468"/>
            <a:ext cx="868680" cy="566928"/>
          </a:xfrm>
          <a:prstGeom prst="rect">
            <a:avLst/>
          </a:prstGeom>
          <a:noFill/>
          <a:ln/>
        </p:spPr>
        <p:txBody>
          <a:bodyPr wrap="square" lIns="0" tIns="0" rIns="0" bIns="0" rtlCol="0" anchor="ctr"/>
          <a:lstStyle/>
          <a:p>
            <a:pPr marL="0" indent="0" algn="r">
              <a:buNone/>
            </a:pPr>
            <a:r>
              <a:rPr lang="en-US" b="1" dirty="0">
                <a:solidFill>
                  <a:srgbClr val="000000"/>
                </a:solidFill>
                <a:latin typeface="Calibri" pitchFamily="34" charset="0"/>
                <a:ea typeface="Calibri" pitchFamily="34" charset="-122"/>
                <a:cs typeface="Calibri" pitchFamily="34" charset="-120"/>
              </a:rPr>
              <a:t>10 min</a:t>
            </a:r>
            <a:endParaRPr lang="en-US" dirty="0"/>
          </a:p>
        </p:txBody>
      </p:sp>
      <p:sp>
        <p:nvSpPr>
          <p:cNvPr id="29" name="Shape 27"/>
          <p:cNvSpPr/>
          <p:nvPr/>
        </p:nvSpPr>
        <p:spPr>
          <a:xfrm>
            <a:off x="640080" y="5352829"/>
            <a:ext cx="5271516" cy="566928"/>
          </a:xfrm>
          <a:prstGeom prst="rect">
            <a:avLst/>
          </a:prstGeom>
          <a:solidFill>
            <a:srgbClr val="FFFFFF"/>
          </a:solidFill>
          <a:ln/>
        </p:spPr>
      </p:sp>
      <p:sp>
        <p:nvSpPr>
          <p:cNvPr id="30" name="Shape 28"/>
          <p:cNvSpPr/>
          <p:nvPr/>
        </p:nvSpPr>
        <p:spPr>
          <a:xfrm>
            <a:off x="768096" y="5453413"/>
            <a:ext cx="365760" cy="365760"/>
          </a:xfrm>
          <a:prstGeom prst="ellipse">
            <a:avLst/>
          </a:prstGeom>
          <a:solidFill>
            <a:srgbClr val="8E2DE2"/>
          </a:solidFill>
          <a:ln/>
        </p:spPr>
      </p:sp>
      <p:sp>
        <p:nvSpPr>
          <p:cNvPr id="31" name="Text 29"/>
          <p:cNvSpPr/>
          <p:nvPr/>
        </p:nvSpPr>
        <p:spPr>
          <a:xfrm>
            <a:off x="768096" y="5453413"/>
            <a:ext cx="365760" cy="365760"/>
          </a:xfrm>
          <a:prstGeom prst="rect">
            <a:avLst/>
          </a:prstGeom>
          <a:noFill/>
          <a:ln/>
        </p:spPr>
        <p:txBody>
          <a:bodyPr wrap="square" lIns="0" tIns="0" rIns="0" bIns="0" rtlCol="0" anchor="ctr"/>
          <a:lstStyle/>
          <a:p>
            <a:pPr marL="0" indent="0" algn="ctr">
              <a:buNone/>
            </a:pPr>
            <a:r>
              <a:rPr lang="en-US" b="1" dirty="0">
                <a:solidFill>
                  <a:srgbClr val="000000"/>
                </a:solidFill>
                <a:latin typeface="Calibri" pitchFamily="34" charset="0"/>
                <a:ea typeface="Calibri" pitchFamily="34" charset="-122"/>
                <a:cs typeface="Calibri" pitchFamily="34" charset="-120"/>
              </a:rPr>
              <a:t>5</a:t>
            </a:r>
            <a:endParaRPr lang="en-US" dirty="0"/>
          </a:p>
        </p:txBody>
      </p:sp>
      <p:sp>
        <p:nvSpPr>
          <p:cNvPr id="32" name="Text 30"/>
          <p:cNvSpPr/>
          <p:nvPr/>
        </p:nvSpPr>
        <p:spPr>
          <a:xfrm>
            <a:off x="1261872" y="5352829"/>
            <a:ext cx="3762756" cy="566928"/>
          </a:xfrm>
          <a:prstGeom prst="rect">
            <a:avLst/>
          </a:prstGeom>
          <a:noFill/>
          <a:ln/>
        </p:spPr>
        <p:txBody>
          <a:bodyPr wrap="square" lIns="0" tIns="0" rIns="0" bIns="0" rtlCol="0" anchor="ctr"/>
          <a:lstStyle/>
          <a:p>
            <a:pPr marL="0" indent="0">
              <a:lnSpc>
                <a:spcPct val="105000"/>
              </a:lnSpc>
              <a:buNone/>
            </a:pPr>
            <a:r>
              <a:rPr lang="en-US" dirty="0">
                <a:solidFill>
                  <a:srgbClr val="1A1A1A"/>
                </a:solidFill>
                <a:latin typeface="Calibri" pitchFamily="34" charset="0"/>
                <a:ea typeface="Calibri" pitchFamily="34" charset="-122"/>
                <a:cs typeface="Calibri" pitchFamily="34" charset="-120"/>
              </a:rPr>
              <a:t>Combler le Fossé de l'Exécution Africaine</a:t>
            </a:r>
            <a:endParaRPr lang="en-US" dirty="0"/>
          </a:p>
        </p:txBody>
      </p:sp>
      <p:sp>
        <p:nvSpPr>
          <p:cNvPr id="33" name="Text 31"/>
          <p:cNvSpPr/>
          <p:nvPr/>
        </p:nvSpPr>
        <p:spPr>
          <a:xfrm>
            <a:off x="5042916" y="5352829"/>
            <a:ext cx="868680" cy="566928"/>
          </a:xfrm>
          <a:prstGeom prst="rect">
            <a:avLst/>
          </a:prstGeom>
          <a:noFill/>
          <a:ln/>
        </p:spPr>
        <p:txBody>
          <a:bodyPr wrap="square" lIns="0" tIns="0" rIns="0" bIns="0" rtlCol="0" anchor="ctr"/>
          <a:lstStyle/>
          <a:p>
            <a:pPr marL="0" indent="0" algn="r">
              <a:buNone/>
            </a:pPr>
            <a:r>
              <a:rPr lang="en-US" b="1" dirty="0">
                <a:solidFill>
                  <a:srgbClr val="000000"/>
                </a:solidFill>
                <a:latin typeface="Calibri" pitchFamily="34" charset="0"/>
                <a:ea typeface="Calibri" pitchFamily="34" charset="-122"/>
                <a:cs typeface="Calibri" pitchFamily="34" charset="-120"/>
              </a:rPr>
              <a:t>15 min</a:t>
            </a:r>
            <a:endParaRPr lang="en-US" dirty="0"/>
          </a:p>
        </p:txBody>
      </p:sp>
      <p:sp>
        <p:nvSpPr>
          <p:cNvPr id="34" name="Shape 32"/>
          <p:cNvSpPr/>
          <p:nvPr/>
        </p:nvSpPr>
        <p:spPr>
          <a:xfrm>
            <a:off x="6277356" y="2032292"/>
            <a:ext cx="5271516" cy="566928"/>
          </a:xfrm>
          <a:prstGeom prst="rect">
            <a:avLst/>
          </a:prstGeom>
          <a:solidFill>
            <a:srgbClr val="EAF5EE"/>
          </a:solidFill>
          <a:ln/>
        </p:spPr>
      </p:sp>
      <p:sp>
        <p:nvSpPr>
          <p:cNvPr id="35" name="Shape 33"/>
          <p:cNvSpPr/>
          <p:nvPr/>
        </p:nvSpPr>
        <p:spPr>
          <a:xfrm>
            <a:off x="6405372" y="2132876"/>
            <a:ext cx="365760" cy="365760"/>
          </a:xfrm>
          <a:prstGeom prst="ellipse">
            <a:avLst/>
          </a:prstGeom>
          <a:solidFill>
            <a:srgbClr val="8E2DE2"/>
          </a:solidFill>
          <a:ln/>
        </p:spPr>
      </p:sp>
      <p:sp>
        <p:nvSpPr>
          <p:cNvPr id="36" name="Text 34"/>
          <p:cNvSpPr/>
          <p:nvPr/>
        </p:nvSpPr>
        <p:spPr>
          <a:xfrm>
            <a:off x="6405372" y="2132876"/>
            <a:ext cx="365760" cy="365760"/>
          </a:xfrm>
          <a:prstGeom prst="rect">
            <a:avLst/>
          </a:prstGeom>
          <a:noFill/>
          <a:ln/>
        </p:spPr>
        <p:txBody>
          <a:bodyPr wrap="square" lIns="0" tIns="0" rIns="0" bIns="0" rtlCol="0" anchor="ctr"/>
          <a:lstStyle/>
          <a:p>
            <a:pPr marL="0" indent="0" algn="ctr">
              <a:buNone/>
            </a:pPr>
            <a:r>
              <a:rPr lang="en-US" b="1" dirty="0">
                <a:solidFill>
                  <a:srgbClr val="000000"/>
                </a:solidFill>
                <a:latin typeface="Calibri" pitchFamily="34" charset="0"/>
                <a:ea typeface="Calibri" pitchFamily="34" charset="-122"/>
                <a:cs typeface="Calibri" pitchFamily="34" charset="-120"/>
              </a:rPr>
              <a:t>6</a:t>
            </a:r>
            <a:endParaRPr lang="en-US" dirty="0"/>
          </a:p>
        </p:txBody>
      </p:sp>
      <p:sp>
        <p:nvSpPr>
          <p:cNvPr id="37" name="Text 35"/>
          <p:cNvSpPr/>
          <p:nvPr/>
        </p:nvSpPr>
        <p:spPr>
          <a:xfrm>
            <a:off x="6899148" y="2032292"/>
            <a:ext cx="3762756" cy="566928"/>
          </a:xfrm>
          <a:prstGeom prst="rect">
            <a:avLst/>
          </a:prstGeom>
          <a:noFill/>
          <a:ln/>
        </p:spPr>
        <p:txBody>
          <a:bodyPr wrap="square" lIns="0" tIns="0" rIns="0" bIns="0" rtlCol="0" anchor="ctr"/>
          <a:lstStyle/>
          <a:p>
            <a:pPr marL="0" indent="0">
              <a:lnSpc>
                <a:spcPct val="105000"/>
              </a:lnSpc>
              <a:buNone/>
            </a:pPr>
            <a:r>
              <a:rPr lang="en-US" dirty="0">
                <a:solidFill>
                  <a:srgbClr val="1A1A1A"/>
                </a:solidFill>
                <a:latin typeface="Calibri" pitchFamily="34" charset="0"/>
                <a:ea typeface="Calibri" pitchFamily="34" charset="-122"/>
                <a:cs typeface="Calibri" pitchFamily="34" charset="-120"/>
              </a:rPr>
              <a:t>Gérer les questions du jury sous pression</a:t>
            </a:r>
            <a:endParaRPr lang="en-US" dirty="0"/>
          </a:p>
        </p:txBody>
      </p:sp>
      <p:sp>
        <p:nvSpPr>
          <p:cNvPr id="38" name="Text 36"/>
          <p:cNvSpPr/>
          <p:nvPr/>
        </p:nvSpPr>
        <p:spPr>
          <a:xfrm>
            <a:off x="10680192" y="2032292"/>
            <a:ext cx="868680" cy="566928"/>
          </a:xfrm>
          <a:prstGeom prst="rect">
            <a:avLst/>
          </a:prstGeom>
          <a:noFill/>
          <a:ln/>
        </p:spPr>
        <p:txBody>
          <a:bodyPr wrap="square" lIns="0" tIns="0" rIns="0" bIns="0" rtlCol="0" anchor="ctr"/>
          <a:lstStyle/>
          <a:p>
            <a:pPr marL="0" indent="0" algn="r">
              <a:buNone/>
            </a:pPr>
            <a:r>
              <a:rPr lang="en-US" b="1" dirty="0">
                <a:solidFill>
                  <a:srgbClr val="000000"/>
                </a:solidFill>
                <a:latin typeface="Calibri" pitchFamily="34" charset="0"/>
                <a:ea typeface="Calibri" pitchFamily="34" charset="-122"/>
                <a:cs typeface="Calibri" pitchFamily="34" charset="-120"/>
              </a:rPr>
              <a:t>10 min</a:t>
            </a:r>
            <a:endParaRPr lang="en-US" dirty="0"/>
          </a:p>
        </p:txBody>
      </p:sp>
      <p:sp>
        <p:nvSpPr>
          <p:cNvPr id="39" name="Shape 37"/>
          <p:cNvSpPr/>
          <p:nvPr/>
        </p:nvSpPr>
        <p:spPr>
          <a:xfrm>
            <a:off x="6277356" y="2834458"/>
            <a:ext cx="5271516" cy="566928"/>
          </a:xfrm>
          <a:prstGeom prst="rect">
            <a:avLst/>
          </a:prstGeom>
          <a:solidFill>
            <a:srgbClr val="FFFFFF"/>
          </a:solidFill>
          <a:ln/>
        </p:spPr>
      </p:sp>
      <p:sp>
        <p:nvSpPr>
          <p:cNvPr id="40" name="Shape 38"/>
          <p:cNvSpPr/>
          <p:nvPr/>
        </p:nvSpPr>
        <p:spPr>
          <a:xfrm>
            <a:off x="6405372" y="2935042"/>
            <a:ext cx="365760" cy="365760"/>
          </a:xfrm>
          <a:prstGeom prst="ellipse">
            <a:avLst/>
          </a:prstGeom>
          <a:solidFill>
            <a:srgbClr val="8E2DE2"/>
          </a:solidFill>
          <a:ln/>
        </p:spPr>
      </p:sp>
      <p:sp>
        <p:nvSpPr>
          <p:cNvPr id="41" name="Text 39"/>
          <p:cNvSpPr/>
          <p:nvPr/>
        </p:nvSpPr>
        <p:spPr>
          <a:xfrm>
            <a:off x="6405372" y="2935042"/>
            <a:ext cx="365760" cy="365760"/>
          </a:xfrm>
          <a:prstGeom prst="rect">
            <a:avLst/>
          </a:prstGeom>
          <a:noFill/>
          <a:ln/>
        </p:spPr>
        <p:txBody>
          <a:bodyPr wrap="square" lIns="0" tIns="0" rIns="0" bIns="0" rtlCol="0" anchor="ctr"/>
          <a:lstStyle/>
          <a:p>
            <a:pPr marL="0" indent="0" algn="ctr">
              <a:buNone/>
            </a:pPr>
            <a:r>
              <a:rPr lang="en-US" b="1" dirty="0">
                <a:solidFill>
                  <a:srgbClr val="000000"/>
                </a:solidFill>
                <a:latin typeface="Calibri" pitchFamily="34" charset="0"/>
                <a:ea typeface="Calibri" pitchFamily="34" charset="-122"/>
                <a:cs typeface="Calibri" pitchFamily="34" charset="-120"/>
              </a:rPr>
              <a:t>7</a:t>
            </a:r>
            <a:endParaRPr lang="en-US" dirty="0"/>
          </a:p>
        </p:txBody>
      </p:sp>
      <p:sp>
        <p:nvSpPr>
          <p:cNvPr id="42" name="Text 40"/>
          <p:cNvSpPr/>
          <p:nvPr/>
        </p:nvSpPr>
        <p:spPr>
          <a:xfrm>
            <a:off x="6899148" y="2834458"/>
            <a:ext cx="3762756" cy="566928"/>
          </a:xfrm>
          <a:prstGeom prst="rect">
            <a:avLst/>
          </a:prstGeom>
          <a:noFill/>
          <a:ln/>
        </p:spPr>
        <p:txBody>
          <a:bodyPr wrap="square" lIns="0" tIns="0" rIns="0" bIns="0" rtlCol="0" anchor="ctr"/>
          <a:lstStyle/>
          <a:p>
            <a:pPr marL="0" indent="0">
              <a:lnSpc>
                <a:spcPct val="105000"/>
              </a:lnSpc>
              <a:buNone/>
            </a:pPr>
            <a:r>
              <a:rPr lang="en-US" dirty="0">
                <a:solidFill>
                  <a:srgbClr val="1A1A1A"/>
                </a:solidFill>
                <a:latin typeface="Calibri" pitchFamily="34" charset="0"/>
                <a:ea typeface="Calibri" pitchFamily="34" charset="-122"/>
                <a:cs typeface="Calibri" pitchFamily="34" charset="-120"/>
              </a:rPr>
              <a:t>Les erreurs qui font perdre une compétition</a:t>
            </a:r>
            <a:endParaRPr lang="en-US" dirty="0"/>
          </a:p>
        </p:txBody>
      </p:sp>
      <p:sp>
        <p:nvSpPr>
          <p:cNvPr id="43" name="Text 41"/>
          <p:cNvSpPr/>
          <p:nvPr/>
        </p:nvSpPr>
        <p:spPr>
          <a:xfrm>
            <a:off x="10680192" y="2834458"/>
            <a:ext cx="868680" cy="566928"/>
          </a:xfrm>
          <a:prstGeom prst="rect">
            <a:avLst/>
          </a:prstGeom>
          <a:noFill/>
          <a:ln/>
        </p:spPr>
        <p:txBody>
          <a:bodyPr wrap="square" lIns="0" tIns="0" rIns="0" bIns="0" rtlCol="0" anchor="ctr"/>
          <a:lstStyle/>
          <a:p>
            <a:pPr marL="0" indent="0" algn="r">
              <a:buNone/>
            </a:pPr>
            <a:r>
              <a:rPr lang="en-US" b="1" dirty="0">
                <a:solidFill>
                  <a:srgbClr val="000000"/>
                </a:solidFill>
                <a:latin typeface="Calibri" pitchFamily="34" charset="0"/>
                <a:ea typeface="Calibri" pitchFamily="34" charset="-122"/>
                <a:cs typeface="Calibri" pitchFamily="34" charset="-120"/>
              </a:rPr>
              <a:t>10 min</a:t>
            </a:r>
            <a:endParaRPr lang="en-US" dirty="0"/>
          </a:p>
        </p:txBody>
      </p:sp>
      <p:sp>
        <p:nvSpPr>
          <p:cNvPr id="44" name="Shape 42"/>
          <p:cNvSpPr/>
          <p:nvPr/>
        </p:nvSpPr>
        <p:spPr>
          <a:xfrm>
            <a:off x="6277356" y="3591799"/>
            <a:ext cx="5271516" cy="566928"/>
          </a:xfrm>
          <a:prstGeom prst="rect">
            <a:avLst/>
          </a:prstGeom>
          <a:solidFill>
            <a:srgbClr val="EAF5EE"/>
          </a:solidFill>
          <a:ln/>
        </p:spPr>
      </p:sp>
      <p:sp>
        <p:nvSpPr>
          <p:cNvPr id="45" name="Shape 43"/>
          <p:cNvSpPr/>
          <p:nvPr/>
        </p:nvSpPr>
        <p:spPr>
          <a:xfrm>
            <a:off x="6405372" y="3692383"/>
            <a:ext cx="365760" cy="365760"/>
          </a:xfrm>
          <a:prstGeom prst="ellipse">
            <a:avLst/>
          </a:prstGeom>
          <a:solidFill>
            <a:srgbClr val="8E2DE2"/>
          </a:solidFill>
          <a:ln/>
        </p:spPr>
      </p:sp>
      <p:sp>
        <p:nvSpPr>
          <p:cNvPr id="46" name="Text 44"/>
          <p:cNvSpPr/>
          <p:nvPr/>
        </p:nvSpPr>
        <p:spPr>
          <a:xfrm>
            <a:off x="6405372" y="3692383"/>
            <a:ext cx="365760" cy="365760"/>
          </a:xfrm>
          <a:prstGeom prst="rect">
            <a:avLst/>
          </a:prstGeom>
          <a:noFill/>
          <a:ln/>
        </p:spPr>
        <p:txBody>
          <a:bodyPr wrap="square" lIns="0" tIns="0" rIns="0" bIns="0" rtlCol="0" anchor="ctr"/>
          <a:lstStyle/>
          <a:p>
            <a:pPr marL="0" indent="0" algn="ctr">
              <a:buNone/>
            </a:pPr>
            <a:r>
              <a:rPr lang="en-US" b="1" dirty="0">
                <a:solidFill>
                  <a:srgbClr val="000000"/>
                </a:solidFill>
                <a:latin typeface="Calibri" pitchFamily="34" charset="0"/>
                <a:ea typeface="Calibri" pitchFamily="34" charset="-122"/>
                <a:cs typeface="Calibri" pitchFamily="34" charset="-120"/>
              </a:rPr>
              <a:t>8</a:t>
            </a:r>
            <a:endParaRPr lang="en-US" dirty="0"/>
          </a:p>
        </p:txBody>
      </p:sp>
      <p:sp>
        <p:nvSpPr>
          <p:cNvPr id="47" name="Text 45"/>
          <p:cNvSpPr/>
          <p:nvPr/>
        </p:nvSpPr>
        <p:spPr>
          <a:xfrm>
            <a:off x="6899148" y="3591799"/>
            <a:ext cx="3762756" cy="566928"/>
          </a:xfrm>
          <a:prstGeom prst="rect">
            <a:avLst/>
          </a:prstGeom>
          <a:noFill/>
          <a:ln/>
        </p:spPr>
        <p:txBody>
          <a:bodyPr wrap="square" lIns="0" tIns="0" rIns="0" bIns="0" rtlCol="0" anchor="ctr"/>
          <a:lstStyle/>
          <a:p>
            <a:pPr marL="0" indent="0">
              <a:lnSpc>
                <a:spcPct val="105000"/>
              </a:lnSpc>
              <a:buNone/>
            </a:pPr>
            <a:r>
              <a:rPr lang="en-US" dirty="0">
                <a:solidFill>
                  <a:srgbClr val="1A1A1A"/>
                </a:solidFill>
                <a:latin typeface="Calibri" pitchFamily="34" charset="0"/>
                <a:ea typeface="Calibri" pitchFamily="34" charset="-122"/>
                <a:cs typeface="Calibri" pitchFamily="34" charset="-120"/>
              </a:rPr>
              <a:t>Démonstration live — bon vs mauvais pitch</a:t>
            </a:r>
            <a:endParaRPr lang="en-US" dirty="0"/>
          </a:p>
        </p:txBody>
      </p:sp>
      <p:sp>
        <p:nvSpPr>
          <p:cNvPr id="48" name="Text 46"/>
          <p:cNvSpPr/>
          <p:nvPr/>
        </p:nvSpPr>
        <p:spPr>
          <a:xfrm>
            <a:off x="10680192" y="3591799"/>
            <a:ext cx="868680" cy="566928"/>
          </a:xfrm>
          <a:prstGeom prst="rect">
            <a:avLst/>
          </a:prstGeom>
          <a:noFill/>
          <a:ln/>
        </p:spPr>
        <p:txBody>
          <a:bodyPr wrap="square" lIns="0" tIns="0" rIns="0" bIns="0" rtlCol="0" anchor="ctr"/>
          <a:lstStyle/>
          <a:p>
            <a:pPr marL="0" indent="0" algn="r">
              <a:buNone/>
            </a:pPr>
            <a:r>
              <a:rPr lang="en-US" b="1" dirty="0">
                <a:solidFill>
                  <a:srgbClr val="000000"/>
                </a:solidFill>
                <a:latin typeface="Calibri" pitchFamily="34" charset="0"/>
                <a:ea typeface="Calibri" pitchFamily="34" charset="-122"/>
                <a:cs typeface="Calibri" pitchFamily="34" charset="-120"/>
              </a:rPr>
              <a:t>10 min</a:t>
            </a:r>
            <a:endParaRPr lang="en-US" dirty="0"/>
          </a:p>
        </p:txBody>
      </p:sp>
      <p:sp>
        <p:nvSpPr>
          <p:cNvPr id="54" name="Shape 52"/>
          <p:cNvSpPr/>
          <p:nvPr/>
        </p:nvSpPr>
        <p:spPr>
          <a:xfrm>
            <a:off x="6277356" y="4577561"/>
            <a:ext cx="5271516" cy="566928"/>
          </a:xfrm>
          <a:prstGeom prst="rect">
            <a:avLst/>
          </a:prstGeom>
          <a:solidFill>
            <a:srgbClr val="FFFFFF"/>
          </a:solidFill>
          <a:ln/>
        </p:spPr>
      </p:sp>
      <p:sp>
        <p:nvSpPr>
          <p:cNvPr id="55" name="Shape 53"/>
          <p:cNvSpPr/>
          <p:nvPr/>
        </p:nvSpPr>
        <p:spPr>
          <a:xfrm>
            <a:off x="6405372" y="4678145"/>
            <a:ext cx="365760" cy="365760"/>
          </a:xfrm>
          <a:prstGeom prst="ellipse">
            <a:avLst/>
          </a:prstGeom>
          <a:solidFill>
            <a:srgbClr val="8E2DE2"/>
          </a:solidFill>
          <a:ln/>
        </p:spPr>
      </p:sp>
      <p:sp>
        <p:nvSpPr>
          <p:cNvPr id="56" name="Text 54"/>
          <p:cNvSpPr/>
          <p:nvPr/>
        </p:nvSpPr>
        <p:spPr>
          <a:xfrm>
            <a:off x="6405372" y="4678145"/>
            <a:ext cx="365760" cy="365760"/>
          </a:xfrm>
          <a:prstGeom prst="rect">
            <a:avLst/>
          </a:prstGeom>
          <a:noFill/>
          <a:ln/>
        </p:spPr>
        <p:txBody>
          <a:bodyPr wrap="square" lIns="0" tIns="0" rIns="0" bIns="0" rtlCol="0" anchor="ctr"/>
          <a:lstStyle/>
          <a:p>
            <a:pPr marL="0" indent="0" algn="ctr">
              <a:buNone/>
            </a:pPr>
            <a:r>
              <a:rPr lang="en-US" b="1" dirty="0">
                <a:solidFill>
                  <a:srgbClr val="000000"/>
                </a:solidFill>
                <a:latin typeface="Calibri" pitchFamily="34" charset="0"/>
                <a:ea typeface="Calibri" pitchFamily="34" charset="-122"/>
                <a:cs typeface="Calibri" pitchFamily="34" charset="-120"/>
              </a:rPr>
              <a:t>9</a:t>
            </a:r>
            <a:endParaRPr lang="en-US" dirty="0"/>
          </a:p>
        </p:txBody>
      </p:sp>
      <p:sp>
        <p:nvSpPr>
          <p:cNvPr id="57" name="Text 55"/>
          <p:cNvSpPr/>
          <p:nvPr/>
        </p:nvSpPr>
        <p:spPr>
          <a:xfrm>
            <a:off x="6899148" y="4577561"/>
            <a:ext cx="3762756" cy="566928"/>
          </a:xfrm>
          <a:prstGeom prst="rect">
            <a:avLst/>
          </a:prstGeom>
          <a:noFill/>
          <a:ln/>
        </p:spPr>
        <p:txBody>
          <a:bodyPr wrap="square" lIns="0" tIns="0" rIns="0" bIns="0" rtlCol="0" anchor="ctr"/>
          <a:lstStyle/>
          <a:p>
            <a:pPr marL="0" indent="0">
              <a:lnSpc>
                <a:spcPct val="105000"/>
              </a:lnSpc>
              <a:buNone/>
            </a:pPr>
            <a:r>
              <a:rPr lang="en-US" dirty="0">
                <a:solidFill>
                  <a:srgbClr val="1A1A1A"/>
                </a:solidFill>
                <a:latin typeface="Calibri" pitchFamily="34" charset="0"/>
                <a:ea typeface="Calibri" pitchFamily="34" charset="-122"/>
                <a:cs typeface="Calibri" pitchFamily="34" charset="-120"/>
              </a:rPr>
              <a:t>Pratique en équipe et coaching intensif</a:t>
            </a:r>
            <a:endParaRPr lang="en-US" dirty="0"/>
          </a:p>
        </p:txBody>
      </p:sp>
      <p:sp>
        <p:nvSpPr>
          <p:cNvPr id="58" name="Text 56"/>
          <p:cNvSpPr/>
          <p:nvPr/>
        </p:nvSpPr>
        <p:spPr>
          <a:xfrm>
            <a:off x="10680192" y="4577561"/>
            <a:ext cx="868680" cy="566928"/>
          </a:xfrm>
          <a:prstGeom prst="rect">
            <a:avLst/>
          </a:prstGeom>
          <a:noFill/>
          <a:ln/>
        </p:spPr>
        <p:txBody>
          <a:bodyPr wrap="square" lIns="0" tIns="0" rIns="0" bIns="0" rtlCol="0" anchor="ctr"/>
          <a:lstStyle/>
          <a:p>
            <a:pPr marL="0" indent="0" algn="r">
              <a:buNone/>
            </a:pPr>
            <a:r>
              <a:rPr lang="en-US" b="1" dirty="0">
                <a:solidFill>
                  <a:srgbClr val="000000"/>
                </a:solidFill>
                <a:latin typeface="Calibri" pitchFamily="34" charset="0"/>
                <a:ea typeface="Calibri" pitchFamily="34" charset="-122"/>
                <a:cs typeface="Calibri" pitchFamily="34" charset="-120"/>
              </a:rPr>
              <a:t>30 min</a:t>
            </a:r>
            <a:endParaRPr lang="en-US" dirty="0"/>
          </a:p>
        </p:txBody>
      </p:sp>
      <p:sp>
        <p:nvSpPr>
          <p:cNvPr id="59" name="Shape 57"/>
          <p:cNvSpPr/>
          <p:nvPr/>
        </p:nvSpPr>
        <p:spPr>
          <a:xfrm>
            <a:off x="6277356" y="5352829"/>
            <a:ext cx="5271516" cy="566928"/>
          </a:xfrm>
          <a:prstGeom prst="rect">
            <a:avLst/>
          </a:prstGeom>
          <a:solidFill>
            <a:srgbClr val="EAF5EE"/>
          </a:solidFill>
          <a:ln/>
        </p:spPr>
      </p:sp>
      <p:sp>
        <p:nvSpPr>
          <p:cNvPr id="60" name="Shape 58"/>
          <p:cNvSpPr/>
          <p:nvPr/>
        </p:nvSpPr>
        <p:spPr>
          <a:xfrm>
            <a:off x="6405372" y="5453413"/>
            <a:ext cx="365760" cy="365760"/>
          </a:xfrm>
          <a:prstGeom prst="ellipse">
            <a:avLst/>
          </a:prstGeom>
          <a:solidFill>
            <a:srgbClr val="8E2DE2"/>
          </a:solidFill>
          <a:ln/>
        </p:spPr>
      </p:sp>
      <p:sp>
        <p:nvSpPr>
          <p:cNvPr id="61" name="Text 59"/>
          <p:cNvSpPr/>
          <p:nvPr/>
        </p:nvSpPr>
        <p:spPr>
          <a:xfrm>
            <a:off x="6405372" y="5453413"/>
            <a:ext cx="365760" cy="365760"/>
          </a:xfrm>
          <a:prstGeom prst="rect">
            <a:avLst/>
          </a:prstGeom>
          <a:noFill/>
          <a:ln/>
        </p:spPr>
        <p:txBody>
          <a:bodyPr wrap="square" lIns="0" tIns="0" rIns="0" bIns="0" rtlCol="0" anchor="ctr"/>
          <a:lstStyle/>
          <a:p>
            <a:pPr marL="0" indent="0" algn="ctr">
              <a:buNone/>
            </a:pPr>
            <a:r>
              <a:rPr lang="en-US" b="1" dirty="0">
                <a:solidFill>
                  <a:srgbClr val="000000"/>
                </a:solidFill>
                <a:latin typeface="Calibri" pitchFamily="34" charset="0"/>
                <a:ea typeface="Calibri" pitchFamily="34" charset="-122"/>
                <a:cs typeface="Calibri" pitchFamily="34" charset="-120"/>
              </a:rPr>
              <a:t>10</a:t>
            </a:r>
            <a:endParaRPr lang="en-US" dirty="0"/>
          </a:p>
        </p:txBody>
      </p:sp>
      <p:sp>
        <p:nvSpPr>
          <p:cNvPr id="62" name="Text 60"/>
          <p:cNvSpPr/>
          <p:nvPr/>
        </p:nvSpPr>
        <p:spPr>
          <a:xfrm>
            <a:off x="6899148" y="5352829"/>
            <a:ext cx="3762756" cy="566928"/>
          </a:xfrm>
          <a:prstGeom prst="rect">
            <a:avLst/>
          </a:prstGeom>
          <a:noFill/>
          <a:ln/>
        </p:spPr>
        <p:txBody>
          <a:bodyPr wrap="square" lIns="0" tIns="0" rIns="0" bIns="0" rtlCol="0" anchor="ctr"/>
          <a:lstStyle/>
          <a:p>
            <a:pPr marL="0" indent="0">
              <a:lnSpc>
                <a:spcPct val="105000"/>
              </a:lnSpc>
              <a:buNone/>
            </a:pPr>
            <a:r>
              <a:rPr lang="en-US" dirty="0">
                <a:solidFill>
                  <a:srgbClr val="1A1A1A"/>
                </a:solidFill>
                <a:latin typeface="Calibri" pitchFamily="34" charset="0"/>
                <a:ea typeface="Calibri" pitchFamily="34" charset="-122"/>
                <a:cs typeface="Calibri" pitchFamily="34" charset="-120"/>
              </a:rPr>
              <a:t>Défi final et clôture inspirante</a:t>
            </a:r>
            <a:endParaRPr lang="en-US" dirty="0"/>
          </a:p>
        </p:txBody>
      </p:sp>
      <p:sp>
        <p:nvSpPr>
          <p:cNvPr id="63" name="Text 61"/>
          <p:cNvSpPr/>
          <p:nvPr/>
        </p:nvSpPr>
        <p:spPr>
          <a:xfrm>
            <a:off x="10680192" y="5352829"/>
            <a:ext cx="868680" cy="566928"/>
          </a:xfrm>
          <a:prstGeom prst="rect">
            <a:avLst/>
          </a:prstGeom>
          <a:noFill/>
          <a:ln/>
        </p:spPr>
        <p:txBody>
          <a:bodyPr wrap="square" lIns="0" tIns="0" rIns="0" bIns="0" rtlCol="0" anchor="ctr"/>
          <a:lstStyle/>
          <a:p>
            <a:pPr marL="0" indent="0" algn="r">
              <a:buNone/>
            </a:pPr>
            <a:r>
              <a:rPr lang="en-US" b="1" dirty="0">
                <a:solidFill>
                  <a:srgbClr val="000000"/>
                </a:solidFill>
                <a:latin typeface="Calibri" pitchFamily="34" charset="0"/>
                <a:ea typeface="Calibri" pitchFamily="34" charset="-122"/>
                <a:cs typeface="Calibri" pitchFamily="34" charset="-120"/>
              </a:rPr>
              <a:t>5 min</a:t>
            </a:r>
            <a:endParaRPr lang="en-US" dirty="0"/>
          </a:p>
        </p:txBody>
      </p:sp>
      <p:sp>
        <p:nvSpPr>
          <p:cNvPr id="64" name="Text 62"/>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65" name="Text 63"/>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7</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9601200" y="4297680"/>
            <a:ext cx="4114800" cy="4114800"/>
          </a:xfrm>
          <a:prstGeom prst="ellipse">
            <a:avLst/>
          </a:prstGeom>
          <a:solidFill>
            <a:srgbClr val="155D36"/>
          </a:solidFill>
          <a:ln/>
        </p:spPr>
      </p:sp>
      <p:sp>
        <p:nvSpPr>
          <p:cNvPr id="3" name="Shape 1"/>
          <p:cNvSpPr/>
          <p:nvPr/>
        </p:nvSpPr>
        <p:spPr>
          <a:xfrm>
            <a:off x="822960" y="1554480"/>
            <a:ext cx="1051560" cy="1051560"/>
          </a:xfrm>
          <a:prstGeom prst="ellipse">
            <a:avLst/>
          </a:prstGeom>
          <a:solidFill>
            <a:srgbClr val="8E2DE2"/>
          </a:solidFill>
          <a:ln/>
        </p:spPr>
      </p:sp>
      <p:pic>
        <p:nvPicPr>
          <p:cNvPr id="4" name="Image 0" descr="preencoded.png"/>
          <p:cNvPicPr>
            <a:picLocks noChangeAspect="1"/>
          </p:cNvPicPr>
          <p:nvPr/>
        </p:nvPicPr>
        <p:blipFill>
          <a:blip r:embed="rId3"/>
          <a:stretch>
            <a:fillRect/>
          </a:stretch>
        </p:blipFill>
        <p:spPr>
          <a:xfrm>
            <a:off x="949147" y="1680667"/>
            <a:ext cx="799186" cy="799186"/>
          </a:xfrm>
          <a:prstGeom prst="rect">
            <a:avLst/>
          </a:prstGeom>
        </p:spPr>
      </p:pic>
      <p:sp>
        <p:nvSpPr>
          <p:cNvPr id="5" name="Text 2"/>
          <p:cNvSpPr/>
          <p:nvPr/>
        </p:nvSpPr>
        <p:spPr>
          <a:xfrm>
            <a:off x="822960" y="2788920"/>
            <a:ext cx="10360152" cy="411480"/>
          </a:xfrm>
          <a:prstGeom prst="rect">
            <a:avLst/>
          </a:prstGeom>
          <a:noFill/>
          <a:ln/>
        </p:spPr>
        <p:txBody>
          <a:bodyPr wrap="square" lIns="0" tIns="0" rIns="0" bIns="0" rtlCol="0" anchor="ctr"/>
          <a:lstStyle/>
          <a:p>
            <a:pPr marL="0" indent="0">
              <a:buNone/>
            </a:pPr>
            <a:r>
              <a:rPr lang="en-US" sz="1900" b="1" kern="0" spc="200" dirty="0">
                <a:solidFill>
                  <a:srgbClr val="8E2DE2"/>
                </a:solidFill>
                <a:latin typeface="Calibri" pitchFamily="34" charset="0"/>
                <a:ea typeface="Calibri" pitchFamily="34" charset="-122"/>
                <a:cs typeface="Calibri" pitchFamily="34" charset="-120"/>
              </a:rPr>
              <a:t>SÉQUENCE 1</a:t>
            </a:r>
            <a:endParaRPr lang="en-US" sz="1900" dirty="0"/>
          </a:p>
        </p:txBody>
      </p:sp>
      <p:sp>
        <p:nvSpPr>
          <p:cNvPr id="6" name="Text 3"/>
          <p:cNvSpPr/>
          <p:nvPr/>
        </p:nvSpPr>
        <p:spPr>
          <a:xfrm>
            <a:off x="822960" y="3200400"/>
            <a:ext cx="10360152"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État d'esprit gagnant</a:t>
            </a:r>
            <a:endParaRPr lang="en-US" sz="4000" dirty="0"/>
          </a:p>
        </p:txBody>
      </p:sp>
      <p:sp>
        <p:nvSpPr>
          <p:cNvPr id="7" name="Text 4"/>
          <p:cNvSpPr/>
          <p:nvPr/>
        </p:nvSpPr>
        <p:spPr>
          <a:xfrm>
            <a:off x="822960" y="4343400"/>
            <a:ext cx="9902952" cy="731520"/>
          </a:xfrm>
          <a:prstGeom prst="rect">
            <a:avLst/>
          </a:prstGeom>
          <a:noFill/>
          <a:ln/>
        </p:spPr>
        <p:txBody>
          <a:bodyPr wrap="square" lIns="0" tIns="0" rIns="0" bIns="0" rtlCol="0" anchor="ctr"/>
          <a:lstStyle/>
          <a:p>
            <a:pPr marL="0" indent="0">
              <a:buNone/>
            </a:pPr>
            <a:r>
              <a:rPr lang="en-US" sz="2050" i="1" dirty="0">
                <a:solidFill>
                  <a:srgbClr val="EAF5EE"/>
                </a:solidFill>
                <a:latin typeface="Calibri" pitchFamily="34" charset="0"/>
                <a:ea typeface="Calibri" pitchFamily="34" charset="-122"/>
                <a:cs typeface="Calibri" pitchFamily="34" charset="-120"/>
              </a:rPr>
              <a:t>Penser comme les jurés — 15 minutes</a:t>
            </a:r>
            <a:endParaRPr lang="en-US" sz="2050" dirty="0"/>
          </a:p>
        </p:txBody>
      </p:sp>
      <p:sp>
        <p:nvSpPr>
          <p:cNvPr id="8" name="Text 5"/>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9" name="Text 6"/>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8</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411480"/>
          </a:xfrm>
          <a:prstGeom prst="rect">
            <a:avLst/>
          </a:prstGeom>
          <a:noFill/>
          <a:ln/>
        </p:spPr>
        <p:txBody>
          <a:bodyPr wrap="square" lIns="0" tIns="0" rIns="0" bIns="0" rtlCol="0" anchor="ctr"/>
          <a:lstStyle/>
          <a:p>
            <a:pPr marL="0" indent="0">
              <a:buNone/>
            </a:pPr>
            <a:r>
              <a:rPr lang="en-US" sz="1900" b="1" kern="0" spc="200" dirty="0">
                <a:solidFill>
                  <a:srgbClr val="8E2DE2"/>
                </a:solidFill>
                <a:latin typeface="Calibri" pitchFamily="34" charset="0"/>
                <a:ea typeface="Calibri" pitchFamily="34" charset="-122"/>
                <a:cs typeface="Calibri" pitchFamily="34" charset="-120"/>
              </a:rPr>
              <a:t>SÉQUENCE 1 </a:t>
            </a:r>
            <a:endParaRPr lang="en-US" sz="1900" dirty="0"/>
          </a:p>
        </p:txBody>
      </p:sp>
      <p:sp>
        <p:nvSpPr>
          <p:cNvPr id="3" name="Text 1"/>
          <p:cNvSpPr/>
          <p:nvPr/>
        </p:nvSpPr>
        <p:spPr>
          <a:xfrm>
            <a:off x="640080" y="868680"/>
            <a:ext cx="10908792" cy="1188720"/>
          </a:xfrm>
          <a:prstGeom prst="rect">
            <a:avLst/>
          </a:prstGeom>
          <a:noFill/>
          <a:ln/>
        </p:spPr>
        <p:txBody>
          <a:bodyPr wrap="square" lIns="0" tIns="0" rIns="0" bIns="0" rtlCol="0" anchor="t"/>
          <a:lstStyle/>
          <a:p>
            <a:pPr marL="0" indent="0">
              <a:buNone/>
            </a:pPr>
            <a:r>
              <a:rPr lang="en-US" sz="4200" b="1" dirty="0">
                <a:solidFill>
                  <a:srgbClr val="000000"/>
                </a:solidFill>
                <a:latin typeface="Cambria" pitchFamily="34" charset="0"/>
                <a:ea typeface="Cambria" pitchFamily="34" charset="-122"/>
                <a:cs typeface="Cambria" pitchFamily="34" charset="-120"/>
              </a:rPr>
              <a:t>Un pitch n'est pas une présentation technique</a:t>
            </a:r>
            <a:endParaRPr lang="en-US" sz="4200" dirty="0"/>
          </a:p>
        </p:txBody>
      </p:sp>
      <p:sp>
        <p:nvSpPr>
          <p:cNvPr id="4" name="Shape 2"/>
          <p:cNvSpPr/>
          <p:nvPr/>
        </p:nvSpPr>
        <p:spPr>
          <a:xfrm>
            <a:off x="640080" y="2103120"/>
            <a:ext cx="10908792" cy="1554480"/>
          </a:xfrm>
          <a:prstGeom prst="rect">
            <a:avLst/>
          </a:prstGeom>
          <a:solidFill>
            <a:srgbClr val="EAF5EE"/>
          </a:solidFill>
          <a:ln/>
          <a:effectLst>
            <a:outerShdw blurRad="152400" dist="38100" dir="2700000" algn="bl" rotWithShape="0">
              <a:srgbClr val="000000">
                <a:alpha val="15000"/>
              </a:srgbClr>
            </a:outerShdw>
          </a:effectLst>
        </p:spPr>
      </p:sp>
      <p:sp>
        <p:nvSpPr>
          <p:cNvPr id="5" name="Shape 3"/>
          <p:cNvSpPr/>
          <p:nvPr/>
        </p:nvSpPr>
        <p:spPr>
          <a:xfrm>
            <a:off x="914400" y="2377440"/>
            <a:ext cx="685800" cy="685800"/>
          </a:xfrm>
          <a:prstGeom prst="ellipse">
            <a:avLst/>
          </a:prstGeom>
          <a:solidFill>
            <a:srgbClr val="8E2DE2"/>
          </a:solidFill>
          <a:ln/>
        </p:spPr>
      </p:sp>
      <p:pic>
        <p:nvPicPr>
          <p:cNvPr id="6" name="Image 0" descr="preencoded.png"/>
          <p:cNvPicPr>
            <a:picLocks noChangeAspect="1"/>
          </p:cNvPicPr>
          <p:nvPr/>
        </p:nvPicPr>
        <p:blipFill>
          <a:blip r:embed="rId3"/>
          <a:stretch>
            <a:fillRect/>
          </a:stretch>
        </p:blipFill>
        <p:spPr>
          <a:xfrm>
            <a:off x="996696" y="2459736"/>
            <a:ext cx="521208" cy="521208"/>
          </a:xfrm>
          <a:prstGeom prst="rect">
            <a:avLst/>
          </a:prstGeom>
        </p:spPr>
      </p:pic>
      <p:sp>
        <p:nvSpPr>
          <p:cNvPr id="7" name="Text 4"/>
          <p:cNvSpPr/>
          <p:nvPr/>
        </p:nvSpPr>
        <p:spPr>
          <a:xfrm>
            <a:off x="1828800" y="2286000"/>
            <a:ext cx="9354312" cy="1234440"/>
          </a:xfrm>
          <a:prstGeom prst="rect">
            <a:avLst/>
          </a:prstGeom>
          <a:noFill/>
          <a:ln/>
        </p:spPr>
        <p:txBody>
          <a:bodyPr wrap="square" lIns="0" tIns="0" rIns="0" bIns="0" rtlCol="0" anchor="ctr"/>
          <a:lstStyle/>
          <a:p>
            <a:pPr marL="0" indent="0">
              <a:lnSpc>
                <a:spcPct val="125000"/>
              </a:lnSpc>
              <a:buNone/>
            </a:pPr>
            <a:r>
              <a:rPr lang="en-US" sz="2050" b="1" dirty="0">
                <a:solidFill>
                  <a:srgbClr val="000000"/>
                </a:solidFill>
                <a:latin typeface="Calibri" pitchFamily="34" charset="0"/>
                <a:ea typeface="Calibri" pitchFamily="34" charset="-122"/>
                <a:cs typeface="Calibri" pitchFamily="34" charset="-120"/>
              </a:rPr>
              <a:t>Exercice d'ouverture (5 min)</a:t>
            </a:r>
            <a:endParaRPr lang="en-US" sz="2050" dirty="0"/>
          </a:p>
          <a:p>
            <a:pPr marL="0" indent="0">
              <a:lnSpc>
                <a:spcPct val="125000"/>
              </a:lnSpc>
              <a:buNone/>
            </a:pPr>
            <a:r>
              <a:rPr lang="en-US" sz="1850" dirty="0">
                <a:solidFill>
                  <a:srgbClr val="1A1A1A"/>
                </a:solidFill>
                <a:latin typeface="Calibri" pitchFamily="34" charset="0"/>
                <a:ea typeface="Calibri" pitchFamily="34" charset="-122"/>
                <a:cs typeface="Calibri" pitchFamily="34" charset="-120"/>
              </a:rPr>
              <a:t>3 équipes volontaires pitchent leur idée en 30 secondes, sans préparation. Cet essai sera rejoué en clôture pour rendre visible le chemin parcouru.</a:t>
            </a:r>
            <a:endParaRPr lang="en-US" sz="2050" dirty="0"/>
          </a:p>
        </p:txBody>
      </p:sp>
      <p:sp>
        <p:nvSpPr>
          <p:cNvPr id="8" name="Shape 5"/>
          <p:cNvSpPr/>
          <p:nvPr/>
        </p:nvSpPr>
        <p:spPr>
          <a:xfrm>
            <a:off x="640080" y="3977640"/>
            <a:ext cx="10908792" cy="1920240"/>
          </a:xfrm>
          <a:prstGeom prst="rect">
            <a:avLst/>
          </a:prstGeom>
          <a:solidFill>
            <a:srgbClr val="000000"/>
          </a:solidFill>
          <a:ln/>
        </p:spPr>
      </p:sp>
      <p:sp>
        <p:nvSpPr>
          <p:cNvPr id="9" name="Text 6"/>
          <p:cNvSpPr/>
          <p:nvPr/>
        </p:nvSpPr>
        <p:spPr>
          <a:xfrm>
            <a:off x="1005840" y="4206240"/>
            <a:ext cx="10177272" cy="1463040"/>
          </a:xfrm>
          <a:prstGeom prst="rect">
            <a:avLst/>
          </a:prstGeom>
          <a:noFill/>
          <a:ln/>
        </p:spPr>
        <p:txBody>
          <a:bodyPr wrap="square" lIns="0" tIns="0" rIns="0" bIns="0" rtlCol="0" anchor="ctr"/>
          <a:lstStyle/>
          <a:p>
            <a:pPr marL="0" indent="0">
              <a:lnSpc>
                <a:spcPct val="125000"/>
              </a:lnSpc>
              <a:buNone/>
            </a:pPr>
            <a:r>
              <a:rPr lang="en-US" sz="2550" i="1" dirty="0">
                <a:solidFill>
                  <a:srgbClr val="FFFFFF"/>
                </a:solidFill>
                <a:latin typeface="Cambria" pitchFamily="34" charset="0"/>
                <a:ea typeface="Cambria" pitchFamily="34" charset="-122"/>
                <a:cs typeface="Cambria" pitchFamily="34" charset="-120"/>
              </a:rPr>
              <a:t>« Vous ne présentez pas un projet. </a:t>
            </a:r>
            <a:r>
              <a:rPr lang="en-US" sz="2550" i="1" dirty="0" err="1">
                <a:solidFill>
                  <a:srgbClr val="FFFFFF"/>
                </a:solidFill>
                <a:latin typeface="Cambria" pitchFamily="34" charset="0"/>
                <a:ea typeface="Cambria" pitchFamily="34" charset="-122"/>
                <a:cs typeface="Cambria" pitchFamily="34" charset="-120"/>
              </a:rPr>
              <a:t>Vous</a:t>
            </a:r>
            <a:r>
              <a:rPr lang="en-US" sz="2550" i="1" dirty="0">
                <a:solidFill>
                  <a:srgbClr val="FFFFFF"/>
                </a:solidFill>
                <a:latin typeface="Cambria" pitchFamily="34" charset="0"/>
                <a:ea typeface="Cambria" pitchFamily="34" charset="-122"/>
                <a:cs typeface="Cambria" pitchFamily="34" charset="-120"/>
              </a:rPr>
              <a:t> incarnez la solution à un problème que le jury doit ressentir comme urgent. »</a:t>
            </a:r>
            <a:endParaRPr lang="en-US" sz="2550" dirty="0"/>
          </a:p>
        </p:txBody>
      </p:sp>
      <p:sp>
        <p:nvSpPr>
          <p:cNvPr id="10" name="Text 7"/>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11" name="Text 8"/>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9</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9601200" y="4297680"/>
            <a:ext cx="4114800" cy="4114800"/>
          </a:xfrm>
          <a:prstGeom prst="ellipse">
            <a:avLst/>
          </a:prstGeom>
          <a:solidFill>
            <a:srgbClr val="155D36"/>
          </a:solidFill>
          <a:ln/>
        </p:spPr>
      </p:sp>
      <p:sp>
        <p:nvSpPr>
          <p:cNvPr id="3" name="Shape 1"/>
          <p:cNvSpPr/>
          <p:nvPr/>
        </p:nvSpPr>
        <p:spPr>
          <a:xfrm>
            <a:off x="822960" y="1554480"/>
            <a:ext cx="1051560" cy="1051560"/>
          </a:xfrm>
          <a:prstGeom prst="ellipse">
            <a:avLst/>
          </a:prstGeom>
          <a:solidFill>
            <a:srgbClr val="8E2DE2"/>
          </a:solidFill>
          <a:ln/>
        </p:spPr>
      </p:sp>
      <p:pic>
        <p:nvPicPr>
          <p:cNvPr id="4" name="Image 0" descr="preencoded.png"/>
          <p:cNvPicPr>
            <a:picLocks noChangeAspect="1"/>
          </p:cNvPicPr>
          <p:nvPr/>
        </p:nvPicPr>
        <p:blipFill>
          <a:blip r:embed="rId3"/>
          <a:stretch>
            <a:fillRect/>
          </a:stretch>
        </p:blipFill>
        <p:spPr>
          <a:xfrm>
            <a:off x="949147" y="1680667"/>
            <a:ext cx="799186" cy="799186"/>
          </a:xfrm>
          <a:prstGeom prst="rect">
            <a:avLst/>
          </a:prstGeom>
        </p:spPr>
      </p:pic>
      <p:sp>
        <p:nvSpPr>
          <p:cNvPr id="5" name="Text 2"/>
          <p:cNvSpPr/>
          <p:nvPr/>
        </p:nvSpPr>
        <p:spPr>
          <a:xfrm>
            <a:off x="822960" y="2788920"/>
            <a:ext cx="10360152" cy="411480"/>
          </a:xfrm>
          <a:prstGeom prst="rect">
            <a:avLst/>
          </a:prstGeom>
          <a:noFill/>
          <a:ln/>
        </p:spPr>
        <p:txBody>
          <a:bodyPr wrap="square" lIns="0" tIns="0" rIns="0" bIns="0" rtlCol="0" anchor="ctr"/>
          <a:lstStyle/>
          <a:p>
            <a:pPr marL="0" indent="0">
              <a:buNone/>
            </a:pPr>
            <a:r>
              <a:rPr lang="en-US" sz="1900" b="1" kern="0" spc="200" dirty="0">
                <a:solidFill>
                  <a:srgbClr val="8E2DE2"/>
                </a:solidFill>
                <a:latin typeface="Calibri" pitchFamily="34" charset="0"/>
                <a:ea typeface="Calibri" pitchFamily="34" charset="-122"/>
                <a:cs typeface="Calibri" pitchFamily="34" charset="-120"/>
              </a:rPr>
              <a:t>SÉQUENCE 2</a:t>
            </a:r>
            <a:endParaRPr lang="en-US" sz="1900" dirty="0"/>
          </a:p>
        </p:txBody>
      </p:sp>
      <p:sp>
        <p:nvSpPr>
          <p:cNvPr id="6" name="Text 3"/>
          <p:cNvSpPr/>
          <p:nvPr/>
        </p:nvSpPr>
        <p:spPr>
          <a:xfrm>
            <a:off x="822960" y="3200400"/>
            <a:ext cx="10360152"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L'anatomie du pitch gagnant</a:t>
            </a:r>
            <a:endParaRPr lang="en-US" sz="4000" dirty="0"/>
          </a:p>
        </p:txBody>
      </p:sp>
      <p:sp>
        <p:nvSpPr>
          <p:cNvPr id="7" name="Text 4"/>
          <p:cNvSpPr/>
          <p:nvPr/>
        </p:nvSpPr>
        <p:spPr>
          <a:xfrm>
            <a:off x="822960" y="4343400"/>
            <a:ext cx="9902952" cy="731520"/>
          </a:xfrm>
          <a:prstGeom prst="rect">
            <a:avLst/>
          </a:prstGeom>
          <a:noFill/>
          <a:ln/>
        </p:spPr>
        <p:txBody>
          <a:bodyPr wrap="square" lIns="0" tIns="0" rIns="0" bIns="0" rtlCol="0" anchor="ctr"/>
          <a:lstStyle/>
          <a:p>
            <a:pPr marL="0" indent="0">
              <a:buNone/>
            </a:pPr>
            <a:r>
              <a:rPr lang="en-US" sz="2050" i="1" dirty="0">
                <a:solidFill>
                  <a:srgbClr val="EAF5EE"/>
                </a:solidFill>
                <a:latin typeface="Calibri" pitchFamily="34" charset="0"/>
                <a:ea typeface="Calibri" pitchFamily="34" charset="-122"/>
                <a:cs typeface="Calibri" pitchFamily="34" charset="-120"/>
              </a:rPr>
              <a:t>Structure en 11 slides — 30 minutes</a:t>
            </a:r>
            <a:endParaRPr lang="en-US" sz="2050" dirty="0"/>
          </a:p>
        </p:txBody>
      </p:sp>
      <p:sp>
        <p:nvSpPr>
          <p:cNvPr id="8" name="Text 5"/>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9" name="Text 6"/>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10</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411480"/>
          </a:xfrm>
          <a:prstGeom prst="rect">
            <a:avLst/>
          </a:prstGeom>
          <a:noFill/>
          <a:ln/>
        </p:spPr>
        <p:txBody>
          <a:bodyPr wrap="square" lIns="0" tIns="0" rIns="0" bIns="0" rtlCol="0" anchor="ctr"/>
          <a:lstStyle/>
          <a:p>
            <a:pPr marL="0" indent="0">
              <a:buNone/>
            </a:pPr>
            <a:r>
              <a:rPr lang="en-US" sz="1900" b="1" kern="0" spc="200" dirty="0">
                <a:solidFill>
                  <a:srgbClr val="8E2DE2"/>
                </a:solidFill>
                <a:latin typeface="Calibri" pitchFamily="34" charset="0"/>
                <a:ea typeface="Calibri" pitchFamily="34" charset="-122"/>
                <a:cs typeface="Calibri" pitchFamily="34" charset="-120"/>
              </a:rPr>
              <a:t>SÉQUENCE 2 (1/3)</a:t>
            </a:r>
            <a:endParaRPr lang="en-US" sz="1900" dirty="0"/>
          </a:p>
        </p:txBody>
      </p:sp>
      <p:sp>
        <p:nvSpPr>
          <p:cNvPr id="3" name="Text 1"/>
          <p:cNvSpPr/>
          <p:nvPr/>
        </p:nvSpPr>
        <p:spPr>
          <a:xfrm>
            <a:off x="640080" y="868680"/>
            <a:ext cx="10908792" cy="1188720"/>
          </a:xfrm>
          <a:prstGeom prst="rect">
            <a:avLst/>
          </a:prstGeom>
          <a:noFill/>
          <a:ln/>
        </p:spPr>
        <p:txBody>
          <a:bodyPr wrap="square" lIns="0" tIns="0" rIns="0" bIns="0" rtlCol="0" anchor="t"/>
          <a:lstStyle/>
          <a:p>
            <a:pPr marL="0" indent="0">
              <a:buNone/>
            </a:pPr>
            <a:r>
              <a:rPr lang="en-US" sz="4200" b="1" dirty="0">
                <a:solidFill>
                  <a:srgbClr val="000000"/>
                </a:solidFill>
                <a:latin typeface="Cambria" pitchFamily="34" charset="0"/>
                <a:ea typeface="Cambria" pitchFamily="34" charset="-122"/>
                <a:cs typeface="Cambria" pitchFamily="34" charset="-120"/>
              </a:rPr>
              <a:t>La structure slide par slide</a:t>
            </a:r>
            <a:endParaRPr lang="en-US" sz="4200" dirty="0"/>
          </a:p>
        </p:txBody>
      </p:sp>
      <p:sp>
        <p:nvSpPr>
          <p:cNvPr id="4" name="Shape 2"/>
          <p:cNvSpPr/>
          <p:nvPr/>
        </p:nvSpPr>
        <p:spPr>
          <a:xfrm>
            <a:off x="640080" y="2103120"/>
            <a:ext cx="5257800" cy="1691640"/>
          </a:xfrm>
          <a:prstGeom prst="rect">
            <a:avLst/>
          </a:prstGeom>
          <a:solidFill>
            <a:srgbClr val="EAF5EE"/>
          </a:solidFill>
          <a:ln/>
          <a:effectLst>
            <a:outerShdw blurRad="152400" dist="38100" dir="2700000" algn="bl" rotWithShape="0">
              <a:srgbClr val="000000">
                <a:alpha val="15000"/>
              </a:srgbClr>
            </a:outerShdw>
          </a:effectLst>
        </p:spPr>
      </p:sp>
      <p:sp>
        <p:nvSpPr>
          <p:cNvPr id="5" name="Text 3"/>
          <p:cNvSpPr/>
          <p:nvPr/>
        </p:nvSpPr>
        <p:spPr>
          <a:xfrm>
            <a:off x="868680" y="2240280"/>
            <a:ext cx="4800600" cy="365760"/>
          </a:xfrm>
          <a:prstGeom prst="rect">
            <a:avLst/>
          </a:prstGeom>
          <a:noFill/>
          <a:ln/>
        </p:spPr>
        <p:txBody>
          <a:bodyPr wrap="square" lIns="0" tIns="0" rIns="0" bIns="0" rtlCol="0" anchor="ctr"/>
          <a:lstStyle/>
          <a:p>
            <a:pPr marL="0" indent="0">
              <a:buNone/>
            </a:pPr>
            <a:r>
              <a:rPr lang="en-US" sz="1850" b="1" dirty="0">
                <a:solidFill>
                  <a:srgbClr val="000000"/>
                </a:solidFill>
                <a:latin typeface="Calibri" pitchFamily="34" charset="0"/>
                <a:ea typeface="Calibri" pitchFamily="34" charset="-122"/>
                <a:cs typeface="Calibri" pitchFamily="34" charset="-120"/>
              </a:rPr>
              <a:t>1 · Grande Vision</a:t>
            </a:r>
            <a:endParaRPr lang="en-US" sz="1850" dirty="0"/>
          </a:p>
        </p:txBody>
      </p:sp>
      <p:sp>
        <p:nvSpPr>
          <p:cNvPr id="6" name="Text 4"/>
          <p:cNvSpPr/>
          <p:nvPr/>
        </p:nvSpPr>
        <p:spPr>
          <a:xfrm>
            <a:off x="868680" y="2606040"/>
            <a:ext cx="4800600" cy="868680"/>
          </a:xfrm>
          <a:prstGeom prst="rect">
            <a:avLst/>
          </a:prstGeom>
          <a:noFill/>
          <a:ln/>
        </p:spPr>
        <p:txBody>
          <a:bodyPr wrap="square" lIns="0" tIns="0" rIns="0" bIns="0" rtlCol="0" anchor="ctr"/>
          <a:lstStyle/>
          <a:p>
            <a:pPr marL="0" indent="0">
              <a:lnSpc>
                <a:spcPct val="115000"/>
              </a:lnSpc>
              <a:buNone/>
            </a:pPr>
            <a:r>
              <a:rPr lang="en-US" sz="1700" dirty="0">
                <a:solidFill>
                  <a:srgbClr val="1A1A1A"/>
                </a:solidFill>
                <a:latin typeface="Calibri" pitchFamily="34" charset="0"/>
                <a:ea typeface="Calibri" pitchFamily="34" charset="-122"/>
                <a:cs typeface="Calibri" pitchFamily="34" charset="-120"/>
              </a:rPr>
              <a:t>Une phrase, sans jargon. Ex : « Nous utilisons l'IA pour réduire les pertes post-récolte des agriculteurs africains. »</a:t>
            </a:r>
            <a:endParaRPr lang="en-US" sz="1700" dirty="0"/>
          </a:p>
        </p:txBody>
      </p:sp>
      <p:sp>
        <p:nvSpPr>
          <p:cNvPr id="7" name="Text 5"/>
          <p:cNvSpPr/>
          <p:nvPr/>
        </p:nvSpPr>
        <p:spPr>
          <a:xfrm>
            <a:off x="868680" y="3447288"/>
            <a:ext cx="4800600" cy="292608"/>
          </a:xfrm>
          <a:prstGeom prst="rect">
            <a:avLst/>
          </a:prstGeom>
          <a:noFill/>
          <a:ln/>
        </p:spPr>
        <p:txBody>
          <a:bodyPr wrap="square" lIns="0" tIns="0" rIns="0" bIns="0" rtlCol="0" anchor="ctr"/>
          <a:lstStyle/>
          <a:p>
            <a:pPr marL="0" indent="0">
              <a:buNone/>
            </a:pPr>
            <a:r>
              <a:rPr lang="en-US" sz="1500" b="1" i="1" dirty="0">
                <a:solidFill>
                  <a:srgbClr val="8E2DE2"/>
                </a:solidFill>
                <a:latin typeface="Calibri" pitchFamily="34" charset="0"/>
                <a:ea typeface="Calibri" pitchFamily="34" charset="-122"/>
                <a:cs typeface="Calibri" pitchFamily="34" charset="-120"/>
              </a:rPr>
              <a:t>Inspiré de YC</a:t>
            </a:r>
            <a:endParaRPr lang="en-US" sz="1500" dirty="0"/>
          </a:p>
        </p:txBody>
      </p:sp>
      <p:sp>
        <p:nvSpPr>
          <p:cNvPr id="8" name="Shape 6"/>
          <p:cNvSpPr/>
          <p:nvPr/>
        </p:nvSpPr>
        <p:spPr>
          <a:xfrm>
            <a:off x="6217920" y="2103120"/>
            <a:ext cx="5257800" cy="1691640"/>
          </a:xfrm>
          <a:prstGeom prst="rect">
            <a:avLst/>
          </a:prstGeom>
          <a:solidFill>
            <a:srgbClr val="EAF5EE"/>
          </a:solidFill>
          <a:ln/>
          <a:effectLst>
            <a:outerShdw blurRad="152400" dist="38100" dir="2700000" algn="bl" rotWithShape="0">
              <a:srgbClr val="000000">
                <a:alpha val="15000"/>
              </a:srgbClr>
            </a:outerShdw>
          </a:effectLst>
        </p:spPr>
      </p:sp>
      <p:sp>
        <p:nvSpPr>
          <p:cNvPr id="9" name="Text 7"/>
          <p:cNvSpPr/>
          <p:nvPr/>
        </p:nvSpPr>
        <p:spPr>
          <a:xfrm>
            <a:off x="6446520" y="2240280"/>
            <a:ext cx="4800600" cy="365760"/>
          </a:xfrm>
          <a:prstGeom prst="rect">
            <a:avLst/>
          </a:prstGeom>
          <a:noFill/>
          <a:ln/>
        </p:spPr>
        <p:txBody>
          <a:bodyPr wrap="square" lIns="0" tIns="0" rIns="0" bIns="0" rtlCol="0" anchor="ctr"/>
          <a:lstStyle/>
          <a:p>
            <a:pPr marL="0" indent="0">
              <a:buNone/>
            </a:pPr>
            <a:r>
              <a:rPr lang="en-US" sz="1850" b="1" dirty="0">
                <a:solidFill>
                  <a:srgbClr val="000000"/>
                </a:solidFill>
                <a:latin typeface="Calibri" pitchFamily="34" charset="0"/>
                <a:ea typeface="Calibri" pitchFamily="34" charset="-122"/>
                <a:cs typeface="Calibri" pitchFamily="34" charset="-120"/>
              </a:rPr>
              <a:t>2 · Le Problème</a:t>
            </a:r>
            <a:endParaRPr lang="en-US" sz="1850" dirty="0"/>
          </a:p>
        </p:txBody>
      </p:sp>
      <p:sp>
        <p:nvSpPr>
          <p:cNvPr id="10" name="Text 8"/>
          <p:cNvSpPr/>
          <p:nvPr/>
        </p:nvSpPr>
        <p:spPr>
          <a:xfrm>
            <a:off x="6446520" y="2606040"/>
            <a:ext cx="4800600" cy="868680"/>
          </a:xfrm>
          <a:prstGeom prst="rect">
            <a:avLst/>
          </a:prstGeom>
          <a:noFill/>
          <a:ln/>
        </p:spPr>
        <p:txBody>
          <a:bodyPr wrap="square" lIns="0" tIns="0" rIns="0" bIns="0" rtlCol="0" anchor="ctr"/>
          <a:lstStyle/>
          <a:p>
            <a:pPr marL="0" indent="0">
              <a:lnSpc>
                <a:spcPct val="115000"/>
              </a:lnSpc>
              <a:buNone/>
            </a:pPr>
            <a:r>
              <a:rPr lang="en-US" sz="1700" dirty="0">
                <a:solidFill>
                  <a:srgbClr val="1A1A1A"/>
                </a:solidFill>
                <a:latin typeface="Calibri" pitchFamily="34" charset="0"/>
                <a:ea typeface="Calibri" pitchFamily="34" charset="-122"/>
                <a:cs typeface="Calibri" pitchFamily="34" charset="-120"/>
              </a:rPr>
              <a:t>Quelle est l'ampleur du problème ? Qui en souffre ? Toujours avec des chiffres.</a:t>
            </a:r>
            <a:endParaRPr lang="en-US" sz="1700" dirty="0"/>
          </a:p>
        </p:txBody>
      </p:sp>
      <p:sp>
        <p:nvSpPr>
          <p:cNvPr id="11" name="Text 9"/>
          <p:cNvSpPr/>
          <p:nvPr/>
        </p:nvSpPr>
        <p:spPr>
          <a:xfrm>
            <a:off x="6446520" y="3447288"/>
            <a:ext cx="4800600" cy="292608"/>
          </a:xfrm>
          <a:prstGeom prst="rect">
            <a:avLst/>
          </a:prstGeom>
          <a:noFill/>
          <a:ln/>
        </p:spPr>
        <p:txBody>
          <a:bodyPr wrap="square" lIns="0" tIns="0" rIns="0" bIns="0" rtlCol="0" anchor="ctr"/>
          <a:lstStyle/>
          <a:p>
            <a:pPr marL="0" indent="0">
              <a:buNone/>
            </a:pPr>
            <a:r>
              <a:rPr lang="en-US" sz="1500" b="1" i="1" dirty="0">
                <a:solidFill>
                  <a:srgbClr val="8E2DE2"/>
                </a:solidFill>
                <a:latin typeface="Calibri" pitchFamily="34" charset="0"/>
                <a:ea typeface="Calibri" pitchFamily="34" charset="-122"/>
                <a:cs typeface="Calibri" pitchFamily="34" charset="-120"/>
              </a:rPr>
              <a:t>Inspiré de YC</a:t>
            </a:r>
            <a:endParaRPr lang="en-US" sz="1500" dirty="0"/>
          </a:p>
        </p:txBody>
      </p:sp>
      <p:sp>
        <p:nvSpPr>
          <p:cNvPr id="12" name="Shape 10"/>
          <p:cNvSpPr/>
          <p:nvPr/>
        </p:nvSpPr>
        <p:spPr>
          <a:xfrm>
            <a:off x="640080" y="4050792"/>
            <a:ext cx="5257800" cy="1691640"/>
          </a:xfrm>
          <a:prstGeom prst="rect">
            <a:avLst/>
          </a:prstGeom>
          <a:solidFill>
            <a:srgbClr val="EAF5EE"/>
          </a:solidFill>
          <a:ln/>
          <a:effectLst>
            <a:outerShdw blurRad="152400" dist="38100" dir="2700000" algn="bl" rotWithShape="0">
              <a:srgbClr val="000000">
                <a:alpha val="15000"/>
              </a:srgbClr>
            </a:outerShdw>
          </a:effectLst>
        </p:spPr>
      </p:sp>
      <p:sp>
        <p:nvSpPr>
          <p:cNvPr id="13" name="Text 11"/>
          <p:cNvSpPr/>
          <p:nvPr/>
        </p:nvSpPr>
        <p:spPr>
          <a:xfrm>
            <a:off x="868680" y="4187952"/>
            <a:ext cx="4800600" cy="365760"/>
          </a:xfrm>
          <a:prstGeom prst="rect">
            <a:avLst/>
          </a:prstGeom>
          <a:noFill/>
          <a:ln/>
        </p:spPr>
        <p:txBody>
          <a:bodyPr wrap="square" lIns="0" tIns="0" rIns="0" bIns="0" rtlCol="0" anchor="ctr"/>
          <a:lstStyle/>
          <a:p>
            <a:pPr marL="0" indent="0">
              <a:buNone/>
            </a:pPr>
            <a:r>
              <a:rPr lang="en-US" sz="1850" b="1" dirty="0">
                <a:solidFill>
                  <a:srgbClr val="000000"/>
                </a:solidFill>
                <a:latin typeface="Calibri" pitchFamily="34" charset="0"/>
                <a:ea typeface="Calibri" pitchFamily="34" charset="-122"/>
                <a:cs typeface="Calibri" pitchFamily="34" charset="-120"/>
              </a:rPr>
              <a:t>3 · Solutions actuelles</a:t>
            </a:r>
            <a:endParaRPr lang="en-US" sz="1850" dirty="0"/>
          </a:p>
        </p:txBody>
      </p:sp>
      <p:sp>
        <p:nvSpPr>
          <p:cNvPr id="14" name="Text 12"/>
          <p:cNvSpPr/>
          <p:nvPr/>
        </p:nvSpPr>
        <p:spPr>
          <a:xfrm>
            <a:off x="868680" y="4553712"/>
            <a:ext cx="4800600" cy="868680"/>
          </a:xfrm>
          <a:prstGeom prst="rect">
            <a:avLst/>
          </a:prstGeom>
          <a:noFill/>
          <a:ln/>
        </p:spPr>
        <p:txBody>
          <a:bodyPr wrap="square" lIns="0" tIns="0" rIns="0" bIns="0" rtlCol="0" anchor="ctr"/>
          <a:lstStyle/>
          <a:p>
            <a:pPr marL="0" indent="0">
              <a:lnSpc>
                <a:spcPct val="115000"/>
              </a:lnSpc>
              <a:buNone/>
            </a:pPr>
            <a:r>
              <a:rPr lang="en-US" sz="1700" dirty="0">
                <a:solidFill>
                  <a:srgbClr val="1A1A1A"/>
                </a:solidFill>
                <a:latin typeface="Calibri" pitchFamily="34" charset="0"/>
                <a:ea typeface="Calibri" pitchFamily="34" charset="-122"/>
                <a:cs typeface="Calibri" pitchFamily="34" charset="-120"/>
              </a:rPr>
              <a:t>Pourquoi les solutions existantes sont-elles insuffisantes ?</a:t>
            </a:r>
            <a:endParaRPr lang="en-US" sz="1700" dirty="0"/>
          </a:p>
        </p:txBody>
      </p:sp>
      <p:sp>
        <p:nvSpPr>
          <p:cNvPr id="15" name="Shape 13"/>
          <p:cNvSpPr/>
          <p:nvPr/>
        </p:nvSpPr>
        <p:spPr>
          <a:xfrm>
            <a:off x="6217920" y="4050792"/>
            <a:ext cx="5257800" cy="1691640"/>
          </a:xfrm>
          <a:prstGeom prst="rect">
            <a:avLst/>
          </a:prstGeom>
          <a:solidFill>
            <a:srgbClr val="EAF5EE"/>
          </a:solidFill>
          <a:ln/>
          <a:effectLst>
            <a:outerShdw blurRad="152400" dist="38100" dir="2700000" algn="bl" rotWithShape="0">
              <a:srgbClr val="000000">
                <a:alpha val="15000"/>
              </a:srgbClr>
            </a:outerShdw>
          </a:effectLst>
        </p:spPr>
      </p:sp>
      <p:sp>
        <p:nvSpPr>
          <p:cNvPr id="16" name="Text 14"/>
          <p:cNvSpPr/>
          <p:nvPr/>
        </p:nvSpPr>
        <p:spPr>
          <a:xfrm>
            <a:off x="6446520" y="4187952"/>
            <a:ext cx="4800600" cy="365760"/>
          </a:xfrm>
          <a:prstGeom prst="rect">
            <a:avLst/>
          </a:prstGeom>
          <a:noFill/>
          <a:ln/>
        </p:spPr>
        <p:txBody>
          <a:bodyPr wrap="square" lIns="0" tIns="0" rIns="0" bIns="0" rtlCol="0" anchor="ctr"/>
          <a:lstStyle/>
          <a:p>
            <a:pPr marL="0" indent="0">
              <a:buNone/>
            </a:pPr>
            <a:r>
              <a:rPr lang="en-US" sz="1850" b="1" dirty="0">
                <a:solidFill>
                  <a:srgbClr val="000000"/>
                </a:solidFill>
                <a:latin typeface="Calibri" pitchFamily="34" charset="0"/>
                <a:ea typeface="Calibri" pitchFamily="34" charset="-122"/>
                <a:cs typeface="Calibri" pitchFamily="34" charset="-120"/>
              </a:rPr>
              <a:t>4 · Votre solution IA</a:t>
            </a:r>
            <a:endParaRPr lang="en-US" sz="1850" dirty="0"/>
          </a:p>
        </p:txBody>
      </p:sp>
      <p:sp>
        <p:nvSpPr>
          <p:cNvPr id="17" name="Text 15"/>
          <p:cNvSpPr/>
          <p:nvPr/>
        </p:nvSpPr>
        <p:spPr>
          <a:xfrm>
            <a:off x="6446520" y="4553712"/>
            <a:ext cx="4800600" cy="868680"/>
          </a:xfrm>
          <a:prstGeom prst="rect">
            <a:avLst/>
          </a:prstGeom>
          <a:noFill/>
          <a:ln/>
        </p:spPr>
        <p:txBody>
          <a:bodyPr wrap="square" lIns="0" tIns="0" rIns="0" bIns="0" rtlCol="0" anchor="ctr"/>
          <a:lstStyle/>
          <a:p>
            <a:pPr marL="0" indent="0">
              <a:lnSpc>
                <a:spcPct val="115000"/>
              </a:lnSpc>
              <a:buNone/>
            </a:pPr>
            <a:r>
              <a:rPr lang="en-US" sz="1700" dirty="0">
                <a:solidFill>
                  <a:srgbClr val="1A1A1A"/>
                </a:solidFill>
                <a:latin typeface="Calibri" pitchFamily="34" charset="0"/>
                <a:ea typeface="Calibri" pitchFamily="34" charset="-122"/>
                <a:cs typeface="Calibri" pitchFamily="34" charset="-120"/>
              </a:rPr>
              <a:t>Plateforme, app, chatbot, agent. Expliquer simplement, idéalement avec une démo.</a:t>
            </a:r>
            <a:endParaRPr lang="en-US" sz="1700" dirty="0"/>
          </a:p>
        </p:txBody>
      </p:sp>
      <p:sp>
        <p:nvSpPr>
          <p:cNvPr id="18" name="Text 16"/>
          <p:cNvSpPr/>
          <p:nvPr/>
        </p:nvSpPr>
        <p:spPr>
          <a:xfrm>
            <a:off x="6446520" y="5394960"/>
            <a:ext cx="4800600" cy="292608"/>
          </a:xfrm>
          <a:prstGeom prst="rect">
            <a:avLst/>
          </a:prstGeom>
          <a:noFill/>
          <a:ln/>
        </p:spPr>
        <p:txBody>
          <a:bodyPr wrap="square" lIns="0" tIns="0" rIns="0" bIns="0" rtlCol="0" anchor="ctr"/>
          <a:lstStyle/>
          <a:p>
            <a:pPr marL="0" indent="0">
              <a:buNone/>
            </a:pPr>
            <a:r>
              <a:rPr lang="en-US" sz="1500" b="1" i="1" dirty="0">
                <a:solidFill>
                  <a:srgbClr val="8E2DE2"/>
                </a:solidFill>
                <a:latin typeface="Calibri" pitchFamily="34" charset="0"/>
                <a:ea typeface="Calibri" pitchFamily="34" charset="-122"/>
                <a:cs typeface="Calibri" pitchFamily="34" charset="-120"/>
              </a:rPr>
              <a:t>Inspiré de YC</a:t>
            </a:r>
            <a:endParaRPr lang="en-US" sz="1500" dirty="0"/>
          </a:p>
        </p:txBody>
      </p:sp>
      <p:sp>
        <p:nvSpPr>
          <p:cNvPr id="19" name="Text 17"/>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20" name="Text 18"/>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11</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411480"/>
          </a:xfrm>
          <a:prstGeom prst="rect">
            <a:avLst/>
          </a:prstGeom>
          <a:noFill/>
          <a:ln/>
        </p:spPr>
        <p:txBody>
          <a:bodyPr wrap="square" lIns="0" tIns="0" rIns="0" bIns="0" rtlCol="0" anchor="ctr"/>
          <a:lstStyle/>
          <a:p>
            <a:pPr marL="0" indent="0">
              <a:buNone/>
            </a:pPr>
            <a:r>
              <a:rPr lang="en-US" sz="1900" b="1" kern="0" spc="200" dirty="0">
                <a:solidFill>
                  <a:srgbClr val="8E2DE2"/>
                </a:solidFill>
                <a:latin typeface="Calibri" pitchFamily="34" charset="0"/>
                <a:ea typeface="Calibri" pitchFamily="34" charset="-122"/>
                <a:cs typeface="Calibri" pitchFamily="34" charset="-120"/>
              </a:rPr>
              <a:t>SÉQUENCE 2 (2/3)</a:t>
            </a:r>
            <a:endParaRPr lang="en-US" sz="1900" dirty="0"/>
          </a:p>
        </p:txBody>
      </p:sp>
      <p:sp>
        <p:nvSpPr>
          <p:cNvPr id="3" name="Text 1"/>
          <p:cNvSpPr/>
          <p:nvPr/>
        </p:nvSpPr>
        <p:spPr>
          <a:xfrm>
            <a:off x="640080" y="868680"/>
            <a:ext cx="10908792" cy="1188720"/>
          </a:xfrm>
          <a:prstGeom prst="rect">
            <a:avLst/>
          </a:prstGeom>
          <a:noFill/>
          <a:ln/>
        </p:spPr>
        <p:txBody>
          <a:bodyPr wrap="square" lIns="0" tIns="0" rIns="0" bIns="0" rtlCol="0" anchor="t"/>
          <a:lstStyle/>
          <a:p>
            <a:pPr marL="0" indent="0">
              <a:buNone/>
            </a:pPr>
            <a:r>
              <a:rPr lang="en-US" sz="4200" b="1" dirty="0">
                <a:solidFill>
                  <a:srgbClr val="000000"/>
                </a:solidFill>
                <a:latin typeface="Cambria" pitchFamily="34" charset="0"/>
                <a:ea typeface="Cambria" pitchFamily="34" charset="-122"/>
                <a:cs typeface="Cambria" pitchFamily="34" charset="-120"/>
              </a:rPr>
              <a:t>La structure slide par slide</a:t>
            </a:r>
            <a:endParaRPr lang="en-US" sz="4200" dirty="0"/>
          </a:p>
        </p:txBody>
      </p:sp>
      <p:sp>
        <p:nvSpPr>
          <p:cNvPr id="4" name="Shape 2"/>
          <p:cNvSpPr/>
          <p:nvPr/>
        </p:nvSpPr>
        <p:spPr>
          <a:xfrm>
            <a:off x="640080" y="2103120"/>
            <a:ext cx="5257800" cy="1691640"/>
          </a:xfrm>
          <a:prstGeom prst="rect">
            <a:avLst/>
          </a:prstGeom>
          <a:solidFill>
            <a:srgbClr val="EAF5EE"/>
          </a:solidFill>
          <a:ln/>
          <a:effectLst>
            <a:outerShdw blurRad="152400" dist="38100" dir="2700000" algn="bl" rotWithShape="0">
              <a:srgbClr val="000000">
                <a:alpha val="15000"/>
              </a:srgbClr>
            </a:outerShdw>
          </a:effectLst>
        </p:spPr>
      </p:sp>
      <p:sp>
        <p:nvSpPr>
          <p:cNvPr id="5" name="Text 3"/>
          <p:cNvSpPr/>
          <p:nvPr/>
        </p:nvSpPr>
        <p:spPr>
          <a:xfrm>
            <a:off x="868680" y="2240280"/>
            <a:ext cx="4800600" cy="365760"/>
          </a:xfrm>
          <a:prstGeom prst="rect">
            <a:avLst/>
          </a:prstGeom>
          <a:noFill/>
          <a:ln/>
        </p:spPr>
        <p:txBody>
          <a:bodyPr wrap="square" lIns="0" tIns="0" rIns="0" bIns="0" rtlCol="0" anchor="ctr"/>
          <a:lstStyle/>
          <a:p>
            <a:pPr marL="0" indent="0">
              <a:buNone/>
            </a:pPr>
            <a:r>
              <a:rPr lang="en-US" sz="1850" b="1" dirty="0">
                <a:solidFill>
                  <a:srgbClr val="000000"/>
                </a:solidFill>
                <a:latin typeface="Calibri" pitchFamily="34" charset="0"/>
                <a:ea typeface="Calibri" pitchFamily="34" charset="-122"/>
                <a:cs typeface="Calibri" pitchFamily="34" charset="-120"/>
              </a:rPr>
              <a:t>5 · Comment fonctionne l'IA</a:t>
            </a:r>
            <a:endParaRPr lang="en-US" sz="1850" dirty="0"/>
          </a:p>
        </p:txBody>
      </p:sp>
      <p:sp>
        <p:nvSpPr>
          <p:cNvPr id="6" name="Text 4"/>
          <p:cNvSpPr/>
          <p:nvPr/>
        </p:nvSpPr>
        <p:spPr>
          <a:xfrm>
            <a:off x="868680" y="2606040"/>
            <a:ext cx="4800600" cy="868680"/>
          </a:xfrm>
          <a:prstGeom prst="rect">
            <a:avLst/>
          </a:prstGeom>
          <a:noFill/>
          <a:ln/>
        </p:spPr>
        <p:txBody>
          <a:bodyPr wrap="square" lIns="0" tIns="0" rIns="0" bIns="0" rtlCol="0" anchor="ctr"/>
          <a:lstStyle/>
          <a:p>
            <a:pPr marL="0" indent="0">
              <a:lnSpc>
                <a:spcPct val="115000"/>
              </a:lnSpc>
              <a:buNone/>
            </a:pPr>
            <a:r>
              <a:rPr lang="en-US" sz="1700" dirty="0">
                <a:solidFill>
                  <a:srgbClr val="1A1A1A"/>
                </a:solidFill>
                <a:latin typeface="Calibri" pitchFamily="34" charset="0"/>
                <a:ea typeface="Calibri" pitchFamily="34" charset="-122"/>
                <a:cs typeface="Calibri" pitchFamily="34" charset="-120"/>
              </a:rPr>
              <a:t>Sans jargon technique. Un schéma suffit : Donnée → IA → Résultat.</a:t>
            </a:r>
            <a:endParaRPr lang="en-US" sz="1700" dirty="0"/>
          </a:p>
        </p:txBody>
      </p:sp>
      <p:sp>
        <p:nvSpPr>
          <p:cNvPr id="7" name="Shape 5"/>
          <p:cNvSpPr/>
          <p:nvPr/>
        </p:nvSpPr>
        <p:spPr>
          <a:xfrm>
            <a:off x="6217920" y="2103120"/>
            <a:ext cx="5257800" cy="1691640"/>
          </a:xfrm>
          <a:prstGeom prst="rect">
            <a:avLst/>
          </a:prstGeom>
          <a:solidFill>
            <a:srgbClr val="EAF5EE"/>
          </a:solidFill>
          <a:ln/>
          <a:effectLst>
            <a:outerShdw blurRad="152400" dist="38100" dir="2700000" algn="bl" rotWithShape="0">
              <a:srgbClr val="000000">
                <a:alpha val="15000"/>
              </a:srgbClr>
            </a:outerShdw>
          </a:effectLst>
        </p:spPr>
      </p:sp>
      <p:sp>
        <p:nvSpPr>
          <p:cNvPr id="8" name="Text 6"/>
          <p:cNvSpPr/>
          <p:nvPr/>
        </p:nvSpPr>
        <p:spPr>
          <a:xfrm>
            <a:off x="6446520" y="2240280"/>
            <a:ext cx="4800600" cy="365760"/>
          </a:xfrm>
          <a:prstGeom prst="rect">
            <a:avLst/>
          </a:prstGeom>
          <a:noFill/>
          <a:ln/>
        </p:spPr>
        <p:txBody>
          <a:bodyPr wrap="square" lIns="0" tIns="0" rIns="0" bIns="0" rtlCol="0" anchor="ctr"/>
          <a:lstStyle/>
          <a:p>
            <a:pPr marL="0" indent="0">
              <a:buNone/>
            </a:pPr>
            <a:r>
              <a:rPr lang="en-US" sz="1850" b="1" dirty="0">
                <a:solidFill>
                  <a:srgbClr val="000000"/>
                </a:solidFill>
                <a:latin typeface="Calibri" pitchFamily="34" charset="0"/>
                <a:ea typeface="Calibri" pitchFamily="34" charset="-122"/>
                <a:cs typeface="Calibri" pitchFamily="34" charset="-120"/>
              </a:rPr>
              <a:t>6 · Utilisateurs cibles</a:t>
            </a:r>
            <a:endParaRPr lang="en-US" sz="1850" dirty="0"/>
          </a:p>
        </p:txBody>
      </p:sp>
      <p:sp>
        <p:nvSpPr>
          <p:cNvPr id="9" name="Text 7"/>
          <p:cNvSpPr/>
          <p:nvPr/>
        </p:nvSpPr>
        <p:spPr>
          <a:xfrm>
            <a:off x="6446520" y="2606040"/>
            <a:ext cx="4800600" cy="868680"/>
          </a:xfrm>
          <a:prstGeom prst="rect">
            <a:avLst/>
          </a:prstGeom>
          <a:noFill/>
          <a:ln/>
        </p:spPr>
        <p:txBody>
          <a:bodyPr wrap="square" lIns="0" tIns="0" rIns="0" bIns="0" rtlCol="0" anchor="ctr"/>
          <a:lstStyle/>
          <a:p>
            <a:pPr marL="0" indent="0">
              <a:lnSpc>
                <a:spcPct val="115000"/>
              </a:lnSpc>
              <a:buNone/>
            </a:pPr>
            <a:r>
              <a:rPr lang="en-US" sz="1700" dirty="0">
                <a:solidFill>
                  <a:srgbClr val="1A1A1A"/>
                </a:solidFill>
                <a:latin typeface="Calibri" pitchFamily="34" charset="0"/>
                <a:ea typeface="Calibri" pitchFamily="34" charset="-122"/>
                <a:cs typeface="Calibri" pitchFamily="34" charset="-120"/>
              </a:rPr>
              <a:t>Qui va payer ? Qui bénéficie réellement de la solution ?</a:t>
            </a:r>
            <a:endParaRPr lang="en-US" sz="1700" dirty="0"/>
          </a:p>
        </p:txBody>
      </p:sp>
      <p:sp>
        <p:nvSpPr>
          <p:cNvPr id="10" name="Shape 8"/>
          <p:cNvSpPr/>
          <p:nvPr/>
        </p:nvSpPr>
        <p:spPr>
          <a:xfrm>
            <a:off x="640080" y="4050792"/>
            <a:ext cx="5257800" cy="1691640"/>
          </a:xfrm>
          <a:prstGeom prst="rect">
            <a:avLst/>
          </a:prstGeom>
          <a:solidFill>
            <a:srgbClr val="EAF5EE"/>
          </a:solidFill>
          <a:ln/>
          <a:effectLst>
            <a:outerShdw blurRad="152400" dist="38100" dir="2700000" algn="bl" rotWithShape="0">
              <a:srgbClr val="000000">
                <a:alpha val="15000"/>
              </a:srgbClr>
            </a:outerShdw>
          </a:effectLst>
        </p:spPr>
      </p:sp>
      <p:sp>
        <p:nvSpPr>
          <p:cNvPr id="11" name="Text 9"/>
          <p:cNvSpPr/>
          <p:nvPr/>
        </p:nvSpPr>
        <p:spPr>
          <a:xfrm>
            <a:off x="868680" y="4187952"/>
            <a:ext cx="4800600" cy="365760"/>
          </a:xfrm>
          <a:prstGeom prst="rect">
            <a:avLst/>
          </a:prstGeom>
          <a:noFill/>
          <a:ln/>
        </p:spPr>
        <p:txBody>
          <a:bodyPr wrap="square" lIns="0" tIns="0" rIns="0" bIns="0" rtlCol="0" anchor="ctr"/>
          <a:lstStyle/>
          <a:p>
            <a:pPr marL="0" indent="0">
              <a:buNone/>
            </a:pPr>
            <a:r>
              <a:rPr lang="en-US" sz="1850" b="1" dirty="0">
                <a:solidFill>
                  <a:srgbClr val="000000"/>
                </a:solidFill>
                <a:latin typeface="Calibri" pitchFamily="34" charset="0"/>
                <a:ea typeface="Calibri" pitchFamily="34" charset="-122"/>
                <a:cs typeface="Calibri" pitchFamily="34" charset="-120"/>
              </a:rPr>
              <a:t>7 · Modèle économique</a:t>
            </a:r>
            <a:endParaRPr lang="en-US" sz="1850" dirty="0"/>
          </a:p>
        </p:txBody>
      </p:sp>
      <p:sp>
        <p:nvSpPr>
          <p:cNvPr id="12" name="Text 10"/>
          <p:cNvSpPr/>
          <p:nvPr/>
        </p:nvSpPr>
        <p:spPr>
          <a:xfrm>
            <a:off x="868680" y="4553712"/>
            <a:ext cx="4800600" cy="868680"/>
          </a:xfrm>
          <a:prstGeom prst="rect">
            <a:avLst/>
          </a:prstGeom>
          <a:noFill/>
          <a:ln/>
        </p:spPr>
        <p:txBody>
          <a:bodyPr wrap="square" lIns="0" tIns="0" rIns="0" bIns="0" rtlCol="0" anchor="ctr"/>
          <a:lstStyle/>
          <a:p>
            <a:pPr marL="0" indent="0">
              <a:lnSpc>
                <a:spcPct val="115000"/>
              </a:lnSpc>
              <a:buNone/>
            </a:pPr>
            <a:r>
              <a:rPr lang="en-US" sz="1700" dirty="0">
                <a:solidFill>
                  <a:srgbClr val="1A1A1A"/>
                </a:solidFill>
                <a:latin typeface="Calibri" pitchFamily="34" charset="0"/>
                <a:ea typeface="Calibri" pitchFamily="34" charset="-122"/>
                <a:cs typeface="Calibri" pitchFamily="34" charset="-120"/>
              </a:rPr>
              <a:t>Abonnement, commission, licence, contrat entreprise ou gouvernemental — chiffré.</a:t>
            </a:r>
            <a:endParaRPr lang="en-US" sz="1700" dirty="0"/>
          </a:p>
        </p:txBody>
      </p:sp>
      <p:sp>
        <p:nvSpPr>
          <p:cNvPr id="13" name="Text 11"/>
          <p:cNvSpPr/>
          <p:nvPr/>
        </p:nvSpPr>
        <p:spPr>
          <a:xfrm>
            <a:off x="868680" y="5394960"/>
            <a:ext cx="4800600" cy="292608"/>
          </a:xfrm>
          <a:prstGeom prst="rect">
            <a:avLst/>
          </a:prstGeom>
          <a:noFill/>
          <a:ln/>
        </p:spPr>
        <p:txBody>
          <a:bodyPr wrap="square" lIns="0" tIns="0" rIns="0" bIns="0" rtlCol="0" anchor="ctr"/>
          <a:lstStyle/>
          <a:p>
            <a:pPr marL="0" indent="0">
              <a:buNone/>
            </a:pPr>
            <a:r>
              <a:rPr lang="en-US" sz="1500" b="1" i="1" dirty="0">
                <a:solidFill>
                  <a:srgbClr val="8E2DE2"/>
                </a:solidFill>
                <a:latin typeface="Calibri" pitchFamily="34" charset="0"/>
                <a:ea typeface="Calibri" pitchFamily="34" charset="-122"/>
                <a:cs typeface="Calibri" pitchFamily="34" charset="-120"/>
              </a:rPr>
              <a:t>Inspiré de 500 Global</a:t>
            </a:r>
            <a:endParaRPr lang="en-US" sz="1500" dirty="0"/>
          </a:p>
        </p:txBody>
      </p:sp>
      <p:sp>
        <p:nvSpPr>
          <p:cNvPr id="14" name="Shape 12"/>
          <p:cNvSpPr/>
          <p:nvPr/>
        </p:nvSpPr>
        <p:spPr>
          <a:xfrm>
            <a:off x="6217920" y="4050792"/>
            <a:ext cx="5257800" cy="1691640"/>
          </a:xfrm>
          <a:prstGeom prst="rect">
            <a:avLst/>
          </a:prstGeom>
          <a:solidFill>
            <a:srgbClr val="EAF5EE"/>
          </a:solidFill>
          <a:ln/>
          <a:effectLst>
            <a:outerShdw blurRad="152400" dist="38100" dir="2700000" algn="bl" rotWithShape="0">
              <a:srgbClr val="000000">
                <a:alpha val="15000"/>
              </a:srgbClr>
            </a:outerShdw>
          </a:effectLst>
        </p:spPr>
      </p:sp>
      <p:sp>
        <p:nvSpPr>
          <p:cNvPr id="15" name="Text 13"/>
          <p:cNvSpPr/>
          <p:nvPr/>
        </p:nvSpPr>
        <p:spPr>
          <a:xfrm>
            <a:off x="6446520" y="4187952"/>
            <a:ext cx="4800600" cy="365760"/>
          </a:xfrm>
          <a:prstGeom prst="rect">
            <a:avLst/>
          </a:prstGeom>
          <a:noFill/>
          <a:ln/>
        </p:spPr>
        <p:txBody>
          <a:bodyPr wrap="square" lIns="0" tIns="0" rIns="0" bIns="0" rtlCol="0" anchor="ctr"/>
          <a:lstStyle/>
          <a:p>
            <a:pPr marL="0" indent="0">
              <a:buNone/>
            </a:pPr>
            <a:r>
              <a:rPr lang="en-US" sz="1850" b="1" dirty="0">
                <a:solidFill>
                  <a:srgbClr val="000000"/>
                </a:solidFill>
                <a:latin typeface="Calibri" pitchFamily="34" charset="0"/>
                <a:ea typeface="Calibri" pitchFamily="34" charset="-122"/>
                <a:cs typeface="Calibri" pitchFamily="34" charset="-120"/>
              </a:rPr>
              <a:t>8 · Impact</a:t>
            </a:r>
            <a:endParaRPr lang="en-US" sz="1850" dirty="0"/>
          </a:p>
        </p:txBody>
      </p:sp>
      <p:sp>
        <p:nvSpPr>
          <p:cNvPr id="16" name="Text 14"/>
          <p:cNvSpPr/>
          <p:nvPr/>
        </p:nvSpPr>
        <p:spPr>
          <a:xfrm>
            <a:off x="6446520" y="4553712"/>
            <a:ext cx="4800600" cy="868680"/>
          </a:xfrm>
          <a:prstGeom prst="rect">
            <a:avLst/>
          </a:prstGeom>
          <a:noFill/>
          <a:ln/>
        </p:spPr>
        <p:txBody>
          <a:bodyPr wrap="square" lIns="0" tIns="0" rIns="0" bIns="0" rtlCol="0" anchor="ctr"/>
          <a:lstStyle/>
          <a:p>
            <a:pPr marL="0" indent="0">
              <a:lnSpc>
                <a:spcPct val="115000"/>
              </a:lnSpc>
              <a:buNone/>
            </a:pPr>
            <a:r>
              <a:rPr lang="en-US" sz="1700" dirty="0">
                <a:solidFill>
                  <a:srgbClr val="1A1A1A"/>
                </a:solidFill>
                <a:latin typeface="Calibri" pitchFamily="34" charset="0"/>
                <a:ea typeface="Calibri" pitchFamily="34" charset="-122"/>
                <a:cs typeface="Calibri" pitchFamily="34" charset="-120"/>
              </a:rPr>
              <a:t>Impact économique, social, environnemental. Lien avec les ODD.</a:t>
            </a:r>
            <a:endParaRPr lang="en-US" sz="1700" dirty="0"/>
          </a:p>
        </p:txBody>
      </p:sp>
      <p:sp>
        <p:nvSpPr>
          <p:cNvPr id="17" name="Text 15"/>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18" name="Text 16"/>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12</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411480"/>
          </a:xfrm>
          <a:prstGeom prst="rect">
            <a:avLst/>
          </a:prstGeom>
          <a:noFill/>
          <a:ln/>
        </p:spPr>
        <p:txBody>
          <a:bodyPr wrap="square" lIns="0" tIns="0" rIns="0" bIns="0" rtlCol="0" anchor="ctr"/>
          <a:lstStyle/>
          <a:p>
            <a:pPr marL="0" indent="0">
              <a:buNone/>
            </a:pPr>
            <a:r>
              <a:rPr lang="en-US" sz="1900" b="1" kern="0" spc="200" dirty="0">
                <a:solidFill>
                  <a:srgbClr val="8E2DE2"/>
                </a:solidFill>
                <a:latin typeface="Calibri" pitchFamily="34" charset="0"/>
                <a:ea typeface="Calibri" pitchFamily="34" charset="-122"/>
                <a:cs typeface="Calibri" pitchFamily="34" charset="-120"/>
              </a:rPr>
              <a:t>SÉQUENCE 2 (3/3)</a:t>
            </a:r>
            <a:endParaRPr lang="en-US" sz="1900" dirty="0"/>
          </a:p>
        </p:txBody>
      </p:sp>
      <p:sp>
        <p:nvSpPr>
          <p:cNvPr id="3" name="Text 1"/>
          <p:cNvSpPr/>
          <p:nvPr/>
        </p:nvSpPr>
        <p:spPr>
          <a:xfrm>
            <a:off x="640080" y="868680"/>
            <a:ext cx="10908792" cy="1188720"/>
          </a:xfrm>
          <a:prstGeom prst="rect">
            <a:avLst/>
          </a:prstGeom>
          <a:noFill/>
          <a:ln/>
        </p:spPr>
        <p:txBody>
          <a:bodyPr wrap="square" lIns="0" tIns="0" rIns="0" bIns="0" rtlCol="0" anchor="t"/>
          <a:lstStyle/>
          <a:p>
            <a:pPr marL="0" indent="0">
              <a:buNone/>
            </a:pPr>
            <a:r>
              <a:rPr lang="en-US" sz="4200" b="1" dirty="0">
                <a:solidFill>
                  <a:srgbClr val="000000"/>
                </a:solidFill>
                <a:latin typeface="Cambria" pitchFamily="34" charset="0"/>
                <a:ea typeface="Cambria" pitchFamily="34" charset="-122"/>
                <a:cs typeface="Cambria" pitchFamily="34" charset="-120"/>
              </a:rPr>
              <a:t>La structure slide par slide</a:t>
            </a:r>
            <a:endParaRPr lang="en-US" sz="4200" dirty="0"/>
          </a:p>
        </p:txBody>
      </p:sp>
      <p:sp>
        <p:nvSpPr>
          <p:cNvPr id="4" name="Shape 2"/>
          <p:cNvSpPr/>
          <p:nvPr/>
        </p:nvSpPr>
        <p:spPr>
          <a:xfrm>
            <a:off x="640080" y="2103120"/>
            <a:ext cx="5257800" cy="1691640"/>
          </a:xfrm>
          <a:prstGeom prst="rect">
            <a:avLst/>
          </a:prstGeom>
          <a:solidFill>
            <a:srgbClr val="EAF5EE"/>
          </a:solidFill>
          <a:ln/>
          <a:effectLst>
            <a:outerShdw blurRad="152400" dist="38100" dir="2700000" algn="bl" rotWithShape="0">
              <a:srgbClr val="000000">
                <a:alpha val="15000"/>
              </a:srgbClr>
            </a:outerShdw>
          </a:effectLst>
        </p:spPr>
      </p:sp>
      <p:sp>
        <p:nvSpPr>
          <p:cNvPr id="5" name="Text 3"/>
          <p:cNvSpPr/>
          <p:nvPr/>
        </p:nvSpPr>
        <p:spPr>
          <a:xfrm>
            <a:off x="868680" y="2240280"/>
            <a:ext cx="4800600" cy="365760"/>
          </a:xfrm>
          <a:prstGeom prst="rect">
            <a:avLst/>
          </a:prstGeom>
          <a:noFill/>
          <a:ln/>
        </p:spPr>
        <p:txBody>
          <a:bodyPr wrap="square" lIns="0" tIns="0" rIns="0" bIns="0" rtlCol="0" anchor="ctr"/>
          <a:lstStyle/>
          <a:p>
            <a:pPr marL="0" indent="0">
              <a:buNone/>
            </a:pPr>
            <a:r>
              <a:rPr lang="en-US" sz="1850" b="1" dirty="0">
                <a:solidFill>
                  <a:srgbClr val="000000"/>
                </a:solidFill>
                <a:latin typeface="Calibri" pitchFamily="34" charset="0"/>
                <a:ea typeface="Calibri" pitchFamily="34" charset="-122"/>
                <a:cs typeface="Calibri" pitchFamily="34" charset="-120"/>
              </a:rPr>
              <a:t>9 · Feuille de route</a:t>
            </a:r>
            <a:endParaRPr lang="en-US" sz="1850" dirty="0"/>
          </a:p>
        </p:txBody>
      </p:sp>
      <p:sp>
        <p:nvSpPr>
          <p:cNvPr id="6" name="Text 4"/>
          <p:cNvSpPr/>
          <p:nvPr/>
        </p:nvSpPr>
        <p:spPr>
          <a:xfrm>
            <a:off x="868680" y="2606040"/>
            <a:ext cx="4800600" cy="868680"/>
          </a:xfrm>
          <a:prstGeom prst="rect">
            <a:avLst/>
          </a:prstGeom>
          <a:noFill/>
          <a:ln/>
        </p:spPr>
        <p:txBody>
          <a:bodyPr wrap="square" lIns="0" tIns="0" rIns="0" bIns="0" rtlCol="0" anchor="ctr"/>
          <a:lstStyle/>
          <a:p>
            <a:pPr marL="0" indent="0">
              <a:lnSpc>
                <a:spcPct val="115000"/>
              </a:lnSpc>
              <a:buNone/>
            </a:pPr>
            <a:r>
              <a:rPr lang="en-US" sz="1700" dirty="0">
                <a:solidFill>
                  <a:srgbClr val="1A1A1A"/>
                </a:solidFill>
                <a:latin typeface="Calibri" pitchFamily="34" charset="0"/>
                <a:ea typeface="Calibri" pitchFamily="34" charset="-122"/>
                <a:cs typeface="Calibri" pitchFamily="34" charset="-120"/>
              </a:rPr>
              <a:t>Prototype → Pilote → Croissance → Passage à l'échelle.</a:t>
            </a:r>
            <a:endParaRPr lang="en-US" sz="1700" dirty="0"/>
          </a:p>
        </p:txBody>
      </p:sp>
      <p:sp>
        <p:nvSpPr>
          <p:cNvPr id="7" name="Text 5"/>
          <p:cNvSpPr/>
          <p:nvPr/>
        </p:nvSpPr>
        <p:spPr>
          <a:xfrm>
            <a:off x="868680" y="3447288"/>
            <a:ext cx="4800600" cy="292608"/>
          </a:xfrm>
          <a:prstGeom prst="rect">
            <a:avLst/>
          </a:prstGeom>
          <a:noFill/>
          <a:ln/>
        </p:spPr>
        <p:txBody>
          <a:bodyPr wrap="square" lIns="0" tIns="0" rIns="0" bIns="0" rtlCol="0" anchor="ctr"/>
          <a:lstStyle/>
          <a:p>
            <a:pPr marL="0" indent="0">
              <a:buNone/>
            </a:pPr>
            <a:r>
              <a:rPr lang="en-US" sz="1500" b="1" i="1" dirty="0">
                <a:solidFill>
                  <a:srgbClr val="8E2DE2"/>
                </a:solidFill>
                <a:latin typeface="Calibri" pitchFamily="34" charset="0"/>
                <a:ea typeface="Calibri" pitchFamily="34" charset="-122"/>
                <a:cs typeface="Calibri" pitchFamily="34" charset="-120"/>
              </a:rPr>
              <a:t>Inspiré de Plug &amp; Play</a:t>
            </a:r>
            <a:endParaRPr lang="en-US" sz="1500" dirty="0"/>
          </a:p>
        </p:txBody>
      </p:sp>
      <p:sp>
        <p:nvSpPr>
          <p:cNvPr id="8" name="Shape 6"/>
          <p:cNvSpPr/>
          <p:nvPr/>
        </p:nvSpPr>
        <p:spPr>
          <a:xfrm>
            <a:off x="6217920" y="2103120"/>
            <a:ext cx="5257800" cy="1691640"/>
          </a:xfrm>
          <a:prstGeom prst="rect">
            <a:avLst/>
          </a:prstGeom>
          <a:solidFill>
            <a:srgbClr val="EAF5EE"/>
          </a:solidFill>
          <a:ln/>
          <a:effectLst>
            <a:outerShdw blurRad="152400" dist="38100" dir="2700000" algn="bl" rotWithShape="0">
              <a:srgbClr val="000000">
                <a:alpha val="15000"/>
              </a:srgbClr>
            </a:outerShdw>
          </a:effectLst>
        </p:spPr>
      </p:sp>
      <p:sp>
        <p:nvSpPr>
          <p:cNvPr id="9" name="Text 7"/>
          <p:cNvSpPr/>
          <p:nvPr/>
        </p:nvSpPr>
        <p:spPr>
          <a:xfrm>
            <a:off x="6446520" y="2240280"/>
            <a:ext cx="4800600" cy="365760"/>
          </a:xfrm>
          <a:prstGeom prst="rect">
            <a:avLst/>
          </a:prstGeom>
          <a:noFill/>
          <a:ln/>
        </p:spPr>
        <p:txBody>
          <a:bodyPr wrap="square" lIns="0" tIns="0" rIns="0" bIns="0" rtlCol="0" anchor="ctr"/>
          <a:lstStyle/>
          <a:p>
            <a:pPr marL="0" indent="0">
              <a:buNone/>
            </a:pPr>
            <a:r>
              <a:rPr lang="en-US" sz="1850" b="1" dirty="0">
                <a:solidFill>
                  <a:srgbClr val="000000"/>
                </a:solidFill>
                <a:latin typeface="Calibri" pitchFamily="34" charset="0"/>
                <a:ea typeface="Calibri" pitchFamily="34" charset="-122"/>
                <a:cs typeface="Calibri" pitchFamily="34" charset="-120"/>
              </a:rPr>
              <a:t>10 · La demande</a:t>
            </a:r>
            <a:endParaRPr lang="en-US" sz="1850" dirty="0"/>
          </a:p>
        </p:txBody>
      </p:sp>
      <p:sp>
        <p:nvSpPr>
          <p:cNvPr id="10" name="Text 8"/>
          <p:cNvSpPr/>
          <p:nvPr/>
        </p:nvSpPr>
        <p:spPr>
          <a:xfrm>
            <a:off x="6446520" y="2606040"/>
            <a:ext cx="4800600" cy="868680"/>
          </a:xfrm>
          <a:prstGeom prst="rect">
            <a:avLst/>
          </a:prstGeom>
          <a:noFill/>
          <a:ln/>
        </p:spPr>
        <p:txBody>
          <a:bodyPr wrap="square" lIns="0" tIns="0" rIns="0" bIns="0" rtlCol="0" anchor="ctr"/>
          <a:lstStyle/>
          <a:p>
            <a:pPr marL="0" indent="0">
              <a:lnSpc>
                <a:spcPct val="115000"/>
              </a:lnSpc>
              <a:buNone/>
            </a:pPr>
            <a:r>
              <a:rPr lang="en-US" sz="1700" dirty="0">
                <a:solidFill>
                  <a:srgbClr val="1A1A1A"/>
                </a:solidFill>
                <a:latin typeface="Calibri" pitchFamily="34" charset="0"/>
                <a:ea typeface="Calibri" pitchFamily="34" charset="-122"/>
                <a:cs typeface="Calibri" pitchFamily="34" charset="-120"/>
              </a:rPr>
              <a:t>Mentorat, investissement, partenariat, client pilote — un partenaire cible nommé.</a:t>
            </a:r>
            <a:endParaRPr lang="en-US" sz="1700" dirty="0"/>
          </a:p>
        </p:txBody>
      </p:sp>
      <p:sp>
        <p:nvSpPr>
          <p:cNvPr id="11" name="Text 9"/>
          <p:cNvSpPr/>
          <p:nvPr/>
        </p:nvSpPr>
        <p:spPr>
          <a:xfrm>
            <a:off x="6446520" y="3447288"/>
            <a:ext cx="4800600" cy="292608"/>
          </a:xfrm>
          <a:prstGeom prst="rect">
            <a:avLst/>
          </a:prstGeom>
          <a:noFill/>
          <a:ln/>
        </p:spPr>
        <p:txBody>
          <a:bodyPr wrap="square" lIns="0" tIns="0" rIns="0" bIns="0" rtlCol="0" anchor="ctr"/>
          <a:lstStyle/>
          <a:p>
            <a:pPr marL="0" indent="0">
              <a:buNone/>
            </a:pPr>
            <a:r>
              <a:rPr lang="en-US" sz="1500" b="1" i="1" dirty="0">
                <a:solidFill>
                  <a:srgbClr val="8E2DE2"/>
                </a:solidFill>
                <a:latin typeface="Calibri" pitchFamily="34" charset="0"/>
                <a:ea typeface="Calibri" pitchFamily="34" charset="-122"/>
                <a:cs typeface="Calibri" pitchFamily="34" charset="-120"/>
              </a:rPr>
              <a:t>Inspiré de Plug &amp; Play</a:t>
            </a:r>
            <a:endParaRPr lang="en-US" sz="1500" dirty="0"/>
          </a:p>
        </p:txBody>
      </p:sp>
      <p:sp>
        <p:nvSpPr>
          <p:cNvPr id="12" name="Shape 10"/>
          <p:cNvSpPr/>
          <p:nvPr/>
        </p:nvSpPr>
        <p:spPr>
          <a:xfrm>
            <a:off x="640080" y="4050792"/>
            <a:ext cx="5257800" cy="1691640"/>
          </a:xfrm>
          <a:prstGeom prst="rect">
            <a:avLst/>
          </a:prstGeom>
          <a:solidFill>
            <a:srgbClr val="EAF5EE"/>
          </a:solidFill>
          <a:ln/>
          <a:effectLst>
            <a:outerShdw blurRad="152400" dist="38100" dir="2700000" algn="bl" rotWithShape="0">
              <a:srgbClr val="000000">
                <a:alpha val="15000"/>
              </a:srgbClr>
            </a:outerShdw>
          </a:effectLst>
        </p:spPr>
      </p:sp>
      <p:sp>
        <p:nvSpPr>
          <p:cNvPr id="13" name="Text 11"/>
          <p:cNvSpPr/>
          <p:nvPr/>
        </p:nvSpPr>
        <p:spPr>
          <a:xfrm>
            <a:off x="868680" y="4187952"/>
            <a:ext cx="4800600" cy="365760"/>
          </a:xfrm>
          <a:prstGeom prst="rect">
            <a:avLst/>
          </a:prstGeom>
          <a:noFill/>
          <a:ln/>
        </p:spPr>
        <p:txBody>
          <a:bodyPr wrap="square" lIns="0" tIns="0" rIns="0" bIns="0" rtlCol="0" anchor="ctr"/>
          <a:lstStyle/>
          <a:p>
            <a:pPr marL="0" indent="0">
              <a:buNone/>
            </a:pPr>
            <a:r>
              <a:rPr lang="en-US" sz="1850" b="1" dirty="0">
                <a:solidFill>
                  <a:srgbClr val="000000"/>
                </a:solidFill>
                <a:latin typeface="Calibri" pitchFamily="34" charset="0"/>
                <a:ea typeface="Calibri" pitchFamily="34" charset="-122"/>
                <a:cs typeface="Calibri" pitchFamily="34" charset="-120"/>
              </a:rPr>
              <a:t>11 · Traction &amp; Preuve</a:t>
            </a:r>
            <a:endParaRPr lang="en-US" sz="1850" dirty="0"/>
          </a:p>
        </p:txBody>
      </p:sp>
      <p:sp>
        <p:nvSpPr>
          <p:cNvPr id="14" name="Text 12"/>
          <p:cNvSpPr/>
          <p:nvPr/>
        </p:nvSpPr>
        <p:spPr>
          <a:xfrm>
            <a:off x="868680" y="4553712"/>
            <a:ext cx="4800600" cy="868680"/>
          </a:xfrm>
          <a:prstGeom prst="rect">
            <a:avLst/>
          </a:prstGeom>
          <a:noFill/>
          <a:ln/>
        </p:spPr>
        <p:txBody>
          <a:bodyPr wrap="square" lIns="0" tIns="0" rIns="0" bIns="0" rtlCol="0" anchor="ctr"/>
          <a:lstStyle/>
          <a:p>
            <a:pPr marL="0" indent="0">
              <a:lnSpc>
                <a:spcPct val="115000"/>
              </a:lnSpc>
              <a:buNone/>
            </a:pPr>
            <a:r>
              <a:rPr lang="en-US" sz="1700" dirty="0">
                <a:solidFill>
                  <a:srgbClr val="1A1A1A"/>
                </a:solidFill>
                <a:latin typeface="Calibri" pitchFamily="34" charset="0"/>
                <a:ea typeface="Calibri" pitchFamily="34" charset="-122"/>
                <a:cs typeface="Calibri" pitchFamily="34" charset="-120"/>
              </a:rPr>
              <a:t>Utilisateurs testés, taux d'adoption, lettre d'intention, premier pilote signé.</a:t>
            </a:r>
            <a:endParaRPr lang="en-US" sz="1700" dirty="0"/>
          </a:p>
        </p:txBody>
      </p:sp>
      <p:sp>
        <p:nvSpPr>
          <p:cNvPr id="15" name="Text 13"/>
          <p:cNvSpPr/>
          <p:nvPr/>
        </p:nvSpPr>
        <p:spPr>
          <a:xfrm>
            <a:off x="868680" y="5394960"/>
            <a:ext cx="4800600" cy="292608"/>
          </a:xfrm>
          <a:prstGeom prst="rect">
            <a:avLst/>
          </a:prstGeom>
          <a:noFill/>
          <a:ln/>
        </p:spPr>
        <p:txBody>
          <a:bodyPr wrap="square" lIns="0" tIns="0" rIns="0" bIns="0" rtlCol="0" anchor="ctr"/>
          <a:lstStyle/>
          <a:p>
            <a:pPr marL="0" indent="0">
              <a:buNone/>
            </a:pPr>
            <a:r>
              <a:rPr lang="en-US" sz="1500" b="1" i="1" dirty="0">
                <a:solidFill>
                  <a:srgbClr val="8E2DE2"/>
                </a:solidFill>
                <a:latin typeface="Calibri" pitchFamily="34" charset="0"/>
                <a:ea typeface="Calibri" pitchFamily="34" charset="-122"/>
                <a:cs typeface="Calibri" pitchFamily="34" charset="-120"/>
              </a:rPr>
              <a:t>Inspiré de 500 Global — slide ajoutée</a:t>
            </a:r>
            <a:endParaRPr lang="en-US" sz="1500" dirty="0"/>
          </a:p>
        </p:txBody>
      </p:sp>
      <p:sp>
        <p:nvSpPr>
          <p:cNvPr id="16" name="Shape 14"/>
          <p:cNvSpPr/>
          <p:nvPr/>
        </p:nvSpPr>
        <p:spPr>
          <a:xfrm>
            <a:off x="6217920" y="4050792"/>
            <a:ext cx="5257800" cy="1691640"/>
          </a:xfrm>
          <a:prstGeom prst="rect">
            <a:avLst/>
          </a:prstGeom>
          <a:solidFill>
            <a:srgbClr val="155D36"/>
          </a:solidFill>
          <a:ln/>
          <a:effectLst>
            <a:outerShdw blurRad="152400" dist="38100" dir="2700000" algn="bl" rotWithShape="0">
              <a:srgbClr val="000000">
                <a:alpha val="15000"/>
              </a:srgbClr>
            </a:outerShdw>
          </a:effectLst>
        </p:spPr>
      </p:sp>
      <p:sp>
        <p:nvSpPr>
          <p:cNvPr id="17" name="Text 15"/>
          <p:cNvSpPr/>
          <p:nvPr/>
        </p:nvSpPr>
        <p:spPr>
          <a:xfrm>
            <a:off x="6446520" y="4187952"/>
            <a:ext cx="4800600" cy="365760"/>
          </a:xfrm>
          <a:prstGeom prst="rect">
            <a:avLst/>
          </a:prstGeom>
          <a:noFill/>
          <a:ln/>
        </p:spPr>
        <p:txBody>
          <a:bodyPr wrap="square" lIns="0" tIns="0" rIns="0" bIns="0" rtlCol="0" anchor="ctr"/>
          <a:lstStyle/>
          <a:p>
            <a:pPr marL="0" indent="0">
              <a:buNone/>
            </a:pPr>
            <a:r>
              <a:rPr lang="en-US" sz="1850" b="1" dirty="0">
                <a:solidFill>
                  <a:srgbClr val="FFFFFF"/>
                </a:solidFill>
                <a:latin typeface="Calibri" pitchFamily="34" charset="0"/>
                <a:ea typeface="Calibri" pitchFamily="34" charset="-122"/>
                <a:cs typeface="Calibri" pitchFamily="34" charset="-120"/>
              </a:rPr>
              <a:t>Recommandation</a:t>
            </a:r>
            <a:endParaRPr lang="en-US" sz="1850" dirty="0"/>
          </a:p>
        </p:txBody>
      </p:sp>
      <p:sp>
        <p:nvSpPr>
          <p:cNvPr id="18" name="Text 16"/>
          <p:cNvSpPr/>
          <p:nvPr/>
        </p:nvSpPr>
        <p:spPr>
          <a:xfrm>
            <a:off x="6446520" y="4553712"/>
            <a:ext cx="4800600" cy="868680"/>
          </a:xfrm>
          <a:prstGeom prst="rect">
            <a:avLst/>
          </a:prstGeom>
          <a:noFill/>
          <a:ln/>
        </p:spPr>
        <p:txBody>
          <a:bodyPr wrap="square" lIns="0" tIns="0" rIns="0" bIns="0" rtlCol="0" anchor="ctr"/>
          <a:lstStyle/>
          <a:p>
            <a:pPr marL="0" indent="0">
              <a:lnSpc>
                <a:spcPct val="115000"/>
              </a:lnSpc>
              <a:buNone/>
            </a:pPr>
            <a:r>
              <a:rPr lang="en-US" sz="1700" dirty="0">
                <a:solidFill>
                  <a:srgbClr val="FFFFFF"/>
                </a:solidFill>
                <a:latin typeface="Calibri" pitchFamily="34" charset="0"/>
                <a:ea typeface="Calibri" pitchFamily="34" charset="-122"/>
                <a:cs typeface="Calibri" pitchFamily="34" charset="-120"/>
              </a:rPr>
              <a:t>Présentez ces 3 slides comme un seul bloc : Feuille de route → Demande → Traction. C'est le moment précis où le jury décide s'il vous fait confiance pour exécuter.</a:t>
            </a:r>
            <a:endParaRPr lang="en-US" sz="1700" dirty="0"/>
          </a:p>
        </p:txBody>
      </p:sp>
      <p:sp>
        <p:nvSpPr>
          <p:cNvPr id="19" name="Text 17"/>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20" name="Text 18"/>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13</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9601200" y="4297680"/>
            <a:ext cx="4114800" cy="4114800"/>
          </a:xfrm>
          <a:prstGeom prst="ellipse">
            <a:avLst/>
          </a:prstGeom>
          <a:solidFill>
            <a:srgbClr val="155D36"/>
          </a:solidFill>
          <a:ln/>
        </p:spPr>
      </p:sp>
      <p:sp>
        <p:nvSpPr>
          <p:cNvPr id="3" name="Shape 1"/>
          <p:cNvSpPr/>
          <p:nvPr/>
        </p:nvSpPr>
        <p:spPr>
          <a:xfrm>
            <a:off x="822960" y="1554480"/>
            <a:ext cx="1051560" cy="1051560"/>
          </a:xfrm>
          <a:prstGeom prst="ellipse">
            <a:avLst/>
          </a:prstGeom>
          <a:solidFill>
            <a:srgbClr val="8E2DE2"/>
          </a:solidFill>
          <a:ln/>
        </p:spPr>
      </p:sp>
      <p:pic>
        <p:nvPicPr>
          <p:cNvPr id="4" name="Image 0" descr="preencoded.png"/>
          <p:cNvPicPr>
            <a:picLocks noChangeAspect="1"/>
          </p:cNvPicPr>
          <p:nvPr/>
        </p:nvPicPr>
        <p:blipFill>
          <a:blip r:embed="rId3"/>
          <a:stretch>
            <a:fillRect/>
          </a:stretch>
        </p:blipFill>
        <p:spPr>
          <a:xfrm>
            <a:off x="949147" y="1680667"/>
            <a:ext cx="799186" cy="799186"/>
          </a:xfrm>
          <a:prstGeom prst="rect">
            <a:avLst/>
          </a:prstGeom>
        </p:spPr>
      </p:pic>
      <p:sp>
        <p:nvSpPr>
          <p:cNvPr id="5" name="Text 2"/>
          <p:cNvSpPr/>
          <p:nvPr/>
        </p:nvSpPr>
        <p:spPr>
          <a:xfrm>
            <a:off x="822960" y="2788920"/>
            <a:ext cx="10360152" cy="411480"/>
          </a:xfrm>
          <a:prstGeom prst="rect">
            <a:avLst/>
          </a:prstGeom>
          <a:noFill/>
          <a:ln/>
        </p:spPr>
        <p:txBody>
          <a:bodyPr wrap="square" lIns="0" tIns="0" rIns="0" bIns="0" rtlCol="0" anchor="ctr"/>
          <a:lstStyle/>
          <a:p>
            <a:pPr marL="0" indent="0">
              <a:buNone/>
            </a:pPr>
            <a:r>
              <a:rPr lang="en-US" sz="1900" b="1" kern="0" spc="200" dirty="0">
                <a:solidFill>
                  <a:srgbClr val="8E2DE2"/>
                </a:solidFill>
                <a:latin typeface="Calibri" pitchFamily="34" charset="0"/>
                <a:ea typeface="Calibri" pitchFamily="34" charset="-122"/>
                <a:cs typeface="Calibri" pitchFamily="34" charset="-120"/>
              </a:rPr>
              <a:t>SÉQUENCE 3</a:t>
            </a:r>
            <a:endParaRPr lang="en-US" sz="1900" dirty="0"/>
          </a:p>
        </p:txBody>
      </p:sp>
      <p:sp>
        <p:nvSpPr>
          <p:cNvPr id="6" name="Text 3"/>
          <p:cNvSpPr/>
          <p:nvPr/>
        </p:nvSpPr>
        <p:spPr>
          <a:xfrm>
            <a:off x="822960" y="3200400"/>
            <a:ext cx="10360152"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Storytelling qui marque les esprits</a:t>
            </a:r>
            <a:endParaRPr lang="en-US" sz="4000" dirty="0"/>
          </a:p>
        </p:txBody>
      </p:sp>
      <p:sp>
        <p:nvSpPr>
          <p:cNvPr id="7" name="Text 4"/>
          <p:cNvSpPr/>
          <p:nvPr/>
        </p:nvSpPr>
        <p:spPr>
          <a:xfrm>
            <a:off x="822960" y="4343400"/>
            <a:ext cx="9902952" cy="731520"/>
          </a:xfrm>
          <a:prstGeom prst="rect">
            <a:avLst/>
          </a:prstGeom>
          <a:noFill/>
          <a:ln/>
        </p:spPr>
        <p:txBody>
          <a:bodyPr wrap="square" lIns="0" tIns="0" rIns="0" bIns="0" rtlCol="0" anchor="ctr"/>
          <a:lstStyle/>
          <a:p>
            <a:pPr marL="0" indent="0">
              <a:buNone/>
            </a:pPr>
            <a:r>
              <a:rPr lang="en-US" sz="2050" i="1" dirty="0">
                <a:solidFill>
                  <a:srgbClr val="EAF5EE"/>
                </a:solidFill>
                <a:latin typeface="Calibri" pitchFamily="34" charset="0"/>
                <a:ea typeface="Calibri" pitchFamily="34" charset="-122"/>
                <a:cs typeface="Calibri" pitchFamily="34" charset="-120"/>
              </a:rPr>
              <a:t>Les jurés se souviennent des histoires — 25 minutes</a:t>
            </a:r>
            <a:endParaRPr lang="en-US" sz="2050" dirty="0"/>
          </a:p>
        </p:txBody>
      </p:sp>
      <p:sp>
        <p:nvSpPr>
          <p:cNvPr id="8" name="Text 5"/>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9" name="Text 6"/>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14</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411480"/>
          </a:xfrm>
          <a:prstGeom prst="rect">
            <a:avLst/>
          </a:prstGeom>
          <a:noFill/>
          <a:ln/>
        </p:spPr>
        <p:txBody>
          <a:bodyPr wrap="square" lIns="0" tIns="0" rIns="0" bIns="0" rtlCol="0" anchor="ctr"/>
          <a:lstStyle/>
          <a:p>
            <a:pPr marL="0" indent="0">
              <a:buNone/>
            </a:pPr>
            <a:r>
              <a:rPr lang="en-US" sz="1900" b="1" kern="0" spc="200" dirty="0">
                <a:solidFill>
                  <a:srgbClr val="8E2DE2"/>
                </a:solidFill>
                <a:latin typeface="Calibri" pitchFamily="34" charset="0"/>
                <a:ea typeface="Calibri" pitchFamily="34" charset="-122"/>
                <a:cs typeface="Calibri" pitchFamily="34" charset="-120"/>
              </a:rPr>
              <a:t>SÉQUENCE 3</a:t>
            </a:r>
            <a:endParaRPr lang="en-US" sz="1900" dirty="0"/>
          </a:p>
        </p:txBody>
      </p:sp>
      <p:sp>
        <p:nvSpPr>
          <p:cNvPr id="3" name="Text 1"/>
          <p:cNvSpPr/>
          <p:nvPr/>
        </p:nvSpPr>
        <p:spPr>
          <a:xfrm>
            <a:off x="640080" y="868680"/>
            <a:ext cx="10908792" cy="1188720"/>
          </a:xfrm>
          <a:prstGeom prst="rect">
            <a:avLst/>
          </a:prstGeom>
          <a:noFill/>
          <a:ln/>
        </p:spPr>
        <p:txBody>
          <a:bodyPr wrap="square" lIns="0" tIns="0" rIns="0" bIns="0" rtlCol="0" anchor="t"/>
          <a:lstStyle/>
          <a:p>
            <a:pPr marL="0" indent="0">
              <a:buNone/>
            </a:pPr>
            <a:r>
              <a:rPr lang="en-US" sz="4200" b="1" dirty="0">
                <a:solidFill>
                  <a:srgbClr val="000000"/>
                </a:solidFill>
                <a:latin typeface="Cambria" pitchFamily="34" charset="0"/>
                <a:ea typeface="Cambria" pitchFamily="34" charset="-122"/>
                <a:cs typeface="Cambria" pitchFamily="34" charset="-120"/>
              </a:rPr>
              <a:t>La structure narrative en 6 étapes</a:t>
            </a:r>
            <a:endParaRPr lang="en-US" sz="4200" dirty="0"/>
          </a:p>
        </p:txBody>
      </p:sp>
      <p:sp>
        <p:nvSpPr>
          <p:cNvPr id="4" name="Shape 2"/>
          <p:cNvSpPr/>
          <p:nvPr/>
        </p:nvSpPr>
        <p:spPr>
          <a:xfrm>
            <a:off x="640080" y="2103120"/>
            <a:ext cx="1665732" cy="1097280"/>
          </a:xfrm>
          <a:prstGeom prst="rect">
            <a:avLst/>
          </a:prstGeom>
          <a:solidFill>
            <a:srgbClr val="000000"/>
          </a:solidFill>
          <a:ln/>
        </p:spPr>
      </p:sp>
      <p:sp>
        <p:nvSpPr>
          <p:cNvPr id="5" name="Text 3"/>
          <p:cNvSpPr/>
          <p:nvPr/>
        </p:nvSpPr>
        <p:spPr>
          <a:xfrm>
            <a:off x="640080" y="2194560"/>
            <a:ext cx="1665732" cy="320040"/>
          </a:xfrm>
          <a:prstGeom prst="rect">
            <a:avLst/>
          </a:prstGeom>
          <a:noFill/>
          <a:ln/>
        </p:spPr>
        <p:txBody>
          <a:bodyPr wrap="square" lIns="0" tIns="0" rIns="0" bIns="0" rtlCol="0" anchor="ctr"/>
          <a:lstStyle/>
          <a:p>
            <a:pPr marL="0" indent="0" algn="ctr">
              <a:buNone/>
            </a:pPr>
            <a:r>
              <a:rPr lang="en-US" sz="1700" b="1" dirty="0">
                <a:solidFill>
                  <a:srgbClr val="8E2DE2"/>
                </a:solidFill>
                <a:latin typeface="Calibri" pitchFamily="34" charset="0"/>
                <a:ea typeface="Calibri" pitchFamily="34" charset="-122"/>
                <a:cs typeface="Calibri" pitchFamily="34" charset="-120"/>
              </a:rPr>
              <a:t>1</a:t>
            </a:r>
            <a:endParaRPr lang="en-US" sz="1700" dirty="0"/>
          </a:p>
        </p:txBody>
      </p:sp>
      <p:sp>
        <p:nvSpPr>
          <p:cNvPr id="6" name="Text 4"/>
          <p:cNvSpPr/>
          <p:nvPr/>
        </p:nvSpPr>
        <p:spPr>
          <a:xfrm>
            <a:off x="685800" y="2487168"/>
            <a:ext cx="1574292" cy="685800"/>
          </a:xfrm>
          <a:prstGeom prst="rect">
            <a:avLst/>
          </a:prstGeom>
          <a:noFill/>
          <a:ln/>
        </p:spPr>
        <p:txBody>
          <a:bodyPr wrap="square" lIns="0" tIns="0" rIns="0" bIns="0"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Problème</a:t>
            </a:r>
            <a:endParaRPr lang="en-US" sz="1750" dirty="0"/>
          </a:p>
        </p:txBody>
      </p:sp>
      <p:sp>
        <p:nvSpPr>
          <p:cNvPr id="7" name="Text 5"/>
          <p:cNvSpPr/>
          <p:nvPr/>
        </p:nvSpPr>
        <p:spPr>
          <a:xfrm>
            <a:off x="2287524" y="2423160"/>
            <a:ext cx="457200" cy="457200"/>
          </a:xfrm>
          <a:prstGeom prst="rect">
            <a:avLst/>
          </a:prstGeom>
          <a:noFill/>
          <a:ln/>
        </p:spPr>
        <p:txBody>
          <a:bodyPr wrap="square" lIns="0" tIns="0" rIns="0" bIns="0" rtlCol="0" anchor="ctr"/>
          <a:lstStyle/>
          <a:p>
            <a:pPr marL="0" indent="0" algn="ctr">
              <a:buNone/>
            </a:pPr>
            <a:r>
              <a:rPr lang="en-US" sz="2000" b="1" dirty="0">
                <a:solidFill>
                  <a:srgbClr val="6E6E6E"/>
                </a:solidFill>
                <a:latin typeface="Calibri" pitchFamily="34" charset="0"/>
                <a:ea typeface="Calibri" pitchFamily="34" charset="-122"/>
                <a:cs typeface="Calibri" pitchFamily="34" charset="-120"/>
              </a:rPr>
              <a:t>→</a:t>
            </a:r>
            <a:endParaRPr lang="en-US" sz="2000" dirty="0"/>
          </a:p>
        </p:txBody>
      </p:sp>
      <p:sp>
        <p:nvSpPr>
          <p:cNvPr id="8" name="Text 6"/>
          <p:cNvSpPr/>
          <p:nvPr/>
        </p:nvSpPr>
        <p:spPr>
          <a:xfrm>
            <a:off x="594360" y="3291840"/>
            <a:ext cx="1757172" cy="640080"/>
          </a:xfrm>
          <a:prstGeom prst="rect">
            <a:avLst/>
          </a:prstGeom>
          <a:noFill/>
          <a:ln/>
        </p:spPr>
        <p:txBody>
          <a:bodyPr wrap="square" lIns="0" tIns="0" rIns="0" bIns="0" rtlCol="0" anchor="ctr"/>
          <a:lstStyle/>
          <a:p>
            <a:pPr marL="0" indent="0" algn="ctr">
              <a:lnSpc>
                <a:spcPct val="110000"/>
              </a:lnSpc>
              <a:buNone/>
            </a:pPr>
            <a:r>
              <a:rPr lang="en-US" sz="1500" b="1" dirty="0">
                <a:solidFill>
                  <a:srgbClr val="1A1A1A"/>
                </a:solidFill>
                <a:latin typeface="Calibri" pitchFamily="34" charset="0"/>
                <a:ea typeface="Calibri" pitchFamily="34" charset="-122"/>
                <a:cs typeface="Calibri" pitchFamily="34" charset="-120"/>
              </a:rPr>
              <a:t>Douleur réelle, chiffrée</a:t>
            </a:r>
            <a:endParaRPr lang="en-US" sz="1500" b="1" dirty="0"/>
          </a:p>
        </p:txBody>
      </p:sp>
      <p:sp>
        <p:nvSpPr>
          <p:cNvPr id="9" name="Shape 7"/>
          <p:cNvSpPr/>
          <p:nvPr/>
        </p:nvSpPr>
        <p:spPr>
          <a:xfrm>
            <a:off x="2488692" y="2103120"/>
            <a:ext cx="1665732" cy="1097280"/>
          </a:xfrm>
          <a:prstGeom prst="rect">
            <a:avLst/>
          </a:prstGeom>
          <a:solidFill>
            <a:srgbClr val="8E2DE2"/>
          </a:solidFill>
          <a:ln/>
        </p:spPr>
      </p:sp>
      <p:sp>
        <p:nvSpPr>
          <p:cNvPr id="10" name="Text 8"/>
          <p:cNvSpPr/>
          <p:nvPr/>
        </p:nvSpPr>
        <p:spPr>
          <a:xfrm>
            <a:off x="2488692" y="2194560"/>
            <a:ext cx="1665732" cy="320040"/>
          </a:xfrm>
          <a:prstGeom prst="rect">
            <a:avLst/>
          </a:prstGeom>
          <a:noFill/>
          <a:ln/>
        </p:spPr>
        <p:txBody>
          <a:bodyPr wrap="square" lIns="0" tIns="0" rIns="0" bIns="0" rtlCol="0" anchor="ctr"/>
          <a:lstStyle/>
          <a:p>
            <a:pPr marL="0" indent="0" algn="ctr">
              <a:buNone/>
            </a:pPr>
            <a:r>
              <a:rPr lang="en-US" sz="1700" b="1" dirty="0">
                <a:solidFill>
                  <a:srgbClr val="000000"/>
                </a:solidFill>
                <a:latin typeface="Calibri" pitchFamily="34" charset="0"/>
                <a:ea typeface="Calibri" pitchFamily="34" charset="-122"/>
                <a:cs typeface="Calibri" pitchFamily="34" charset="-120"/>
              </a:rPr>
              <a:t>2</a:t>
            </a:r>
            <a:endParaRPr lang="en-US" sz="1700" dirty="0"/>
          </a:p>
        </p:txBody>
      </p:sp>
      <p:sp>
        <p:nvSpPr>
          <p:cNvPr id="11" name="Text 9"/>
          <p:cNvSpPr/>
          <p:nvPr/>
        </p:nvSpPr>
        <p:spPr>
          <a:xfrm>
            <a:off x="2534412" y="2487168"/>
            <a:ext cx="1574292" cy="685800"/>
          </a:xfrm>
          <a:prstGeom prst="rect">
            <a:avLst/>
          </a:prstGeom>
          <a:noFill/>
          <a:ln/>
        </p:spPr>
        <p:txBody>
          <a:bodyPr wrap="square" lIns="0" tIns="0" rIns="0" bIns="0" rtlCol="0" anchor="ctr"/>
          <a:lstStyle/>
          <a:p>
            <a:pPr marL="0" indent="0" algn="ctr">
              <a:buNone/>
            </a:pPr>
            <a:r>
              <a:rPr lang="en-US" sz="1750" b="1" dirty="0">
                <a:solidFill>
                  <a:srgbClr val="000000"/>
                </a:solidFill>
                <a:latin typeface="Calibri" pitchFamily="34" charset="0"/>
                <a:ea typeface="Calibri" pitchFamily="34" charset="-122"/>
                <a:cs typeface="Calibri" pitchFamily="34" charset="-120"/>
              </a:rPr>
              <a:t>Héros</a:t>
            </a:r>
            <a:endParaRPr lang="en-US" sz="1750" dirty="0"/>
          </a:p>
        </p:txBody>
      </p:sp>
      <p:sp>
        <p:nvSpPr>
          <p:cNvPr id="12" name="Text 10"/>
          <p:cNvSpPr/>
          <p:nvPr/>
        </p:nvSpPr>
        <p:spPr>
          <a:xfrm>
            <a:off x="4136136" y="2423160"/>
            <a:ext cx="457200" cy="457200"/>
          </a:xfrm>
          <a:prstGeom prst="rect">
            <a:avLst/>
          </a:prstGeom>
          <a:noFill/>
          <a:ln/>
        </p:spPr>
        <p:txBody>
          <a:bodyPr wrap="square" lIns="0" tIns="0" rIns="0" bIns="0" rtlCol="0" anchor="ctr"/>
          <a:lstStyle/>
          <a:p>
            <a:pPr marL="0" indent="0" algn="ctr">
              <a:buNone/>
            </a:pPr>
            <a:r>
              <a:rPr lang="en-US" sz="2000" b="1" dirty="0">
                <a:solidFill>
                  <a:srgbClr val="6E6E6E"/>
                </a:solidFill>
                <a:latin typeface="Calibri" pitchFamily="34" charset="0"/>
                <a:ea typeface="Calibri" pitchFamily="34" charset="-122"/>
                <a:cs typeface="Calibri" pitchFamily="34" charset="-120"/>
              </a:rPr>
              <a:t>→</a:t>
            </a:r>
            <a:endParaRPr lang="en-US" sz="2000" dirty="0"/>
          </a:p>
        </p:txBody>
      </p:sp>
      <p:sp>
        <p:nvSpPr>
          <p:cNvPr id="13" name="Text 11"/>
          <p:cNvSpPr/>
          <p:nvPr/>
        </p:nvSpPr>
        <p:spPr>
          <a:xfrm>
            <a:off x="2442972" y="3291840"/>
            <a:ext cx="1757172" cy="640080"/>
          </a:xfrm>
          <a:prstGeom prst="rect">
            <a:avLst/>
          </a:prstGeom>
          <a:noFill/>
          <a:ln/>
        </p:spPr>
        <p:txBody>
          <a:bodyPr wrap="square" lIns="0" tIns="0" rIns="0" bIns="0" rtlCol="0" anchor="ctr"/>
          <a:lstStyle/>
          <a:p>
            <a:pPr marL="0" indent="0" algn="ctr">
              <a:lnSpc>
                <a:spcPct val="110000"/>
              </a:lnSpc>
              <a:buNone/>
            </a:pPr>
            <a:r>
              <a:rPr lang="en-US" sz="1500" b="1" dirty="0">
                <a:solidFill>
                  <a:srgbClr val="1A1A1A"/>
                </a:solidFill>
                <a:latin typeface="Calibri" pitchFamily="34" charset="0"/>
                <a:ea typeface="Calibri" pitchFamily="34" charset="-122"/>
                <a:cs typeface="Calibri" pitchFamily="34" charset="-120"/>
              </a:rPr>
              <a:t>Qui la vit au quotidien</a:t>
            </a:r>
            <a:endParaRPr lang="en-US" sz="1500" b="1" dirty="0"/>
          </a:p>
        </p:txBody>
      </p:sp>
      <p:sp>
        <p:nvSpPr>
          <p:cNvPr id="14" name="Shape 12"/>
          <p:cNvSpPr/>
          <p:nvPr/>
        </p:nvSpPr>
        <p:spPr>
          <a:xfrm>
            <a:off x="4337304" y="2103120"/>
            <a:ext cx="1665732" cy="1097280"/>
          </a:xfrm>
          <a:prstGeom prst="rect">
            <a:avLst/>
          </a:prstGeom>
          <a:solidFill>
            <a:srgbClr val="000000"/>
          </a:solidFill>
          <a:ln/>
        </p:spPr>
      </p:sp>
      <p:sp>
        <p:nvSpPr>
          <p:cNvPr id="15" name="Text 13"/>
          <p:cNvSpPr/>
          <p:nvPr/>
        </p:nvSpPr>
        <p:spPr>
          <a:xfrm>
            <a:off x="4337304" y="2194560"/>
            <a:ext cx="1665732" cy="320040"/>
          </a:xfrm>
          <a:prstGeom prst="rect">
            <a:avLst/>
          </a:prstGeom>
          <a:noFill/>
          <a:ln/>
        </p:spPr>
        <p:txBody>
          <a:bodyPr wrap="square" lIns="0" tIns="0" rIns="0" bIns="0" rtlCol="0" anchor="ctr"/>
          <a:lstStyle/>
          <a:p>
            <a:pPr marL="0" indent="0" algn="ctr">
              <a:buNone/>
            </a:pPr>
            <a:r>
              <a:rPr lang="en-US" sz="1700" b="1" dirty="0">
                <a:solidFill>
                  <a:srgbClr val="8E2DE2"/>
                </a:solidFill>
                <a:latin typeface="Calibri" pitchFamily="34" charset="0"/>
                <a:ea typeface="Calibri" pitchFamily="34" charset="-122"/>
                <a:cs typeface="Calibri" pitchFamily="34" charset="-120"/>
              </a:rPr>
              <a:t>3</a:t>
            </a:r>
            <a:endParaRPr lang="en-US" sz="1700" dirty="0"/>
          </a:p>
        </p:txBody>
      </p:sp>
      <p:sp>
        <p:nvSpPr>
          <p:cNvPr id="16" name="Text 14"/>
          <p:cNvSpPr/>
          <p:nvPr/>
        </p:nvSpPr>
        <p:spPr>
          <a:xfrm>
            <a:off x="4383024" y="2487168"/>
            <a:ext cx="1574292" cy="685800"/>
          </a:xfrm>
          <a:prstGeom prst="rect">
            <a:avLst/>
          </a:prstGeom>
          <a:noFill/>
          <a:ln/>
        </p:spPr>
        <p:txBody>
          <a:bodyPr wrap="square" lIns="0" tIns="0" rIns="0" bIns="0"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Obstacle</a:t>
            </a:r>
            <a:endParaRPr lang="en-US" sz="1750" dirty="0"/>
          </a:p>
        </p:txBody>
      </p:sp>
      <p:sp>
        <p:nvSpPr>
          <p:cNvPr id="17" name="Text 15"/>
          <p:cNvSpPr/>
          <p:nvPr/>
        </p:nvSpPr>
        <p:spPr>
          <a:xfrm>
            <a:off x="5984748" y="2423160"/>
            <a:ext cx="457200" cy="457200"/>
          </a:xfrm>
          <a:prstGeom prst="rect">
            <a:avLst/>
          </a:prstGeom>
          <a:noFill/>
          <a:ln/>
        </p:spPr>
        <p:txBody>
          <a:bodyPr wrap="square" lIns="0" tIns="0" rIns="0" bIns="0" rtlCol="0" anchor="ctr"/>
          <a:lstStyle/>
          <a:p>
            <a:pPr marL="0" indent="0" algn="ctr">
              <a:buNone/>
            </a:pPr>
            <a:r>
              <a:rPr lang="en-US" sz="2000" b="1" dirty="0">
                <a:solidFill>
                  <a:srgbClr val="6E6E6E"/>
                </a:solidFill>
                <a:latin typeface="Calibri" pitchFamily="34" charset="0"/>
                <a:ea typeface="Calibri" pitchFamily="34" charset="-122"/>
                <a:cs typeface="Calibri" pitchFamily="34" charset="-120"/>
              </a:rPr>
              <a:t>→</a:t>
            </a:r>
            <a:endParaRPr lang="en-US" sz="2000" dirty="0"/>
          </a:p>
        </p:txBody>
      </p:sp>
      <p:sp>
        <p:nvSpPr>
          <p:cNvPr id="18" name="Text 16"/>
          <p:cNvSpPr/>
          <p:nvPr/>
        </p:nvSpPr>
        <p:spPr>
          <a:xfrm>
            <a:off x="4291584" y="3291840"/>
            <a:ext cx="1757172" cy="640080"/>
          </a:xfrm>
          <a:prstGeom prst="rect">
            <a:avLst/>
          </a:prstGeom>
          <a:noFill/>
          <a:ln/>
        </p:spPr>
        <p:txBody>
          <a:bodyPr wrap="square" lIns="0" tIns="0" rIns="0" bIns="0" rtlCol="0" anchor="ctr"/>
          <a:lstStyle/>
          <a:p>
            <a:pPr marL="0" indent="0" algn="ctr">
              <a:lnSpc>
                <a:spcPct val="110000"/>
              </a:lnSpc>
              <a:buNone/>
            </a:pPr>
            <a:r>
              <a:rPr lang="en-US" sz="1500" b="1" dirty="0">
                <a:solidFill>
                  <a:srgbClr val="1A1A1A"/>
                </a:solidFill>
                <a:latin typeface="Calibri" pitchFamily="34" charset="0"/>
                <a:ea typeface="Calibri" pitchFamily="34" charset="-122"/>
                <a:cs typeface="Calibri" pitchFamily="34" charset="-120"/>
              </a:rPr>
              <a:t>Ce qui bloque aujourd'hui</a:t>
            </a:r>
            <a:endParaRPr lang="en-US" sz="1500" b="1" dirty="0"/>
          </a:p>
        </p:txBody>
      </p:sp>
      <p:sp>
        <p:nvSpPr>
          <p:cNvPr id="19" name="Shape 17"/>
          <p:cNvSpPr/>
          <p:nvPr/>
        </p:nvSpPr>
        <p:spPr>
          <a:xfrm>
            <a:off x="6185916" y="2103120"/>
            <a:ext cx="1665732" cy="1097280"/>
          </a:xfrm>
          <a:prstGeom prst="rect">
            <a:avLst/>
          </a:prstGeom>
          <a:solidFill>
            <a:srgbClr val="8E2DE2"/>
          </a:solidFill>
          <a:ln/>
        </p:spPr>
      </p:sp>
      <p:sp>
        <p:nvSpPr>
          <p:cNvPr id="20" name="Text 18"/>
          <p:cNvSpPr/>
          <p:nvPr/>
        </p:nvSpPr>
        <p:spPr>
          <a:xfrm>
            <a:off x="6185916" y="2194560"/>
            <a:ext cx="1665732" cy="320040"/>
          </a:xfrm>
          <a:prstGeom prst="rect">
            <a:avLst/>
          </a:prstGeom>
          <a:noFill/>
          <a:ln/>
        </p:spPr>
        <p:txBody>
          <a:bodyPr wrap="square" lIns="0" tIns="0" rIns="0" bIns="0" rtlCol="0" anchor="ctr"/>
          <a:lstStyle/>
          <a:p>
            <a:pPr marL="0" indent="0" algn="ctr">
              <a:buNone/>
            </a:pPr>
            <a:r>
              <a:rPr lang="en-US" sz="1700" b="1" dirty="0">
                <a:solidFill>
                  <a:srgbClr val="000000"/>
                </a:solidFill>
                <a:latin typeface="Calibri" pitchFamily="34" charset="0"/>
                <a:ea typeface="Calibri" pitchFamily="34" charset="-122"/>
                <a:cs typeface="Calibri" pitchFamily="34" charset="-120"/>
              </a:rPr>
              <a:t>4</a:t>
            </a:r>
            <a:endParaRPr lang="en-US" sz="1700" dirty="0"/>
          </a:p>
        </p:txBody>
      </p:sp>
      <p:sp>
        <p:nvSpPr>
          <p:cNvPr id="21" name="Text 19"/>
          <p:cNvSpPr/>
          <p:nvPr/>
        </p:nvSpPr>
        <p:spPr>
          <a:xfrm>
            <a:off x="6231636" y="2487168"/>
            <a:ext cx="1574292" cy="685800"/>
          </a:xfrm>
          <a:prstGeom prst="rect">
            <a:avLst/>
          </a:prstGeom>
          <a:noFill/>
          <a:ln/>
        </p:spPr>
        <p:txBody>
          <a:bodyPr wrap="square" lIns="0" tIns="0" rIns="0" bIns="0" rtlCol="0" anchor="ctr"/>
          <a:lstStyle/>
          <a:p>
            <a:pPr marL="0" indent="0" algn="ctr">
              <a:buNone/>
            </a:pPr>
            <a:r>
              <a:rPr lang="en-US" sz="1750" b="1" dirty="0">
                <a:solidFill>
                  <a:srgbClr val="000000"/>
                </a:solidFill>
                <a:latin typeface="Calibri" pitchFamily="34" charset="0"/>
                <a:ea typeface="Calibri" pitchFamily="34" charset="-122"/>
                <a:cs typeface="Calibri" pitchFamily="34" charset="-120"/>
              </a:rPr>
              <a:t>Solution</a:t>
            </a:r>
            <a:endParaRPr lang="en-US" sz="1750" dirty="0"/>
          </a:p>
        </p:txBody>
      </p:sp>
      <p:sp>
        <p:nvSpPr>
          <p:cNvPr id="22" name="Text 20"/>
          <p:cNvSpPr/>
          <p:nvPr/>
        </p:nvSpPr>
        <p:spPr>
          <a:xfrm>
            <a:off x="7833360" y="2423160"/>
            <a:ext cx="457200" cy="457200"/>
          </a:xfrm>
          <a:prstGeom prst="rect">
            <a:avLst/>
          </a:prstGeom>
          <a:noFill/>
          <a:ln/>
        </p:spPr>
        <p:txBody>
          <a:bodyPr wrap="square" lIns="0" tIns="0" rIns="0" bIns="0" rtlCol="0" anchor="ctr"/>
          <a:lstStyle/>
          <a:p>
            <a:pPr marL="0" indent="0" algn="ctr">
              <a:buNone/>
            </a:pPr>
            <a:r>
              <a:rPr lang="en-US" sz="2000" b="1" dirty="0">
                <a:solidFill>
                  <a:srgbClr val="6E6E6E"/>
                </a:solidFill>
                <a:latin typeface="Calibri" pitchFamily="34" charset="0"/>
                <a:ea typeface="Calibri" pitchFamily="34" charset="-122"/>
                <a:cs typeface="Calibri" pitchFamily="34" charset="-120"/>
              </a:rPr>
              <a:t>→</a:t>
            </a:r>
            <a:endParaRPr lang="en-US" sz="2000" dirty="0"/>
          </a:p>
        </p:txBody>
      </p:sp>
      <p:sp>
        <p:nvSpPr>
          <p:cNvPr id="23" name="Text 21"/>
          <p:cNvSpPr/>
          <p:nvPr/>
        </p:nvSpPr>
        <p:spPr>
          <a:xfrm>
            <a:off x="6140196" y="3291840"/>
            <a:ext cx="1757172" cy="640080"/>
          </a:xfrm>
          <a:prstGeom prst="rect">
            <a:avLst/>
          </a:prstGeom>
          <a:noFill/>
          <a:ln/>
        </p:spPr>
        <p:txBody>
          <a:bodyPr wrap="square" lIns="0" tIns="0" rIns="0" bIns="0" rtlCol="0" anchor="ctr"/>
          <a:lstStyle/>
          <a:p>
            <a:pPr marL="0" indent="0" algn="ctr">
              <a:lnSpc>
                <a:spcPct val="110000"/>
              </a:lnSpc>
              <a:buNone/>
            </a:pPr>
            <a:r>
              <a:rPr lang="en-US" sz="1500" b="1" dirty="0">
                <a:solidFill>
                  <a:srgbClr val="1A1A1A"/>
                </a:solidFill>
                <a:latin typeface="Calibri" pitchFamily="34" charset="0"/>
                <a:ea typeface="Calibri" pitchFamily="34" charset="-122"/>
                <a:cs typeface="Calibri" pitchFamily="34" charset="-120"/>
              </a:rPr>
              <a:t>Votre IA en action</a:t>
            </a:r>
            <a:endParaRPr lang="en-US" sz="1500" b="1" dirty="0"/>
          </a:p>
        </p:txBody>
      </p:sp>
      <p:sp>
        <p:nvSpPr>
          <p:cNvPr id="24" name="Shape 22"/>
          <p:cNvSpPr/>
          <p:nvPr/>
        </p:nvSpPr>
        <p:spPr>
          <a:xfrm>
            <a:off x="8034528" y="2103120"/>
            <a:ext cx="1665732" cy="1097280"/>
          </a:xfrm>
          <a:prstGeom prst="rect">
            <a:avLst/>
          </a:prstGeom>
          <a:solidFill>
            <a:srgbClr val="000000"/>
          </a:solidFill>
          <a:ln/>
        </p:spPr>
      </p:sp>
      <p:sp>
        <p:nvSpPr>
          <p:cNvPr id="25" name="Text 23"/>
          <p:cNvSpPr/>
          <p:nvPr/>
        </p:nvSpPr>
        <p:spPr>
          <a:xfrm>
            <a:off x="8034528" y="2194560"/>
            <a:ext cx="1665732" cy="320040"/>
          </a:xfrm>
          <a:prstGeom prst="rect">
            <a:avLst/>
          </a:prstGeom>
          <a:noFill/>
          <a:ln/>
        </p:spPr>
        <p:txBody>
          <a:bodyPr wrap="square" lIns="0" tIns="0" rIns="0" bIns="0" rtlCol="0" anchor="ctr"/>
          <a:lstStyle/>
          <a:p>
            <a:pPr marL="0" indent="0" algn="ctr">
              <a:buNone/>
            </a:pPr>
            <a:r>
              <a:rPr lang="en-US" sz="1700" b="1" dirty="0">
                <a:solidFill>
                  <a:srgbClr val="8E2DE2"/>
                </a:solidFill>
                <a:latin typeface="Calibri" pitchFamily="34" charset="0"/>
                <a:ea typeface="Calibri" pitchFamily="34" charset="-122"/>
                <a:cs typeface="Calibri" pitchFamily="34" charset="-120"/>
              </a:rPr>
              <a:t>5</a:t>
            </a:r>
            <a:endParaRPr lang="en-US" sz="1700" dirty="0"/>
          </a:p>
        </p:txBody>
      </p:sp>
      <p:sp>
        <p:nvSpPr>
          <p:cNvPr id="26" name="Text 24"/>
          <p:cNvSpPr/>
          <p:nvPr/>
        </p:nvSpPr>
        <p:spPr>
          <a:xfrm>
            <a:off x="8080248" y="2487168"/>
            <a:ext cx="1574292" cy="685800"/>
          </a:xfrm>
          <a:prstGeom prst="rect">
            <a:avLst/>
          </a:prstGeom>
          <a:noFill/>
          <a:ln/>
        </p:spPr>
        <p:txBody>
          <a:bodyPr wrap="square" lIns="0" tIns="0" rIns="0" bIns="0"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Transformation</a:t>
            </a:r>
            <a:endParaRPr lang="en-US" sz="1750" dirty="0"/>
          </a:p>
        </p:txBody>
      </p:sp>
      <p:sp>
        <p:nvSpPr>
          <p:cNvPr id="27" name="Text 25"/>
          <p:cNvSpPr/>
          <p:nvPr/>
        </p:nvSpPr>
        <p:spPr>
          <a:xfrm>
            <a:off x="9681972" y="2423160"/>
            <a:ext cx="457200" cy="457200"/>
          </a:xfrm>
          <a:prstGeom prst="rect">
            <a:avLst/>
          </a:prstGeom>
          <a:noFill/>
          <a:ln/>
        </p:spPr>
        <p:txBody>
          <a:bodyPr wrap="square" lIns="0" tIns="0" rIns="0" bIns="0" rtlCol="0" anchor="ctr"/>
          <a:lstStyle/>
          <a:p>
            <a:pPr marL="0" indent="0" algn="ctr">
              <a:buNone/>
            </a:pPr>
            <a:r>
              <a:rPr lang="en-US" sz="2000" b="1" dirty="0">
                <a:solidFill>
                  <a:srgbClr val="6E6E6E"/>
                </a:solidFill>
                <a:latin typeface="Calibri" pitchFamily="34" charset="0"/>
                <a:ea typeface="Calibri" pitchFamily="34" charset="-122"/>
                <a:cs typeface="Calibri" pitchFamily="34" charset="-120"/>
              </a:rPr>
              <a:t>→</a:t>
            </a:r>
            <a:endParaRPr lang="en-US" sz="2000" dirty="0"/>
          </a:p>
        </p:txBody>
      </p:sp>
      <p:sp>
        <p:nvSpPr>
          <p:cNvPr id="28" name="Text 26"/>
          <p:cNvSpPr/>
          <p:nvPr/>
        </p:nvSpPr>
        <p:spPr>
          <a:xfrm>
            <a:off x="7988808" y="3291840"/>
            <a:ext cx="1757172" cy="640080"/>
          </a:xfrm>
          <a:prstGeom prst="rect">
            <a:avLst/>
          </a:prstGeom>
          <a:noFill/>
          <a:ln/>
        </p:spPr>
        <p:txBody>
          <a:bodyPr wrap="square" lIns="0" tIns="0" rIns="0" bIns="0" rtlCol="0" anchor="ctr"/>
          <a:lstStyle/>
          <a:p>
            <a:pPr marL="0" indent="0" algn="ctr">
              <a:lnSpc>
                <a:spcPct val="110000"/>
              </a:lnSpc>
              <a:buNone/>
            </a:pPr>
            <a:r>
              <a:rPr lang="en-US" sz="1500" b="1" dirty="0">
                <a:solidFill>
                  <a:srgbClr val="1A1A1A"/>
                </a:solidFill>
                <a:latin typeface="Calibri" pitchFamily="34" charset="0"/>
                <a:ea typeface="Calibri" pitchFamily="34" charset="-122"/>
                <a:cs typeface="Calibri" pitchFamily="34" charset="-120"/>
              </a:rPr>
              <a:t>Le résultat concret</a:t>
            </a:r>
            <a:endParaRPr lang="en-US" sz="1500" b="1" dirty="0"/>
          </a:p>
        </p:txBody>
      </p:sp>
      <p:sp>
        <p:nvSpPr>
          <p:cNvPr id="29" name="Shape 27"/>
          <p:cNvSpPr/>
          <p:nvPr/>
        </p:nvSpPr>
        <p:spPr>
          <a:xfrm>
            <a:off x="9883140" y="2103120"/>
            <a:ext cx="1665732" cy="1097280"/>
          </a:xfrm>
          <a:prstGeom prst="rect">
            <a:avLst/>
          </a:prstGeom>
          <a:solidFill>
            <a:srgbClr val="8E2DE2"/>
          </a:solidFill>
          <a:ln/>
        </p:spPr>
      </p:sp>
      <p:sp>
        <p:nvSpPr>
          <p:cNvPr id="30" name="Text 28"/>
          <p:cNvSpPr/>
          <p:nvPr/>
        </p:nvSpPr>
        <p:spPr>
          <a:xfrm>
            <a:off x="9883140" y="2194560"/>
            <a:ext cx="1665732" cy="320040"/>
          </a:xfrm>
          <a:prstGeom prst="rect">
            <a:avLst/>
          </a:prstGeom>
          <a:noFill/>
          <a:ln/>
        </p:spPr>
        <p:txBody>
          <a:bodyPr wrap="square" lIns="0" tIns="0" rIns="0" bIns="0" rtlCol="0" anchor="ctr"/>
          <a:lstStyle/>
          <a:p>
            <a:pPr marL="0" indent="0" algn="ctr">
              <a:buNone/>
            </a:pPr>
            <a:r>
              <a:rPr lang="en-US" sz="1700" b="1" dirty="0">
                <a:solidFill>
                  <a:srgbClr val="000000"/>
                </a:solidFill>
                <a:latin typeface="Calibri" pitchFamily="34" charset="0"/>
                <a:ea typeface="Calibri" pitchFamily="34" charset="-122"/>
                <a:cs typeface="Calibri" pitchFamily="34" charset="-120"/>
              </a:rPr>
              <a:t>6</a:t>
            </a:r>
            <a:endParaRPr lang="en-US" sz="1700" dirty="0"/>
          </a:p>
        </p:txBody>
      </p:sp>
      <p:sp>
        <p:nvSpPr>
          <p:cNvPr id="31" name="Text 29"/>
          <p:cNvSpPr/>
          <p:nvPr/>
        </p:nvSpPr>
        <p:spPr>
          <a:xfrm>
            <a:off x="9928860" y="2487168"/>
            <a:ext cx="1574292" cy="685800"/>
          </a:xfrm>
          <a:prstGeom prst="rect">
            <a:avLst/>
          </a:prstGeom>
          <a:noFill/>
          <a:ln/>
        </p:spPr>
        <p:txBody>
          <a:bodyPr wrap="square" lIns="0" tIns="0" rIns="0" bIns="0" rtlCol="0" anchor="ctr"/>
          <a:lstStyle/>
          <a:p>
            <a:pPr marL="0" indent="0" algn="ctr">
              <a:buNone/>
            </a:pPr>
            <a:r>
              <a:rPr lang="en-US" sz="1750" b="1" dirty="0">
                <a:solidFill>
                  <a:srgbClr val="000000"/>
                </a:solidFill>
                <a:latin typeface="Calibri" pitchFamily="34" charset="0"/>
                <a:ea typeface="Calibri" pitchFamily="34" charset="-122"/>
                <a:cs typeface="Calibri" pitchFamily="34" charset="-120"/>
              </a:rPr>
              <a:t>Futur</a:t>
            </a:r>
            <a:endParaRPr lang="en-US" sz="1750" dirty="0"/>
          </a:p>
        </p:txBody>
      </p:sp>
      <p:sp>
        <p:nvSpPr>
          <p:cNvPr id="32" name="Text 30"/>
          <p:cNvSpPr/>
          <p:nvPr/>
        </p:nvSpPr>
        <p:spPr>
          <a:xfrm>
            <a:off x="9837420" y="3291840"/>
            <a:ext cx="1757172" cy="640080"/>
          </a:xfrm>
          <a:prstGeom prst="rect">
            <a:avLst/>
          </a:prstGeom>
          <a:noFill/>
          <a:ln/>
        </p:spPr>
        <p:txBody>
          <a:bodyPr wrap="square" lIns="0" tIns="0" rIns="0" bIns="0" rtlCol="0" anchor="ctr"/>
          <a:lstStyle/>
          <a:p>
            <a:pPr marL="0" indent="0" algn="ctr">
              <a:lnSpc>
                <a:spcPct val="110000"/>
              </a:lnSpc>
              <a:buNone/>
            </a:pPr>
            <a:r>
              <a:rPr lang="en-US" sz="1500" b="1" dirty="0">
                <a:solidFill>
                  <a:srgbClr val="1A1A1A"/>
                </a:solidFill>
                <a:latin typeface="Calibri" pitchFamily="34" charset="0"/>
                <a:ea typeface="Calibri" pitchFamily="34" charset="-122"/>
                <a:cs typeface="Calibri" pitchFamily="34" charset="-120"/>
              </a:rPr>
              <a:t>L'impact à grande échelle</a:t>
            </a:r>
            <a:endParaRPr lang="en-US" sz="1500" b="1" dirty="0"/>
          </a:p>
        </p:txBody>
      </p:sp>
      <p:sp>
        <p:nvSpPr>
          <p:cNvPr id="33" name="Shape 31"/>
          <p:cNvSpPr/>
          <p:nvPr/>
        </p:nvSpPr>
        <p:spPr>
          <a:xfrm>
            <a:off x="640080" y="3977640"/>
            <a:ext cx="10908792" cy="1965960"/>
          </a:xfrm>
          <a:prstGeom prst="rect">
            <a:avLst/>
          </a:prstGeom>
          <a:solidFill>
            <a:srgbClr val="EAF5EE"/>
          </a:solidFill>
          <a:ln/>
          <a:effectLst>
            <a:outerShdw blurRad="152400" dist="38100" dir="2700000" algn="bl" rotWithShape="0">
              <a:srgbClr val="000000">
                <a:alpha val="15000"/>
              </a:srgbClr>
            </a:outerShdw>
          </a:effectLst>
        </p:spPr>
      </p:sp>
      <p:sp>
        <p:nvSpPr>
          <p:cNvPr id="34" name="Text 32"/>
          <p:cNvSpPr/>
          <p:nvPr/>
        </p:nvSpPr>
        <p:spPr>
          <a:xfrm>
            <a:off x="914400" y="4160520"/>
            <a:ext cx="10360152" cy="1645920"/>
          </a:xfrm>
          <a:prstGeom prst="rect">
            <a:avLst/>
          </a:prstGeom>
          <a:noFill/>
          <a:ln/>
        </p:spPr>
        <p:txBody>
          <a:bodyPr wrap="square" lIns="0" tIns="0" rIns="0" bIns="0" rtlCol="0" anchor="ctr"/>
          <a:lstStyle/>
          <a:p>
            <a:pPr marL="0" indent="0">
              <a:lnSpc>
                <a:spcPct val="125000"/>
              </a:lnSpc>
              <a:buNone/>
            </a:pPr>
            <a:r>
              <a:rPr lang="en-US" sz="2050" i="1" dirty="0">
                <a:solidFill>
                  <a:srgbClr val="000000"/>
                </a:solidFill>
                <a:latin typeface="Cambria" pitchFamily="34" charset="0"/>
                <a:ea typeface="Cambria" pitchFamily="34" charset="-122"/>
                <a:cs typeface="Cambria" pitchFamily="34" charset="-120"/>
              </a:rPr>
              <a:t>« Un producteur de cacao perd 30 % de sa récolte chaque année. Notre IA détecte les maladies deux semaines avant les symptômes. Résultat : +40 % de revenu. Imaginez ce système déployé dans toute l'Afrique de l'Ouest. »</a:t>
            </a:r>
            <a:endParaRPr lang="en-US" sz="2050" dirty="0"/>
          </a:p>
        </p:txBody>
      </p:sp>
      <p:sp>
        <p:nvSpPr>
          <p:cNvPr id="35" name="Text 33"/>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36" name="Text 34"/>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15</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9601200" y="4297680"/>
            <a:ext cx="4114800" cy="4114800"/>
          </a:xfrm>
          <a:prstGeom prst="ellipse">
            <a:avLst/>
          </a:prstGeom>
          <a:solidFill>
            <a:srgbClr val="155D36"/>
          </a:solidFill>
          <a:ln/>
        </p:spPr>
      </p:sp>
      <p:sp>
        <p:nvSpPr>
          <p:cNvPr id="3" name="Shape 1"/>
          <p:cNvSpPr/>
          <p:nvPr/>
        </p:nvSpPr>
        <p:spPr>
          <a:xfrm>
            <a:off x="822960" y="1554480"/>
            <a:ext cx="1051560" cy="1051560"/>
          </a:xfrm>
          <a:prstGeom prst="ellipse">
            <a:avLst/>
          </a:prstGeom>
          <a:solidFill>
            <a:srgbClr val="8E2DE2"/>
          </a:solidFill>
          <a:ln/>
        </p:spPr>
      </p:sp>
      <p:pic>
        <p:nvPicPr>
          <p:cNvPr id="4" name="Image 0" descr="preencoded.png"/>
          <p:cNvPicPr>
            <a:picLocks noChangeAspect="1"/>
          </p:cNvPicPr>
          <p:nvPr/>
        </p:nvPicPr>
        <p:blipFill>
          <a:blip r:embed="rId3"/>
          <a:stretch>
            <a:fillRect/>
          </a:stretch>
        </p:blipFill>
        <p:spPr>
          <a:xfrm>
            <a:off x="949147" y="1680667"/>
            <a:ext cx="799186" cy="799186"/>
          </a:xfrm>
          <a:prstGeom prst="rect">
            <a:avLst/>
          </a:prstGeom>
        </p:spPr>
      </p:pic>
      <p:sp>
        <p:nvSpPr>
          <p:cNvPr id="5" name="Text 2"/>
          <p:cNvSpPr/>
          <p:nvPr/>
        </p:nvSpPr>
        <p:spPr>
          <a:xfrm>
            <a:off x="822960" y="2788920"/>
            <a:ext cx="10360152" cy="411480"/>
          </a:xfrm>
          <a:prstGeom prst="rect">
            <a:avLst/>
          </a:prstGeom>
          <a:noFill/>
          <a:ln/>
        </p:spPr>
        <p:txBody>
          <a:bodyPr wrap="square" lIns="0" tIns="0" rIns="0" bIns="0" rtlCol="0" anchor="ctr"/>
          <a:lstStyle/>
          <a:p>
            <a:pPr marL="0" indent="0">
              <a:buNone/>
            </a:pPr>
            <a:r>
              <a:rPr lang="en-US" sz="1900" b="1" kern="0" spc="200" dirty="0">
                <a:solidFill>
                  <a:srgbClr val="8E2DE2"/>
                </a:solidFill>
                <a:latin typeface="Calibri" pitchFamily="34" charset="0"/>
                <a:ea typeface="Calibri" pitchFamily="34" charset="-122"/>
                <a:cs typeface="Calibri" pitchFamily="34" charset="-120"/>
              </a:rPr>
              <a:t>SÉQUENCE 4</a:t>
            </a:r>
            <a:endParaRPr lang="en-US" sz="1900" dirty="0"/>
          </a:p>
        </p:txBody>
      </p:sp>
      <p:sp>
        <p:nvSpPr>
          <p:cNvPr id="6" name="Text 3"/>
          <p:cNvSpPr/>
          <p:nvPr/>
        </p:nvSpPr>
        <p:spPr>
          <a:xfrm>
            <a:off x="822960" y="3200400"/>
            <a:ext cx="10360152"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Prise de parole en public</a:t>
            </a:r>
            <a:endParaRPr lang="en-US" sz="4000" dirty="0"/>
          </a:p>
        </p:txBody>
      </p:sp>
      <p:sp>
        <p:nvSpPr>
          <p:cNvPr id="7" name="Text 4"/>
          <p:cNvSpPr/>
          <p:nvPr/>
        </p:nvSpPr>
        <p:spPr>
          <a:xfrm>
            <a:off x="822960" y="4343400"/>
            <a:ext cx="9902952" cy="731520"/>
          </a:xfrm>
          <a:prstGeom prst="rect">
            <a:avLst/>
          </a:prstGeom>
          <a:noFill/>
          <a:ln/>
        </p:spPr>
        <p:txBody>
          <a:bodyPr wrap="square" lIns="0" tIns="0" rIns="0" bIns="0" rtlCol="0" anchor="ctr"/>
          <a:lstStyle/>
          <a:p>
            <a:pPr marL="0" indent="0">
              <a:buNone/>
            </a:pPr>
            <a:r>
              <a:rPr lang="en-US" sz="2050" i="1" dirty="0">
                <a:solidFill>
                  <a:srgbClr val="EAF5EE"/>
                </a:solidFill>
                <a:latin typeface="Calibri" pitchFamily="34" charset="0"/>
                <a:ea typeface="Calibri" pitchFamily="34" charset="-122"/>
                <a:cs typeface="Calibri" pitchFamily="34" charset="-120"/>
              </a:rPr>
              <a:t>Voix, corps, présence — 15 minutes</a:t>
            </a:r>
            <a:endParaRPr lang="en-US" sz="2050" dirty="0"/>
          </a:p>
        </p:txBody>
      </p:sp>
      <p:sp>
        <p:nvSpPr>
          <p:cNvPr id="8" name="Text 5"/>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9" name="Text 6"/>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16</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411480"/>
          </a:xfrm>
          <a:prstGeom prst="rect">
            <a:avLst/>
          </a:prstGeom>
          <a:noFill/>
          <a:ln/>
        </p:spPr>
        <p:txBody>
          <a:bodyPr wrap="square" lIns="0" tIns="0" rIns="0" bIns="0" rtlCol="0" anchor="ctr"/>
          <a:lstStyle/>
          <a:p>
            <a:pPr marL="0" indent="0">
              <a:buNone/>
            </a:pPr>
            <a:r>
              <a:rPr lang="en-US" sz="1900" b="1" kern="0" spc="200" dirty="0">
                <a:solidFill>
                  <a:srgbClr val="8E2DE2"/>
                </a:solidFill>
                <a:latin typeface="Calibri" pitchFamily="34" charset="0"/>
                <a:ea typeface="Calibri" pitchFamily="34" charset="-122"/>
                <a:cs typeface="Calibri" pitchFamily="34" charset="-120"/>
              </a:rPr>
              <a:t>SÉQUENCE 4</a:t>
            </a:r>
            <a:endParaRPr lang="en-US" sz="1900" dirty="0"/>
          </a:p>
        </p:txBody>
      </p:sp>
      <p:sp>
        <p:nvSpPr>
          <p:cNvPr id="3" name="Text 1"/>
          <p:cNvSpPr/>
          <p:nvPr/>
        </p:nvSpPr>
        <p:spPr>
          <a:xfrm>
            <a:off x="640080" y="868680"/>
            <a:ext cx="10908792" cy="1188720"/>
          </a:xfrm>
          <a:prstGeom prst="rect">
            <a:avLst/>
          </a:prstGeom>
          <a:noFill/>
          <a:ln/>
        </p:spPr>
        <p:txBody>
          <a:bodyPr wrap="square" lIns="0" tIns="0" rIns="0" bIns="0" rtlCol="0" anchor="t"/>
          <a:lstStyle/>
          <a:p>
            <a:pPr marL="0" indent="0">
              <a:buNone/>
            </a:pPr>
            <a:r>
              <a:rPr lang="en-US" sz="4200" b="1" dirty="0">
                <a:solidFill>
                  <a:srgbClr val="000000"/>
                </a:solidFill>
                <a:latin typeface="Cambria" pitchFamily="34" charset="0"/>
                <a:ea typeface="Cambria" pitchFamily="34" charset="-122"/>
                <a:cs typeface="Cambria" pitchFamily="34" charset="-120"/>
              </a:rPr>
              <a:t>Ce qui construit — ou détruit — la confiance du jury</a:t>
            </a:r>
            <a:endParaRPr lang="en-US" sz="4200" dirty="0"/>
          </a:p>
        </p:txBody>
      </p:sp>
      <p:sp>
        <p:nvSpPr>
          <p:cNvPr id="4" name="Shape 2"/>
          <p:cNvSpPr/>
          <p:nvPr/>
        </p:nvSpPr>
        <p:spPr>
          <a:xfrm>
            <a:off x="640080" y="2148840"/>
            <a:ext cx="5257800" cy="3794760"/>
          </a:xfrm>
          <a:prstGeom prst="rect">
            <a:avLst/>
          </a:prstGeom>
          <a:solidFill>
            <a:srgbClr val="EAF5EE"/>
          </a:solidFill>
          <a:ln/>
        </p:spPr>
      </p:sp>
      <p:sp>
        <p:nvSpPr>
          <p:cNvPr id="5" name="Shape 3"/>
          <p:cNvSpPr/>
          <p:nvPr/>
        </p:nvSpPr>
        <p:spPr>
          <a:xfrm>
            <a:off x="6217920" y="2148840"/>
            <a:ext cx="5257800" cy="3794760"/>
          </a:xfrm>
          <a:prstGeom prst="rect">
            <a:avLst/>
          </a:prstGeom>
          <a:solidFill>
            <a:srgbClr val="155D36"/>
          </a:solidFill>
          <a:ln/>
        </p:spPr>
      </p:sp>
      <p:sp>
        <p:nvSpPr>
          <p:cNvPr id="6" name="Shape 4"/>
          <p:cNvSpPr/>
          <p:nvPr/>
        </p:nvSpPr>
        <p:spPr>
          <a:xfrm>
            <a:off x="914400" y="2423160"/>
            <a:ext cx="502920" cy="502920"/>
          </a:xfrm>
          <a:prstGeom prst="ellipse">
            <a:avLst/>
          </a:prstGeom>
          <a:solidFill>
            <a:srgbClr val="8E2DE2"/>
          </a:solidFill>
          <a:ln/>
        </p:spPr>
      </p:sp>
      <p:pic>
        <p:nvPicPr>
          <p:cNvPr id="7" name="Image 0" descr="preencoded.png"/>
          <p:cNvPicPr>
            <a:picLocks noChangeAspect="1"/>
          </p:cNvPicPr>
          <p:nvPr/>
        </p:nvPicPr>
        <p:blipFill>
          <a:blip r:embed="rId3"/>
          <a:stretch>
            <a:fillRect/>
          </a:stretch>
        </p:blipFill>
        <p:spPr>
          <a:xfrm>
            <a:off x="974750" y="2483510"/>
            <a:ext cx="382219" cy="382219"/>
          </a:xfrm>
          <a:prstGeom prst="rect">
            <a:avLst/>
          </a:prstGeom>
        </p:spPr>
      </p:pic>
      <p:sp>
        <p:nvSpPr>
          <p:cNvPr id="8" name="Text 5"/>
          <p:cNvSpPr/>
          <p:nvPr/>
        </p:nvSpPr>
        <p:spPr>
          <a:xfrm>
            <a:off x="1600200" y="2423160"/>
            <a:ext cx="4069080" cy="502920"/>
          </a:xfrm>
          <a:prstGeom prst="rect">
            <a:avLst/>
          </a:prstGeom>
          <a:noFill/>
          <a:ln/>
        </p:spPr>
        <p:txBody>
          <a:bodyPr wrap="square" lIns="0" tIns="0" rIns="0" bIns="0" rtlCol="0" anchor="ctr"/>
          <a:lstStyle/>
          <a:p>
            <a:pPr marL="0" indent="0">
              <a:buNone/>
            </a:pPr>
            <a:r>
              <a:rPr lang="en-US" sz="2200" b="1" dirty="0">
                <a:solidFill>
                  <a:srgbClr val="000000"/>
                </a:solidFill>
                <a:latin typeface="Cambria" pitchFamily="34" charset="0"/>
                <a:ea typeface="Cambria" pitchFamily="34" charset="-122"/>
                <a:cs typeface="Cambria" pitchFamily="34" charset="-120"/>
              </a:rPr>
              <a:t>À FAIRE</a:t>
            </a:r>
            <a:endParaRPr lang="en-US" sz="2200" dirty="0"/>
          </a:p>
        </p:txBody>
      </p:sp>
      <p:sp>
        <p:nvSpPr>
          <p:cNvPr id="9" name="Text 6"/>
          <p:cNvSpPr/>
          <p:nvPr/>
        </p:nvSpPr>
        <p:spPr>
          <a:xfrm>
            <a:off x="960120" y="2920702"/>
            <a:ext cx="4617720" cy="457200"/>
          </a:xfrm>
          <a:prstGeom prst="rect">
            <a:avLst/>
          </a:prstGeom>
          <a:noFill/>
          <a:ln/>
        </p:spPr>
        <p:txBody>
          <a:bodyPr wrap="square" lIns="0" tIns="0" rIns="0" bIns="0" rtlCol="0" anchor="ctr"/>
          <a:lstStyle/>
          <a:p>
            <a:pPr marL="342900" indent="-342900">
              <a:buSzPct val="100000"/>
              <a:buChar char="•"/>
            </a:pPr>
            <a:r>
              <a:rPr lang="en-US" sz="1800" dirty="0">
                <a:solidFill>
                  <a:srgbClr val="1A1A1A"/>
                </a:solidFill>
                <a:latin typeface="Calibri" pitchFamily="34" charset="0"/>
                <a:ea typeface="Calibri" pitchFamily="34" charset="-122"/>
                <a:cs typeface="Calibri" pitchFamily="34" charset="-120"/>
              </a:rPr>
              <a:t>Regarder le jury dans les yeux</a:t>
            </a:r>
            <a:endParaRPr lang="en-US" sz="1800" dirty="0"/>
          </a:p>
        </p:txBody>
      </p:sp>
      <p:sp>
        <p:nvSpPr>
          <p:cNvPr id="10" name="Text 7"/>
          <p:cNvSpPr/>
          <p:nvPr/>
        </p:nvSpPr>
        <p:spPr>
          <a:xfrm>
            <a:off x="960120" y="3423622"/>
            <a:ext cx="4617720" cy="457200"/>
          </a:xfrm>
          <a:prstGeom prst="rect">
            <a:avLst/>
          </a:prstGeom>
          <a:noFill/>
          <a:ln/>
        </p:spPr>
        <p:txBody>
          <a:bodyPr wrap="square" lIns="0" tIns="0" rIns="0" bIns="0" rtlCol="0" anchor="ctr"/>
          <a:lstStyle/>
          <a:p>
            <a:pPr marL="342900" indent="-342900">
              <a:buSzPct val="100000"/>
              <a:buChar char="•"/>
            </a:pPr>
            <a:r>
              <a:rPr lang="en-US" sz="1800" dirty="0">
                <a:solidFill>
                  <a:srgbClr val="1A1A1A"/>
                </a:solidFill>
                <a:latin typeface="Calibri" pitchFamily="34" charset="0"/>
                <a:ea typeface="Calibri" pitchFamily="34" charset="-122"/>
                <a:cs typeface="Calibri" pitchFamily="34" charset="-120"/>
              </a:rPr>
              <a:t>Varier la voix — rythme, volume, silence</a:t>
            </a:r>
            <a:endParaRPr lang="en-US" sz="1800" dirty="0"/>
          </a:p>
        </p:txBody>
      </p:sp>
      <p:sp>
        <p:nvSpPr>
          <p:cNvPr id="11" name="Text 8"/>
          <p:cNvSpPr/>
          <p:nvPr/>
        </p:nvSpPr>
        <p:spPr>
          <a:xfrm>
            <a:off x="960120" y="3926542"/>
            <a:ext cx="4617720" cy="457200"/>
          </a:xfrm>
          <a:prstGeom prst="rect">
            <a:avLst/>
          </a:prstGeom>
          <a:noFill/>
          <a:ln/>
        </p:spPr>
        <p:txBody>
          <a:bodyPr wrap="square" lIns="0" tIns="0" rIns="0" bIns="0" rtlCol="0" anchor="ctr"/>
          <a:lstStyle/>
          <a:p>
            <a:pPr marL="342900" indent="-342900">
              <a:buSzPct val="100000"/>
              <a:buChar char="•"/>
            </a:pPr>
            <a:r>
              <a:rPr lang="en-US" sz="1800" dirty="0">
                <a:solidFill>
                  <a:srgbClr val="1A1A1A"/>
                </a:solidFill>
                <a:latin typeface="Calibri" pitchFamily="34" charset="0"/>
                <a:ea typeface="Calibri" pitchFamily="34" charset="-122"/>
                <a:cs typeface="Calibri" pitchFamily="34" charset="-120"/>
              </a:rPr>
              <a:t>Occuper l'espace avec le corps</a:t>
            </a:r>
            <a:endParaRPr lang="en-US" sz="1800" dirty="0"/>
          </a:p>
        </p:txBody>
      </p:sp>
      <p:sp>
        <p:nvSpPr>
          <p:cNvPr id="12" name="Text 9"/>
          <p:cNvSpPr/>
          <p:nvPr/>
        </p:nvSpPr>
        <p:spPr>
          <a:xfrm>
            <a:off x="960120" y="4429462"/>
            <a:ext cx="4617720" cy="457200"/>
          </a:xfrm>
          <a:prstGeom prst="rect">
            <a:avLst/>
          </a:prstGeom>
          <a:noFill/>
          <a:ln/>
        </p:spPr>
        <p:txBody>
          <a:bodyPr wrap="square" lIns="0" tIns="0" rIns="0" bIns="0" rtlCol="0" anchor="ctr"/>
          <a:lstStyle/>
          <a:p>
            <a:pPr marL="342900" indent="-342900">
              <a:buSzPct val="100000"/>
              <a:buChar char="•"/>
            </a:pPr>
            <a:r>
              <a:rPr lang="en-US" sz="1800" dirty="0">
                <a:solidFill>
                  <a:srgbClr val="1A1A1A"/>
                </a:solidFill>
                <a:latin typeface="Calibri" pitchFamily="34" charset="0"/>
                <a:ea typeface="Calibri" pitchFamily="34" charset="-122"/>
                <a:cs typeface="Calibri" pitchFamily="34" charset="-120"/>
              </a:rPr>
              <a:t>Sourire avec sincérité</a:t>
            </a:r>
            <a:endParaRPr lang="en-US" sz="1800" dirty="0"/>
          </a:p>
        </p:txBody>
      </p:sp>
      <p:sp>
        <p:nvSpPr>
          <p:cNvPr id="13" name="Text 10"/>
          <p:cNvSpPr/>
          <p:nvPr/>
        </p:nvSpPr>
        <p:spPr>
          <a:xfrm>
            <a:off x="960120" y="4932382"/>
            <a:ext cx="4617720" cy="457200"/>
          </a:xfrm>
          <a:prstGeom prst="rect">
            <a:avLst/>
          </a:prstGeom>
          <a:noFill/>
          <a:ln/>
        </p:spPr>
        <p:txBody>
          <a:bodyPr wrap="square" lIns="0" tIns="0" rIns="0" bIns="0" rtlCol="0" anchor="ctr"/>
          <a:lstStyle/>
          <a:p>
            <a:pPr marL="342900" indent="-342900">
              <a:buSzPct val="100000"/>
              <a:buChar char="•"/>
            </a:pPr>
            <a:r>
              <a:rPr lang="en-US" sz="1800" dirty="0">
                <a:solidFill>
                  <a:srgbClr val="1A1A1A"/>
                </a:solidFill>
                <a:latin typeface="Calibri" pitchFamily="34" charset="0"/>
                <a:ea typeface="Calibri" pitchFamily="34" charset="-122"/>
                <a:cs typeface="Calibri" pitchFamily="34" charset="-120"/>
              </a:rPr>
              <a:t>Utiliser le silence comme un outil</a:t>
            </a:r>
            <a:endParaRPr lang="en-US" sz="1800" dirty="0"/>
          </a:p>
        </p:txBody>
      </p:sp>
      <p:sp>
        <p:nvSpPr>
          <p:cNvPr id="14" name="Text 11"/>
          <p:cNvSpPr/>
          <p:nvPr/>
        </p:nvSpPr>
        <p:spPr>
          <a:xfrm>
            <a:off x="960120" y="5435302"/>
            <a:ext cx="4617720" cy="457200"/>
          </a:xfrm>
          <a:prstGeom prst="rect">
            <a:avLst/>
          </a:prstGeom>
          <a:noFill/>
          <a:ln/>
        </p:spPr>
        <p:txBody>
          <a:bodyPr wrap="square" lIns="0" tIns="0" rIns="0" bIns="0" rtlCol="0" anchor="ctr"/>
          <a:lstStyle/>
          <a:p>
            <a:pPr marL="342900" indent="-342900">
              <a:buSzPct val="100000"/>
              <a:buChar char="•"/>
            </a:pPr>
            <a:r>
              <a:rPr lang="en-US" sz="1800" dirty="0">
                <a:solidFill>
                  <a:srgbClr val="1A1A1A"/>
                </a:solidFill>
                <a:latin typeface="Calibri" pitchFamily="34" charset="0"/>
                <a:ea typeface="Calibri" pitchFamily="34" charset="-122"/>
                <a:cs typeface="Calibri" pitchFamily="34" charset="-120"/>
              </a:rPr>
              <a:t>Ralentir sur les moments clés</a:t>
            </a:r>
            <a:endParaRPr lang="en-US" sz="1800" dirty="0"/>
          </a:p>
        </p:txBody>
      </p:sp>
      <p:sp>
        <p:nvSpPr>
          <p:cNvPr id="15" name="Shape 12"/>
          <p:cNvSpPr/>
          <p:nvPr/>
        </p:nvSpPr>
        <p:spPr>
          <a:xfrm>
            <a:off x="6492240" y="2423160"/>
            <a:ext cx="502920" cy="502920"/>
          </a:xfrm>
          <a:prstGeom prst="ellipse">
            <a:avLst/>
          </a:prstGeom>
          <a:solidFill>
            <a:srgbClr val="8E2DE2"/>
          </a:solidFill>
          <a:ln/>
        </p:spPr>
      </p:sp>
      <p:pic>
        <p:nvPicPr>
          <p:cNvPr id="16" name="Image 1" descr="preencoded.png"/>
          <p:cNvPicPr>
            <a:picLocks noChangeAspect="1"/>
          </p:cNvPicPr>
          <p:nvPr/>
        </p:nvPicPr>
        <p:blipFill>
          <a:blip r:embed="rId4"/>
          <a:stretch>
            <a:fillRect/>
          </a:stretch>
        </p:blipFill>
        <p:spPr>
          <a:xfrm>
            <a:off x="6552590" y="2483510"/>
            <a:ext cx="382219" cy="382219"/>
          </a:xfrm>
          <a:prstGeom prst="rect">
            <a:avLst/>
          </a:prstGeom>
        </p:spPr>
      </p:pic>
      <p:sp>
        <p:nvSpPr>
          <p:cNvPr id="17" name="Text 13"/>
          <p:cNvSpPr/>
          <p:nvPr/>
        </p:nvSpPr>
        <p:spPr>
          <a:xfrm>
            <a:off x="7178040" y="2423160"/>
            <a:ext cx="4069080" cy="50292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À ÉVITER</a:t>
            </a:r>
            <a:endParaRPr lang="en-US" sz="2200" dirty="0"/>
          </a:p>
        </p:txBody>
      </p:sp>
      <p:sp>
        <p:nvSpPr>
          <p:cNvPr id="18" name="Text 14"/>
          <p:cNvSpPr/>
          <p:nvPr/>
        </p:nvSpPr>
        <p:spPr>
          <a:xfrm>
            <a:off x="6537960" y="2920702"/>
            <a:ext cx="4617720" cy="457200"/>
          </a:xfrm>
          <a:prstGeom prst="rect">
            <a:avLst/>
          </a:prstGeom>
          <a:noFill/>
          <a:ln/>
        </p:spPr>
        <p:txBody>
          <a:bodyPr wrap="square" lIns="0" tIns="0" rIns="0" bIns="0" rtlCol="0" anchor="ctr"/>
          <a:lstStyle/>
          <a:p>
            <a:pPr marL="342900" indent="-342900">
              <a:buSzPct val="100000"/>
              <a:buChar char="•"/>
            </a:pPr>
            <a:r>
              <a:rPr lang="en-US" sz="1800" dirty="0">
                <a:solidFill>
                  <a:srgbClr val="FFFFFF"/>
                </a:solidFill>
                <a:latin typeface="Calibri" pitchFamily="34" charset="0"/>
                <a:ea typeface="Calibri" pitchFamily="34" charset="-122"/>
                <a:cs typeface="Calibri" pitchFamily="34" charset="-120"/>
              </a:rPr>
              <a:t>Lire les slides mot à mot</a:t>
            </a:r>
            <a:endParaRPr lang="en-US" sz="1800" dirty="0"/>
          </a:p>
        </p:txBody>
      </p:sp>
      <p:sp>
        <p:nvSpPr>
          <p:cNvPr id="19" name="Text 15"/>
          <p:cNvSpPr/>
          <p:nvPr/>
        </p:nvSpPr>
        <p:spPr>
          <a:xfrm>
            <a:off x="6537960" y="3423622"/>
            <a:ext cx="4617720" cy="457200"/>
          </a:xfrm>
          <a:prstGeom prst="rect">
            <a:avLst/>
          </a:prstGeom>
          <a:noFill/>
          <a:ln/>
        </p:spPr>
        <p:txBody>
          <a:bodyPr wrap="square" lIns="0" tIns="0" rIns="0" bIns="0" rtlCol="0" anchor="ctr"/>
          <a:lstStyle/>
          <a:p>
            <a:pPr marL="342900" indent="-342900">
              <a:buSzPct val="100000"/>
              <a:buChar char="•"/>
            </a:pPr>
            <a:r>
              <a:rPr lang="en-US" sz="1800" dirty="0">
                <a:solidFill>
                  <a:srgbClr val="FFFFFF"/>
                </a:solidFill>
                <a:latin typeface="Calibri" pitchFamily="34" charset="0"/>
                <a:ea typeface="Calibri" pitchFamily="34" charset="-122"/>
                <a:cs typeface="Calibri" pitchFamily="34" charset="-120"/>
              </a:rPr>
              <a:t>Tourner le dos au jury</a:t>
            </a:r>
            <a:endParaRPr lang="en-US" sz="1800" dirty="0"/>
          </a:p>
        </p:txBody>
      </p:sp>
      <p:sp>
        <p:nvSpPr>
          <p:cNvPr id="20" name="Text 16"/>
          <p:cNvSpPr/>
          <p:nvPr/>
        </p:nvSpPr>
        <p:spPr>
          <a:xfrm>
            <a:off x="6537960" y="3926542"/>
            <a:ext cx="4617720" cy="457200"/>
          </a:xfrm>
          <a:prstGeom prst="rect">
            <a:avLst/>
          </a:prstGeom>
          <a:noFill/>
          <a:ln/>
        </p:spPr>
        <p:txBody>
          <a:bodyPr wrap="square" lIns="0" tIns="0" rIns="0" bIns="0" rtlCol="0" anchor="ctr"/>
          <a:lstStyle/>
          <a:p>
            <a:pPr marL="342900" indent="-342900">
              <a:buSzPct val="100000"/>
              <a:buChar char="•"/>
            </a:pPr>
            <a:r>
              <a:rPr lang="en-US" sz="1800" dirty="0">
                <a:solidFill>
                  <a:srgbClr val="FFFFFF"/>
                </a:solidFill>
                <a:latin typeface="Calibri" pitchFamily="34" charset="0"/>
                <a:ea typeface="Calibri" pitchFamily="34" charset="-122"/>
                <a:cs typeface="Calibri" pitchFamily="34" charset="-120"/>
              </a:rPr>
              <a:t>Parler trop vite par nervosité</a:t>
            </a:r>
            <a:endParaRPr lang="en-US" sz="1800" dirty="0"/>
          </a:p>
        </p:txBody>
      </p:sp>
      <p:sp>
        <p:nvSpPr>
          <p:cNvPr id="21" name="Text 17"/>
          <p:cNvSpPr/>
          <p:nvPr/>
        </p:nvSpPr>
        <p:spPr>
          <a:xfrm>
            <a:off x="6537960" y="4429462"/>
            <a:ext cx="4617720" cy="457200"/>
          </a:xfrm>
          <a:prstGeom prst="rect">
            <a:avLst/>
          </a:prstGeom>
          <a:noFill/>
          <a:ln/>
        </p:spPr>
        <p:txBody>
          <a:bodyPr wrap="square" lIns="0" tIns="0" rIns="0" bIns="0" rtlCol="0" anchor="ctr"/>
          <a:lstStyle/>
          <a:p>
            <a:pPr marL="342900" indent="-342900">
              <a:buSzPct val="100000"/>
              <a:buChar char="•"/>
            </a:pPr>
            <a:r>
              <a:rPr lang="en-US" sz="1800" dirty="0">
                <a:solidFill>
                  <a:srgbClr val="FFFFFF"/>
                </a:solidFill>
                <a:latin typeface="Calibri" pitchFamily="34" charset="0"/>
                <a:ea typeface="Calibri" pitchFamily="34" charset="-122"/>
                <a:cs typeface="Calibri" pitchFamily="34" charset="-120"/>
              </a:rPr>
              <a:t>Surcharger les slides de texte</a:t>
            </a:r>
            <a:endParaRPr lang="en-US" sz="1800" dirty="0"/>
          </a:p>
        </p:txBody>
      </p:sp>
      <p:sp>
        <p:nvSpPr>
          <p:cNvPr id="22" name="Text 18"/>
          <p:cNvSpPr/>
          <p:nvPr/>
        </p:nvSpPr>
        <p:spPr>
          <a:xfrm>
            <a:off x="6537960" y="4932382"/>
            <a:ext cx="4617720" cy="457200"/>
          </a:xfrm>
          <a:prstGeom prst="rect">
            <a:avLst/>
          </a:prstGeom>
          <a:noFill/>
          <a:ln/>
        </p:spPr>
        <p:txBody>
          <a:bodyPr wrap="square" lIns="0" tIns="0" rIns="0" bIns="0" rtlCol="0" anchor="ctr"/>
          <a:lstStyle/>
          <a:p>
            <a:pPr marL="342900" indent="-342900">
              <a:buSzPct val="100000"/>
              <a:buChar char="•"/>
            </a:pPr>
            <a:r>
              <a:rPr lang="en-US" sz="1800" dirty="0">
                <a:solidFill>
                  <a:srgbClr val="FFFFFF"/>
                </a:solidFill>
                <a:latin typeface="Calibri" pitchFamily="34" charset="0"/>
                <a:ea typeface="Calibri" pitchFamily="34" charset="-122"/>
                <a:cs typeface="Calibri" pitchFamily="34" charset="-120"/>
              </a:rPr>
              <a:t>Utiliser des polices trop petites</a:t>
            </a:r>
            <a:endParaRPr lang="en-US" sz="1800" dirty="0"/>
          </a:p>
        </p:txBody>
      </p:sp>
      <p:sp>
        <p:nvSpPr>
          <p:cNvPr id="23" name="Text 19"/>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24" name="Text 2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17</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5545836" y="2103120"/>
            <a:ext cx="1097280" cy="1097280"/>
          </a:xfrm>
          <a:prstGeom prst="ellipse">
            <a:avLst/>
          </a:prstGeom>
          <a:solidFill>
            <a:srgbClr val="8E2DE2"/>
          </a:solidFill>
          <a:ln/>
        </p:spPr>
      </p:sp>
      <p:pic>
        <p:nvPicPr>
          <p:cNvPr id="3" name="Image 0" descr="preencoded.png"/>
          <p:cNvPicPr>
            <a:picLocks noChangeAspect="1"/>
          </p:cNvPicPr>
          <p:nvPr/>
        </p:nvPicPr>
        <p:blipFill>
          <a:blip r:embed="rId3"/>
          <a:stretch>
            <a:fillRect/>
          </a:stretch>
        </p:blipFill>
        <p:spPr>
          <a:xfrm>
            <a:off x="5677510" y="2234794"/>
            <a:ext cx="833933" cy="833933"/>
          </a:xfrm>
          <a:prstGeom prst="rect">
            <a:avLst/>
          </a:prstGeom>
        </p:spPr>
      </p:pic>
      <p:sp>
        <p:nvSpPr>
          <p:cNvPr id="4" name="Text 1"/>
          <p:cNvSpPr/>
          <p:nvPr/>
        </p:nvSpPr>
        <p:spPr>
          <a:xfrm>
            <a:off x="0" y="3383280"/>
            <a:ext cx="12188952" cy="82296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PAUSE</a:t>
            </a:r>
            <a:endParaRPr lang="en-US" sz="4600" dirty="0"/>
          </a:p>
        </p:txBody>
      </p:sp>
      <p:sp>
        <p:nvSpPr>
          <p:cNvPr id="6" name="Text 3"/>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7" name="Text 4"/>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18</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9601200" y="4297680"/>
            <a:ext cx="4114800" cy="4114800"/>
          </a:xfrm>
          <a:prstGeom prst="ellipse">
            <a:avLst/>
          </a:prstGeom>
          <a:solidFill>
            <a:srgbClr val="155D36"/>
          </a:solidFill>
          <a:ln/>
        </p:spPr>
      </p:sp>
      <p:sp>
        <p:nvSpPr>
          <p:cNvPr id="3" name="Shape 1"/>
          <p:cNvSpPr/>
          <p:nvPr/>
        </p:nvSpPr>
        <p:spPr>
          <a:xfrm>
            <a:off x="822960" y="1554480"/>
            <a:ext cx="1051560" cy="1051560"/>
          </a:xfrm>
          <a:prstGeom prst="ellipse">
            <a:avLst/>
          </a:prstGeom>
          <a:solidFill>
            <a:srgbClr val="8E2DE2"/>
          </a:solidFill>
          <a:ln/>
        </p:spPr>
      </p:sp>
      <p:pic>
        <p:nvPicPr>
          <p:cNvPr id="4" name="Image 0" descr="preencoded.png"/>
          <p:cNvPicPr>
            <a:picLocks noChangeAspect="1"/>
          </p:cNvPicPr>
          <p:nvPr/>
        </p:nvPicPr>
        <p:blipFill>
          <a:blip r:embed="rId3"/>
          <a:stretch>
            <a:fillRect/>
          </a:stretch>
        </p:blipFill>
        <p:spPr>
          <a:xfrm>
            <a:off x="949147" y="1680667"/>
            <a:ext cx="799186" cy="799186"/>
          </a:xfrm>
          <a:prstGeom prst="rect">
            <a:avLst/>
          </a:prstGeom>
        </p:spPr>
      </p:pic>
      <p:sp>
        <p:nvSpPr>
          <p:cNvPr id="5" name="Text 2"/>
          <p:cNvSpPr/>
          <p:nvPr/>
        </p:nvSpPr>
        <p:spPr>
          <a:xfrm>
            <a:off x="822960" y="2788920"/>
            <a:ext cx="10360152" cy="411480"/>
          </a:xfrm>
          <a:prstGeom prst="rect">
            <a:avLst/>
          </a:prstGeom>
          <a:noFill/>
          <a:ln/>
        </p:spPr>
        <p:txBody>
          <a:bodyPr wrap="square" lIns="0" tIns="0" rIns="0" bIns="0" rtlCol="0" anchor="ctr"/>
          <a:lstStyle/>
          <a:p>
            <a:pPr marL="0" indent="0">
              <a:buNone/>
            </a:pPr>
            <a:r>
              <a:rPr lang="en-US" sz="1900" b="1" kern="0" spc="200" dirty="0">
                <a:solidFill>
                  <a:srgbClr val="8E2DE2"/>
                </a:solidFill>
                <a:latin typeface="Calibri" pitchFamily="34" charset="0"/>
                <a:ea typeface="Calibri" pitchFamily="34" charset="-122"/>
                <a:cs typeface="Calibri" pitchFamily="34" charset="-120"/>
              </a:rPr>
              <a:t>SÉQUENCE 5</a:t>
            </a:r>
            <a:endParaRPr lang="en-US" sz="1900" dirty="0"/>
          </a:p>
        </p:txBody>
      </p:sp>
      <p:sp>
        <p:nvSpPr>
          <p:cNvPr id="6" name="Text 3"/>
          <p:cNvSpPr/>
          <p:nvPr/>
        </p:nvSpPr>
        <p:spPr>
          <a:xfrm>
            <a:off x="822960" y="3200400"/>
            <a:ext cx="10360152"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Combler le Fossé de l'Exécution Africaine</a:t>
            </a:r>
            <a:endParaRPr lang="en-US" sz="4000" dirty="0"/>
          </a:p>
        </p:txBody>
      </p:sp>
      <p:sp>
        <p:nvSpPr>
          <p:cNvPr id="7" name="Text 4"/>
          <p:cNvSpPr/>
          <p:nvPr/>
        </p:nvSpPr>
        <p:spPr>
          <a:xfrm>
            <a:off x="822960" y="4343400"/>
            <a:ext cx="9902952" cy="731520"/>
          </a:xfrm>
          <a:prstGeom prst="rect">
            <a:avLst/>
          </a:prstGeom>
          <a:noFill/>
          <a:ln/>
        </p:spPr>
        <p:txBody>
          <a:bodyPr wrap="square" lIns="0" tIns="0" rIns="0" bIns="0" rtlCol="0" anchor="ctr"/>
          <a:lstStyle/>
          <a:p>
            <a:pPr marL="0" indent="0">
              <a:buNone/>
            </a:pPr>
            <a:r>
              <a:rPr lang="en-US" sz="2050" i="1" dirty="0">
                <a:solidFill>
                  <a:srgbClr val="EAF5EE"/>
                </a:solidFill>
                <a:latin typeface="Calibri" pitchFamily="34" charset="0"/>
                <a:ea typeface="Calibri" pitchFamily="34" charset="-122"/>
                <a:cs typeface="Calibri" pitchFamily="34" charset="-120"/>
              </a:rPr>
              <a:t>La signature d'AFRINOVATECH — 25 minutes</a:t>
            </a:r>
            <a:endParaRPr lang="en-US" sz="2050" dirty="0"/>
          </a:p>
        </p:txBody>
      </p:sp>
      <p:sp>
        <p:nvSpPr>
          <p:cNvPr id="8" name="Text 5"/>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9" name="Text 6"/>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19</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411480"/>
          </a:xfrm>
          <a:prstGeom prst="rect">
            <a:avLst/>
          </a:prstGeom>
          <a:noFill/>
          <a:ln/>
        </p:spPr>
        <p:txBody>
          <a:bodyPr wrap="square" lIns="0" tIns="0" rIns="0" bIns="0" rtlCol="0" anchor="ctr"/>
          <a:lstStyle/>
          <a:p>
            <a:pPr marL="0" indent="0">
              <a:buNone/>
            </a:pPr>
            <a:r>
              <a:rPr lang="en-US" sz="1900" b="1" kern="0" spc="200" dirty="0">
                <a:solidFill>
                  <a:srgbClr val="8E2DE2"/>
                </a:solidFill>
                <a:latin typeface="Calibri" pitchFamily="34" charset="0"/>
                <a:ea typeface="Calibri" pitchFamily="34" charset="-122"/>
                <a:cs typeface="Calibri" pitchFamily="34" charset="-120"/>
              </a:rPr>
              <a:t>SÉQUENCE 5 — LE CONSTAT</a:t>
            </a:r>
            <a:endParaRPr lang="en-US" sz="1900" dirty="0"/>
          </a:p>
        </p:txBody>
      </p:sp>
      <p:sp>
        <p:nvSpPr>
          <p:cNvPr id="3" name="Text 1"/>
          <p:cNvSpPr/>
          <p:nvPr/>
        </p:nvSpPr>
        <p:spPr>
          <a:xfrm>
            <a:off x="640080" y="868680"/>
            <a:ext cx="10908792" cy="1188720"/>
          </a:xfrm>
          <a:prstGeom prst="rect">
            <a:avLst/>
          </a:prstGeom>
          <a:noFill/>
          <a:ln/>
        </p:spPr>
        <p:txBody>
          <a:bodyPr wrap="square" lIns="0" tIns="0" rIns="0" bIns="0" rtlCol="0" anchor="t"/>
          <a:lstStyle/>
          <a:p>
            <a:pPr marL="0" indent="0">
              <a:buNone/>
            </a:pPr>
            <a:r>
              <a:rPr lang="en-US" sz="4200" b="1" dirty="0">
                <a:solidFill>
                  <a:srgbClr val="000000"/>
                </a:solidFill>
                <a:latin typeface="Cambria" pitchFamily="34" charset="0"/>
                <a:ea typeface="Cambria" pitchFamily="34" charset="-122"/>
                <a:cs typeface="Cambria" pitchFamily="34" charset="-120"/>
              </a:rPr>
              <a:t>Les startups africaines n'échouent pas par manque d'idée</a:t>
            </a:r>
            <a:endParaRPr lang="en-US" sz="4200" dirty="0"/>
          </a:p>
        </p:txBody>
      </p:sp>
      <p:sp>
        <p:nvSpPr>
          <p:cNvPr id="4" name="Shape 2"/>
          <p:cNvSpPr/>
          <p:nvPr/>
        </p:nvSpPr>
        <p:spPr>
          <a:xfrm>
            <a:off x="640080" y="2148840"/>
            <a:ext cx="10908792" cy="1737360"/>
          </a:xfrm>
          <a:prstGeom prst="rect">
            <a:avLst/>
          </a:prstGeom>
          <a:solidFill>
            <a:srgbClr val="EAF5EE"/>
          </a:solidFill>
          <a:ln/>
          <a:effectLst>
            <a:outerShdw blurRad="152400" dist="38100" dir="2700000" algn="bl" rotWithShape="0">
              <a:srgbClr val="000000">
                <a:alpha val="15000"/>
              </a:srgbClr>
            </a:outerShdw>
          </a:effectLst>
        </p:spPr>
      </p:sp>
      <p:sp>
        <p:nvSpPr>
          <p:cNvPr id="5" name="Text 3"/>
          <p:cNvSpPr/>
          <p:nvPr/>
        </p:nvSpPr>
        <p:spPr>
          <a:xfrm>
            <a:off x="914400" y="2331720"/>
            <a:ext cx="10360152" cy="1371600"/>
          </a:xfrm>
          <a:prstGeom prst="rect">
            <a:avLst/>
          </a:prstGeom>
          <a:noFill/>
          <a:ln/>
        </p:spPr>
        <p:txBody>
          <a:bodyPr wrap="square" lIns="0" tIns="0" rIns="0" bIns="0" rtlCol="0" anchor="ctr"/>
          <a:lstStyle/>
          <a:p>
            <a:pPr marL="0" indent="0">
              <a:lnSpc>
                <a:spcPct val="130000"/>
              </a:lnSpc>
              <a:buNone/>
            </a:pPr>
            <a:r>
              <a:rPr lang="en-US" sz="2050" dirty="0">
                <a:solidFill>
                  <a:srgbClr val="1A1A1A"/>
                </a:solidFill>
                <a:latin typeface="Calibri" pitchFamily="34" charset="0"/>
                <a:ea typeface="Calibri" pitchFamily="34" charset="-122"/>
                <a:cs typeface="Calibri" pitchFamily="34" charset="-120"/>
              </a:rPr>
              <a:t>Elles échouent parce qu'elles ne franchissent pas certaines étapes critiques : accès au marché, réglementation, crédibilité face aux grandes institutions, capacité d'exécution, passage du pilote à l'échelle.</a:t>
            </a:r>
            <a:endParaRPr lang="en-US" sz="2050" dirty="0"/>
          </a:p>
        </p:txBody>
      </p:sp>
      <p:sp>
        <p:nvSpPr>
          <p:cNvPr id="6" name="Text 4"/>
          <p:cNvSpPr/>
          <p:nvPr/>
        </p:nvSpPr>
        <p:spPr>
          <a:xfrm>
            <a:off x="640080" y="4069080"/>
            <a:ext cx="10908792" cy="457200"/>
          </a:xfrm>
          <a:prstGeom prst="rect">
            <a:avLst/>
          </a:prstGeom>
          <a:noFill/>
          <a:ln/>
        </p:spPr>
        <p:txBody>
          <a:bodyPr wrap="square" lIns="0" tIns="0" rIns="0" bIns="0" rtlCol="0" anchor="ctr"/>
          <a:lstStyle/>
          <a:p>
            <a:pPr marL="0" indent="0">
              <a:buNone/>
            </a:pPr>
            <a:r>
              <a:rPr lang="en-US" sz="2050" b="1" dirty="0">
                <a:solidFill>
                  <a:srgbClr val="000000"/>
                </a:solidFill>
                <a:latin typeface="Calibri" pitchFamily="34" charset="0"/>
                <a:ea typeface="Calibri" pitchFamily="34" charset="-122"/>
                <a:cs typeface="Calibri" pitchFamily="34" charset="-120"/>
              </a:rPr>
              <a:t>Chaque équipe doit répondre à ces 4 questions :</a:t>
            </a:r>
            <a:endParaRPr lang="en-US" sz="2050" dirty="0"/>
          </a:p>
        </p:txBody>
      </p:sp>
      <p:sp>
        <p:nvSpPr>
          <p:cNvPr id="7" name="Shape 5"/>
          <p:cNvSpPr/>
          <p:nvPr/>
        </p:nvSpPr>
        <p:spPr>
          <a:xfrm>
            <a:off x="640080" y="4572000"/>
            <a:ext cx="320040" cy="320040"/>
          </a:xfrm>
          <a:prstGeom prst="ellipse">
            <a:avLst/>
          </a:prstGeom>
          <a:solidFill>
            <a:srgbClr val="8E2DE2"/>
          </a:solidFill>
          <a:ln/>
        </p:spPr>
      </p:sp>
      <p:sp>
        <p:nvSpPr>
          <p:cNvPr id="8" name="Text 6"/>
          <p:cNvSpPr/>
          <p:nvPr/>
        </p:nvSpPr>
        <p:spPr>
          <a:xfrm>
            <a:off x="640080" y="4572000"/>
            <a:ext cx="320040" cy="320040"/>
          </a:xfrm>
          <a:prstGeom prst="rect">
            <a:avLst/>
          </a:prstGeom>
          <a:noFill/>
          <a:ln/>
        </p:spPr>
        <p:txBody>
          <a:bodyPr wrap="square" lIns="0" tIns="0" rIns="0" bIns="0" rtlCol="0" anchor="ctr"/>
          <a:lstStyle/>
          <a:p>
            <a:pPr marL="0" indent="0" algn="ctr">
              <a:buNone/>
            </a:pPr>
            <a:r>
              <a:rPr lang="en-US" sz="1750" b="1" dirty="0">
                <a:solidFill>
                  <a:srgbClr val="000000"/>
                </a:solidFill>
                <a:latin typeface="Calibri" pitchFamily="34" charset="0"/>
                <a:ea typeface="Calibri" pitchFamily="34" charset="-122"/>
                <a:cs typeface="Calibri" pitchFamily="34" charset="-120"/>
              </a:rPr>
              <a:t>1</a:t>
            </a:r>
            <a:endParaRPr lang="en-US" sz="1750" dirty="0"/>
          </a:p>
        </p:txBody>
      </p:sp>
      <p:sp>
        <p:nvSpPr>
          <p:cNvPr id="9" name="Text 7"/>
          <p:cNvSpPr/>
          <p:nvPr/>
        </p:nvSpPr>
        <p:spPr>
          <a:xfrm>
            <a:off x="1097280" y="4526280"/>
            <a:ext cx="10360152" cy="411480"/>
          </a:xfrm>
          <a:prstGeom prst="rect">
            <a:avLst/>
          </a:prstGeom>
          <a:noFill/>
          <a:ln/>
        </p:spPr>
        <p:txBody>
          <a:bodyPr wrap="square" lIns="0" tIns="0" rIns="0" bIns="0" rtlCol="0" anchor="ctr"/>
          <a:lstStyle/>
          <a:p>
            <a:pPr marL="0" indent="0">
              <a:buNone/>
            </a:pPr>
            <a:r>
              <a:rPr lang="en-US" sz="1700" dirty="0">
                <a:solidFill>
                  <a:srgbClr val="1A1A1A"/>
                </a:solidFill>
                <a:latin typeface="Calibri" pitchFamily="34" charset="0"/>
                <a:ea typeface="Calibri" pitchFamily="34" charset="-122"/>
                <a:cs typeface="Calibri" pitchFamily="34" charset="-120"/>
              </a:rPr>
              <a:t>Avez-vous identifié les contraintes réglementaires (BCEAO, ministères, normes) ?</a:t>
            </a:r>
            <a:endParaRPr lang="en-US" sz="1700" dirty="0"/>
          </a:p>
        </p:txBody>
      </p:sp>
      <p:sp>
        <p:nvSpPr>
          <p:cNvPr id="10" name="Shape 8"/>
          <p:cNvSpPr/>
          <p:nvPr/>
        </p:nvSpPr>
        <p:spPr>
          <a:xfrm>
            <a:off x="640080" y="5029200"/>
            <a:ext cx="320040" cy="320040"/>
          </a:xfrm>
          <a:prstGeom prst="ellipse">
            <a:avLst/>
          </a:prstGeom>
          <a:solidFill>
            <a:srgbClr val="8E2DE2"/>
          </a:solidFill>
          <a:ln/>
        </p:spPr>
      </p:sp>
      <p:sp>
        <p:nvSpPr>
          <p:cNvPr id="11" name="Text 9"/>
          <p:cNvSpPr/>
          <p:nvPr/>
        </p:nvSpPr>
        <p:spPr>
          <a:xfrm>
            <a:off x="640080" y="5029200"/>
            <a:ext cx="320040" cy="320040"/>
          </a:xfrm>
          <a:prstGeom prst="rect">
            <a:avLst/>
          </a:prstGeom>
          <a:noFill/>
          <a:ln/>
        </p:spPr>
        <p:txBody>
          <a:bodyPr wrap="square" lIns="0" tIns="0" rIns="0" bIns="0" rtlCol="0" anchor="ctr"/>
          <a:lstStyle/>
          <a:p>
            <a:pPr marL="0" indent="0" algn="ctr">
              <a:buNone/>
            </a:pPr>
            <a:r>
              <a:rPr lang="en-US" sz="1750" b="1" dirty="0">
                <a:solidFill>
                  <a:srgbClr val="000000"/>
                </a:solidFill>
                <a:latin typeface="Calibri" pitchFamily="34" charset="0"/>
                <a:ea typeface="Calibri" pitchFamily="34" charset="-122"/>
                <a:cs typeface="Calibri" pitchFamily="34" charset="-120"/>
              </a:rPr>
              <a:t>2</a:t>
            </a:r>
            <a:endParaRPr lang="en-US" sz="1750" dirty="0"/>
          </a:p>
        </p:txBody>
      </p:sp>
      <p:sp>
        <p:nvSpPr>
          <p:cNvPr id="12" name="Text 10"/>
          <p:cNvSpPr/>
          <p:nvPr/>
        </p:nvSpPr>
        <p:spPr>
          <a:xfrm>
            <a:off x="1097280" y="4983480"/>
            <a:ext cx="10360152" cy="411480"/>
          </a:xfrm>
          <a:prstGeom prst="rect">
            <a:avLst/>
          </a:prstGeom>
          <a:noFill/>
          <a:ln/>
        </p:spPr>
        <p:txBody>
          <a:bodyPr wrap="square" lIns="0" tIns="0" rIns="0" bIns="0" rtlCol="0" anchor="ctr"/>
          <a:lstStyle/>
          <a:p>
            <a:pPr marL="0" indent="0">
              <a:buNone/>
            </a:pPr>
            <a:r>
              <a:rPr lang="en-US" sz="1700" dirty="0">
                <a:solidFill>
                  <a:srgbClr val="1A1A1A"/>
                </a:solidFill>
                <a:latin typeface="Calibri" pitchFamily="34" charset="0"/>
                <a:ea typeface="Calibri" pitchFamily="34" charset="-122"/>
                <a:cs typeface="Calibri" pitchFamily="34" charset="-120"/>
              </a:rPr>
              <a:t>Savez-vous à qui vendre : institution financière, entreprise, gouvernement ?</a:t>
            </a:r>
            <a:endParaRPr lang="en-US" sz="1700" dirty="0"/>
          </a:p>
        </p:txBody>
      </p:sp>
      <p:sp>
        <p:nvSpPr>
          <p:cNvPr id="13" name="Shape 11"/>
          <p:cNvSpPr/>
          <p:nvPr/>
        </p:nvSpPr>
        <p:spPr>
          <a:xfrm>
            <a:off x="640080" y="5486400"/>
            <a:ext cx="320040" cy="320040"/>
          </a:xfrm>
          <a:prstGeom prst="ellipse">
            <a:avLst/>
          </a:prstGeom>
          <a:solidFill>
            <a:srgbClr val="8E2DE2"/>
          </a:solidFill>
          <a:ln/>
        </p:spPr>
      </p:sp>
      <p:sp>
        <p:nvSpPr>
          <p:cNvPr id="14" name="Text 12"/>
          <p:cNvSpPr/>
          <p:nvPr/>
        </p:nvSpPr>
        <p:spPr>
          <a:xfrm>
            <a:off x="640080" y="5486400"/>
            <a:ext cx="320040" cy="320040"/>
          </a:xfrm>
          <a:prstGeom prst="rect">
            <a:avLst/>
          </a:prstGeom>
          <a:noFill/>
          <a:ln/>
        </p:spPr>
        <p:txBody>
          <a:bodyPr wrap="square" lIns="0" tIns="0" rIns="0" bIns="0" rtlCol="0" anchor="ctr"/>
          <a:lstStyle/>
          <a:p>
            <a:pPr marL="0" indent="0" algn="ctr">
              <a:buNone/>
            </a:pPr>
            <a:r>
              <a:rPr lang="en-US" sz="1750" b="1" dirty="0">
                <a:solidFill>
                  <a:srgbClr val="000000"/>
                </a:solidFill>
                <a:latin typeface="Calibri" pitchFamily="34" charset="0"/>
                <a:ea typeface="Calibri" pitchFamily="34" charset="-122"/>
                <a:cs typeface="Calibri" pitchFamily="34" charset="-120"/>
              </a:rPr>
              <a:t>3</a:t>
            </a:r>
            <a:endParaRPr lang="en-US" sz="1750" dirty="0"/>
          </a:p>
        </p:txBody>
      </p:sp>
      <p:sp>
        <p:nvSpPr>
          <p:cNvPr id="15" name="Text 13"/>
          <p:cNvSpPr/>
          <p:nvPr/>
        </p:nvSpPr>
        <p:spPr>
          <a:xfrm>
            <a:off x="1097280" y="5440680"/>
            <a:ext cx="10360152" cy="411480"/>
          </a:xfrm>
          <a:prstGeom prst="rect">
            <a:avLst/>
          </a:prstGeom>
          <a:noFill/>
          <a:ln/>
        </p:spPr>
        <p:txBody>
          <a:bodyPr wrap="square" lIns="0" tIns="0" rIns="0" bIns="0" rtlCol="0" anchor="ctr"/>
          <a:lstStyle/>
          <a:p>
            <a:pPr marL="0" indent="0">
              <a:buNone/>
            </a:pPr>
            <a:r>
              <a:rPr lang="en-US" sz="1700" dirty="0">
                <a:solidFill>
                  <a:srgbClr val="1A1A1A"/>
                </a:solidFill>
                <a:latin typeface="Calibri" pitchFamily="34" charset="0"/>
                <a:ea typeface="Calibri" pitchFamily="34" charset="-122"/>
                <a:cs typeface="Calibri" pitchFamily="34" charset="-120"/>
              </a:rPr>
              <a:t>Que ferez-vous après le prototype pour convaincre un premier partenaire réel ?</a:t>
            </a:r>
            <a:endParaRPr lang="en-US" sz="1700" dirty="0"/>
          </a:p>
        </p:txBody>
      </p:sp>
      <p:sp>
        <p:nvSpPr>
          <p:cNvPr id="16" name="Shape 14"/>
          <p:cNvSpPr/>
          <p:nvPr/>
        </p:nvSpPr>
        <p:spPr>
          <a:xfrm>
            <a:off x="640080" y="5943600"/>
            <a:ext cx="320040" cy="320040"/>
          </a:xfrm>
          <a:prstGeom prst="ellipse">
            <a:avLst/>
          </a:prstGeom>
          <a:solidFill>
            <a:srgbClr val="8E2DE2"/>
          </a:solidFill>
          <a:ln/>
        </p:spPr>
      </p:sp>
      <p:sp>
        <p:nvSpPr>
          <p:cNvPr id="17" name="Text 15"/>
          <p:cNvSpPr/>
          <p:nvPr/>
        </p:nvSpPr>
        <p:spPr>
          <a:xfrm>
            <a:off x="640080" y="5943600"/>
            <a:ext cx="320040" cy="320040"/>
          </a:xfrm>
          <a:prstGeom prst="rect">
            <a:avLst/>
          </a:prstGeom>
          <a:noFill/>
          <a:ln/>
        </p:spPr>
        <p:txBody>
          <a:bodyPr wrap="square" lIns="0" tIns="0" rIns="0" bIns="0" rtlCol="0" anchor="ctr"/>
          <a:lstStyle/>
          <a:p>
            <a:pPr marL="0" indent="0" algn="ctr">
              <a:buNone/>
            </a:pPr>
            <a:r>
              <a:rPr lang="en-US" sz="1750" b="1" dirty="0">
                <a:solidFill>
                  <a:srgbClr val="000000"/>
                </a:solidFill>
                <a:latin typeface="Calibri" pitchFamily="34" charset="0"/>
                <a:ea typeface="Calibri" pitchFamily="34" charset="-122"/>
                <a:cs typeface="Calibri" pitchFamily="34" charset="-120"/>
              </a:rPr>
              <a:t>4</a:t>
            </a:r>
            <a:endParaRPr lang="en-US" sz="1750" dirty="0"/>
          </a:p>
        </p:txBody>
      </p:sp>
      <p:sp>
        <p:nvSpPr>
          <p:cNvPr id="18" name="Text 16"/>
          <p:cNvSpPr/>
          <p:nvPr/>
        </p:nvSpPr>
        <p:spPr>
          <a:xfrm>
            <a:off x="1097280" y="5897880"/>
            <a:ext cx="10360152" cy="411480"/>
          </a:xfrm>
          <a:prstGeom prst="rect">
            <a:avLst/>
          </a:prstGeom>
          <a:noFill/>
          <a:ln/>
        </p:spPr>
        <p:txBody>
          <a:bodyPr wrap="square" lIns="0" tIns="0" rIns="0" bIns="0" rtlCol="0" anchor="ctr"/>
          <a:lstStyle/>
          <a:p>
            <a:pPr marL="0" indent="0">
              <a:buNone/>
            </a:pPr>
            <a:r>
              <a:rPr lang="en-US" sz="1700" dirty="0">
                <a:solidFill>
                  <a:srgbClr val="1A1A1A"/>
                </a:solidFill>
                <a:latin typeface="Calibri" pitchFamily="34" charset="0"/>
                <a:ea typeface="Calibri" pitchFamily="34" charset="-122"/>
                <a:cs typeface="Calibri" pitchFamily="34" charset="-120"/>
              </a:rPr>
              <a:t>Comment passer du pilote à l'échelle nationale, puis régionale ?</a:t>
            </a:r>
            <a:endParaRPr lang="en-US" sz="1700" dirty="0"/>
          </a:p>
        </p:txBody>
      </p:sp>
      <p:sp>
        <p:nvSpPr>
          <p:cNvPr id="19" name="Text 17"/>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20" name="Text 18"/>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20</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2286000" y="-2286000"/>
            <a:ext cx="5486400" cy="5486400"/>
          </a:xfrm>
          <a:prstGeom prst="ellipse">
            <a:avLst/>
          </a:prstGeom>
          <a:solidFill>
            <a:srgbClr val="155D36"/>
          </a:solidFill>
          <a:ln/>
        </p:spPr>
      </p:sp>
      <p:sp>
        <p:nvSpPr>
          <p:cNvPr id="3" name="Text 1"/>
          <p:cNvSpPr/>
          <p:nvPr/>
        </p:nvSpPr>
        <p:spPr>
          <a:xfrm>
            <a:off x="1097280" y="1828800"/>
            <a:ext cx="9994392" cy="457200"/>
          </a:xfrm>
          <a:prstGeom prst="rect">
            <a:avLst/>
          </a:prstGeom>
          <a:noFill/>
          <a:ln/>
        </p:spPr>
        <p:txBody>
          <a:bodyPr wrap="square" lIns="0" tIns="0" rIns="0" bIns="0" rtlCol="0" anchor="ctr"/>
          <a:lstStyle/>
          <a:p>
            <a:pPr marL="0" indent="0">
              <a:buNone/>
            </a:pPr>
            <a:r>
              <a:rPr lang="en-US" sz="1800" b="1" kern="0" spc="200" dirty="0">
                <a:solidFill>
                  <a:srgbClr val="8E2DE2"/>
                </a:solidFill>
                <a:latin typeface="Calibri" pitchFamily="34" charset="0"/>
                <a:ea typeface="Calibri" pitchFamily="34" charset="-122"/>
                <a:cs typeface="Calibri" pitchFamily="34" charset="-120"/>
              </a:rPr>
              <a:t>LE MESSAGE À TRANSMETTRE</a:t>
            </a:r>
            <a:endParaRPr lang="en-US" sz="1800" dirty="0"/>
          </a:p>
        </p:txBody>
      </p:sp>
      <p:sp>
        <p:nvSpPr>
          <p:cNvPr id="4" name="Text 2"/>
          <p:cNvSpPr/>
          <p:nvPr/>
        </p:nvSpPr>
        <p:spPr>
          <a:xfrm>
            <a:off x="1097280" y="2331720"/>
            <a:ext cx="9994392" cy="2377440"/>
          </a:xfrm>
          <a:prstGeom prst="rect">
            <a:avLst/>
          </a:prstGeom>
          <a:noFill/>
          <a:ln/>
        </p:spPr>
        <p:txBody>
          <a:bodyPr wrap="square" lIns="0" tIns="0" rIns="0" bIns="0" rtlCol="0" anchor="t"/>
          <a:lstStyle/>
          <a:p>
            <a:pPr marL="0" indent="0">
              <a:lnSpc>
                <a:spcPct val="125000"/>
              </a:lnSpc>
              <a:buNone/>
            </a:pPr>
            <a:r>
              <a:rPr lang="en-US" sz="3200" i="1" dirty="0">
                <a:solidFill>
                  <a:srgbClr val="FFFFFF"/>
                </a:solidFill>
                <a:latin typeface="Cambria" pitchFamily="34" charset="0"/>
                <a:ea typeface="Cambria" pitchFamily="34" charset="-122"/>
                <a:cs typeface="Cambria" pitchFamily="34" charset="-120"/>
              </a:rPr>
              <a:t>« Les meilleures startups du monde savent construire un produit. Les startups qui gagnent en Afrique savent, en plus, exécuter dans un marché réglementé et transformer un pilote en déploiement réel. C'est ce Fossé de l'Exécution Africaine que le jury cherche à voir comblé dans votre pitch. »</a:t>
            </a:r>
            <a:endParaRPr lang="en-US" sz="3200" dirty="0"/>
          </a:p>
        </p:txBody>
      </p:sp>
      <p:sp>
        <p:nvSpPr>
          <p:cNvPr id="5" name="Text 3"/>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6" name="Text 4"/>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21</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9601200" y="4297680"/>
            <a:ext cx="4114800" cy="4114800"/>
          </a:xfrm>
          <a:prstGeom prst="ellipse">
            <a:avLst/>
          </a:prstGeom>
          <a:solidFill>
            <a:srgbClr val="155D36"/>
          </a:solidFill>
          <a:ln/>
        </p:spPr>
      </p:sp>
      <p:sp>
        <p:nvSpPr>
          <p:cNvPr id="3" name="Shape 1"/>
          <p:cNvSpPr/>
          <p:nvPr/>
        </p:nvSpPr>
        <p:spPr>
          <a:xfrm>
            <a:off x="822960" y="1554480"/>
            <a:ext cx="1051560" cy="1051560"/>
          </a:xfrm>
          <a:prstGeom prst="ellipse">
            <a:avLst/>
          </a:prstGeom>
          <a:solidFill>
            <a:srgbClr val="8E2DE2"/>
          </a:solidFill>
          <a:ln/>
        </p:spPr>
      </p:sp>
      <p:pic>
        <p:nvPicPr>
          <p:cNvPr id="4" name="Image 0" descr="preencoded.png"/>
          <p:cNvPicPr>
            <a:picLocks noChangeAspect="1"/>
          </p:cNvPicPr>
          <p:nvPr/>
        </p:nvPicPr>
        <p:blipFill>
          <a:blip r:embed="rId3"/>
          <a:stretch>
            <a:fillRect/>
          </a:stretch>
        </p:blipFill>
        <p:spPr>
          <a:xfrm>
            <a:off x="949147" y="1680667"/>
            <a:ext cx="799186" cy="799186"/>
          </a:xfrm>
          <a:prstGeom prst="rect">
            <a:avLst/>
          </a:prstGeom>
        </p:spPr>
      </p:pic>
      <p:sp>
        <p:nvSpPr>
          <p:cNvPr id="5" name="Text 2"/>
          <p:cNvSpPr/>
          <p:nvPr/>
        </p:nvSpPr>
        <p:spPr>
          <a:xfrm>
            <a:off x="822960" y="2788920"/>
            <a:ext cx="10360152" cy="411480"/>
          </a:xfrm>
          <a:prstGeom prst="rect">
            <a:avLst/>
          </a:prstGeom>
          <a:noFill/>
          <a:ln/>
        </p:spPr>
        <p:txBody>
          <a:bodyPr wrap="square" lIns="0" tIns="0" rIns="0" bIns="0" rtlCol="0" anchor="ctr"/>
          <a:lstStyle/>
          <a:p>
            <a:pPr marL="0" indent="0">
              <a:buNone/>
            </a:pPr>
            <a:r>
              <a:rPr lang="en-US" sz="1900" b="1" kern="0" spc="200" dirty="0">
                <a:solidFill>
                  <a:srgbClr val="8E2DE2"/>
                </a:solidFill>
                <a:latin typeface="Calibri" pitchFamily="34" charset="0"/>
                <a:ea typeface="Calibri" pitchFamily="34" charset="-122"/>
                <a:cs typeface="Calibri" pitchFamily="34" charset="-120"/>
              </a:rPr>
              <a:t>SÉQUENCE 6</a:t>
            </a:r>
            <a:endParaRPr lang="en-US" sz="1900" dirty="0"/>
          </a:p>
        </p:txBody>
      </p:sp>
      <p:sp>
        <p:nvSpPr>
          <p:cNvPr id="6" name="Text 3"/>
          <p:cNvSpPr/>
          <p:nvPr/>
        </p:nvSpPr>
        <p:spPr>
          <a:xfrm>
            <a:off x="822960" y="3200400"/>
            <a:ext cx="10360152"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Gérer les questions du jury</a:t>
            </a:r>
            <a:endParaRPr lang="en-US" sz="4000" dirty="0"/>
          </a:p>
        </p:txBody>
      </p:sp>
      <p:sp>
        <p:nvSpPr>
          <p:cNvPr id="7" name="Text 4"/>
          <p:cNvSpPr/>
          <p:nvPr/>
        </p:nvSpPr>
        <p:spPr>
          <a:xfrm>
            <a:off x="822960" y="4343400"/>
            <a:ext cx="9902952" cy="731520"/>
          </a:xfrm>
          <a:prstGeom prst="rect">
            <a:avLst/>
          </a:prstGeom>
          <a:noFill/>
          <a:ln/>
        </p:spPr>
        <p:txBody>
          <a:bodyPr wrap="square" lIns="0" tIns="0" rIns="0" bIns="0" rtlCol="0" anchor="ctr"/>
          <a:lstStyle/>
          <a:p>
            <a:pPr marL="0" indent="0">
              <a:buNone/>
            </a:pPr>
            <a:r>
              <a:rPr lang="en-US" sz="2050" i="1" dirty="0">
                <a:solidFill>
                  <a:srgbClr val="EAF5EE"/>
                </a:solidFill>
                <a:latin typeface="Calibri" pitchFamily="34" charset="0"/>
                <a:ea typeface="Calibri" pitchFamily="34" charset="-122"/>
                <a:cs typeface="Calibri" pitchFamily="34" charset="-120"/>
              </a:rPr>
              <a:t>La plupart des compétitions se gagnent en Q&amp;A — 15 minutes</a:t>
            </a:r>
            <a:endParaRPr lang="en-US" sz="2050" dirty="0"/>
          </a:p>
        </p:txBody>
      </p:sp>
      <p:sp>
        <p:nvSpPr>
          <p:cNvPr id="8" name="Text 5"/>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9" name="Text 6"/>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22</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411480"/>
          </a:xfrm>
          <a:prstGeom prst="rect">
            <a:avLst/>
          </a:prstGeom>
          <a:noFill/>
          <a:ln/>
        </p:spPr>
        <p:txBody>
          <a:bodyPr wrap="square" lIns="0" tIns="0" rIns="0" bIns="0" rtlCol="0" anchor="ctr"/>
          <a:lstStyle/>
          <a:p>
            <a:pPr marL="0" indent="0">
              <a:buNone/>
            </a:pPr>
            <a:r>
              <a:rPr lang="en-US" sz="1900" b="1" kern="0" spc="200" dirty="0">
                <a:solidFill>
                  <a:srgbClr val="8E2DE2"/>
                </a:solidFill>
                <a:latin typeface="Calibri" pitchFamily="34" charset="0"/>
                <a:ea typeface="Calibri" pitchFamily="34" charset="-122"/>
                <a:cs typeface="Calibri" pitchFamily="34" charset="-120"/>
              </a:rPr>
              <a:t>SÉQUENCE 6</a:t>
            </a:r>
            <a:endParaRPr lang="en-US" sz="1900" dirty="0"/>
          </a:p>
        </p:txBody>
      </p:sp>
      <p:sp>
        <p:nvSpPr>
          <p:cNvPr id="3" name="Text 1"/>
          <p:cNvSpPr/>
          <p:nvPr/>
        </p:nvSpPr>
        <p:spPr>
          <a:xfrm>
            <a:off x="640080" y="868680"/>
            <a:ext cx="10908792" cy="1188720"/>
          </a:xfrm>
          <a:prstGeom prst="rect">
            <a:avLst/>
          </a:prstGeom>
          <a:noFill/>
          <a:ln/>
        </p:spPr>
        <p:txBody>
          <a:bodyPr wrap="square" lIns="0" tIns="0" rIns="0" bIns="0" rtlCol="0" anchor="t"/>
          <a:lstStyle/>
          <a:p>
            <a:pPr marL="0" indent="0">
              <a:buNone/>
            </a:pPr>
            <a:r>
              <a:rPr lang="en-US" sz="4200" b="1" dirty="0">
                <a:solidFill>
                  <a:srgbClr val="000000"/>
                </a:solidFill>
                <a:latin typeface="Cambria" pitchFamily="34" charset="0"/>
                <a:ea typeface="Cambria" pitchFamily="34" charset="-122"/>
                <a:cs typeface="Cambria" pitchFamily="34" charset="-120"/>
              </a:rPr>
              <a:t>Le cadre de réponse en 5 étapes</a:t>
            </a:r>
            <a:endParaRPr lang="en-US" sz="4200" dirty="0"/>
          </a:p>
        </p:txBody>
      </p:sp>
      <p:sp>
        <p:nvSpPr>
          <p:cNvPr id="4" name="Shape 2"/>
          <p:cNvSpPr/>
          <p:nvPr/>
        </p:nvSpPr>
        <p:spPr>
          <a:xfrm>
            <a:off x="640080" y="2148840"/>
            <a:ext cx="2035454" cy="1188720"/>
          </a:xfrm>
          <a:prstGeom prst="rect">
            <a:avLst/>
          </a:prstGeom>
          <a:solidFill>
            <a:srgbClr val="000000"/>
          </a:solidFill>
          <a:ln/>
        </p:spPr>
      </p:sp>
      <p:sp>
        <p:nvSpPr>
          <p:cNvPr id="5" name="Text 3"/>
          <p:cNvSpPr/>
          <p:nvPr/>
        </p:nvSpPr>
        <p:spPr>
          <a:xfrm>
            <a:off x="685800" y="2148840"/>
            <a:ext cx="1944014" cy="11887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Écouter</a:t>
            </a:r>
            <a:endParaRPr lang="en-US" sz="1700" dirty="0"/>
          </a:p>
        </p:txBody>
      </p:sp>
      <p:sp>
        <p:nvSpPr>
          <p:cNvPr id="6" name="Shape 4"/>
          <p:cNvSpPr/>
          <p:nvPr/>
        </p:nvSpPr>
        <p:spPr>
          <a:xfrm>
            <a:off x="2858414" y="2148840"/>
            <a:ext cx="2035454" cy="1188720"/>
          </a:xfrm>
          <a:prstGeom prst="rect">
            <a:avLst/>
          </a:prstGeom>
          <a:solidFill>
            <a:srgbClr val="000000"/>
          </a:solidFill>
          <a:ln/>
        </p:spPr>
      </p:sp>
      <p:sp>
        <p:nvSpPr>
          <p:cNvPr id="7" name="Text 5"/>
          <p:cNvSpPr/>
          <p:nvPr/>
        </p:nvSpPr>
        <p:spPr>
          <a:xfrm>
            <a:off x="2904134" y="2148840"/>
            <a:ext cx="1944014" cy="11887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Pause</a:t>
            </a:r>
            <a:endParaRPr lang="en-US" sz="1700" dirty="0"/>
          </a:p>
        </p:txBody>
      </p:sp>
      <p:sp>
        <p:nvSpPr>
          <p:cNvPr id="8" name="Shape 6"/>
          <p:cNvSpPr/>
          <p:nvPr/>
        </p:nvSpPr>
        <p:spPr>
          <a:xfrm>
            <a:off x="5076749" y="2148840"/>
            <a:ext cx="2035454" cy="1188720"/>
          </a:xfrm>
          <a:prstGeom prst="rect">
            <a:avLst/>
          </a:prstGeom>
          <a:solidFill>
            <a:srgbClr val="000000"/>
          </a:solidFill>
          <a:ln/>
        </p:spPr>
      </p:sp>
      <p:sp>
        <p:nvSpPr>
          <p:cNvPr id="9" name="Text 7"/>
          <p:cNvSpPr/>
          <p:nvPr/>
        </p:nvSpPr>
        <p:spPr>
          <a:xfrm>
            <a:off x="5122469" y="2148840"/>
            <a:ext cx="1944014" cy="11887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Répondre</a:t>
            </a:r>
            <a:endParaRPr lang="en-US" sz="1700" dirty="0"/>
          </a:p>
        </p:txBody>
      </p:sp>
      <p:sp>
        <p:nvSpPr>
          <p:cNvPr id="10" name="Shape 8"/>
          <p:cNvSpPr/>
          <p:nvPr/>
        </p:nvSpPr>
        <p:spPr>
          <a:xfrm>
            <a:off x="7295083" y="2148840"/>
            <a:ext cx="2035454" cy="1188720"/>
          </a:xfrm>
          <a:prstGeom prst="rect">
            <a:avLst/>
          </a:prstGeom>
          <a:solidFill>
            <a:srgbClr val="000000"/>
          </a:solidFill>
          <a:ln/>
        </p:spPr>
      </p:sp>
      <p:sp>
        <p:nvSpPr>
          <p:cNvPr id="11" name="Text 9"/>
          <p:cNvSpPr/>
          <p:nvPr/>
        </p:nvSpPr>
        <p:spPr>
          <a:xfrm>
            <a:off x="7340803" y="2148840"/>
            <a:ext cx="1944014" cy="11887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Appuyer avec un fait</a:t>
            </a:r>
            <a:endParaRPr lang="en-US" sz="1700" dirty="0"/>
          </a:p>
        </p:txBody>
      </p:sp>
      <p:sp>
        <p:nvSpPr>
          <p:cNvPr id="12" name="Shape 10"/>
          <p:cNvSpPr/>
          <p:nvPr/>
        </p:nvSpPr>
        <p:spPr>
          <a:xfrm>
            <a:off x="9513418" y="2148840"/>
            <a:ext cx="2035454" cy="1188720"/>
          </a:xfrm>
          <a:prstGeom prst="rect">
            <a:avLst/>
          </a:prstGeom>
          <a:solidFill>
            <a:srgbClr val="000000"/>
          </a:solidFill>
          <a:ln/>
        </p:spPr>
      </p:sp>
      <p:sp>
        <p:nvSpPr>
          <p:cNvPr id="13" name="Text 11"/>
          <p:cNvSpPr/>
          <p:nvPr/>
        </p:nvSpPr>
        <p:spPr>
          <a:xfrm>
            <a:off x="9559138" y="2148840"/>
            <a:ext cx="1944014" cy="11887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Conclure</a:t>
            </a:r>
            <a:endParaRPr lang="en-US" sz="1700" dirty="0"/>
          </a:p>
        </p:txBody>
      </p:sp>
      <p:sp>
        <p:nvSpPr>
          <p:cNvPr id="14" name="Text 12"/>
          <p:cNvSpPr/>
          <p:nvPr/>
        </p:nvSpPr>
        <p:spPr>
          <a:xfrm>
            <a:off x="640080" y="3566160"/>
            <a:ext cx="10908792" cy="411480"/>
          </a:xfrm>
          <a:prstGeom prst="rect">
            <a:avLst/>
          </a:prstGeom>
          <a:noFill/>
          <a:ln/>
        </p:spPr>
        <p:txBody>
          <a:bodyPr wrap="square" lIns="0" tIns="0" rIns="0" bIns="0" rtlCol="0" anchor="ctr"/>
          <a:lstStyle/>
          <a:p>
            <a:pPr marL="0" indent="0">
              <a:buNone/>
            </a:pPr>
            <a:r>
              <a:rPr lang="en-US" sz="1900" b="1" dirty="0">
                <a:solidFill>
                  <a:srgbClr val="000000"/>
                </a:solidFill>
                <a:latin typeface="Calibri" pitchFamily="34" charset="0"/>
                <a:ea typeface="Calibri" pitchFamily="34" charset="-122"/>
                <a:cs typeface="Calibri" pitchFamily="34" charset="-120"/>
              </a:rPr>
              <a:t>Questions typiques à anticiper (réponse en moins d'1 minute) :</a:t>
            </a:r>
            <a:endParaRPr lang="en-US" sz="1900" dirty="0"/>
          </a:p>
        </p:txBody>
      </p:sp>
      <p:sp>
        <p:nvSpPr>
          <p:cNvPr id="15" name="Text 13"/>
          <p:cNvSpPr/>
          <p:nvPr/>
        </p:nvSpPr>
        <p:spPr>
          <a:xfrm>
            <a:off x="640080" y="4023360"/>
            <a:ext cx="5257800" cy="457200"/>
          </a:xfrm>
          <a:prstGeom prst="rect">
            <a:avLst/>
          </a:prstGeom>
          <a:noFill/>
          <a:ln/>
        </p:spPr>
        <p:txBody>
          <a:bodyPr wrap="square" lIns="0" tIns="0" rIns="0" bIns="0" rtlCol="0" anchor="ctr"/>
          <a:lstStyle/>
          <a:p>
            <a:pPr marL="342900" indent="-342900">
              <a:buSzPct val="100000"/>
              <a:buChar char="•"/>
            </a:pPr>
            <a:r>
              <a:rPr lang="en-US" sz="1750" dirty="0">
                <a:solidFill>
                  <a:srgbClr val="1A1A1A"/>
                </a:solidFill>
                <a:latin typeface="Calibri" pitchFamily="34" charset="0"/>
                <a:ea typeface="Calibri" pitchFamily="34" charset="-122"/>
                <a:cs typeface="Calibri" pitchFamily="34" charset="-120"/>
              </a:rPr>
              <a:t>Pourquoi l'IA, et pas une solution plus simple ?</a:t>
            </a:r>
            <a:endParaRPr lang="en-US" sz="1750" dirty="0"/>
          </a:p>
        </p:txBody>
      </p:sp>
      <p:sp>
        <p:nvSpPr>
          <p:cNvPr id="16" name="Text 14"/>
          <p:cNvSpPr/>
          <p:nvPr/>
        </p:nvSpPr>
        <p:spPr>
          <a:xfrm>
            <a:off x="6217920" y="4023360"/>
            <a:ext cx="5257800" cy="457200"/>
          </a:xfrm>
          <a:prstGeom prst="rect">
            <a:avLst/>
          </a:prstGeom>
          <a:noFill/>
          <a:ln/>
        </p:spPr>
        <p:txBody>
          <a:bodyPr wrap="square" lIns="0" tIns="0" rIns="0" bIns="0" rtlCol="0" anchor="ctr"/>
          <a:lstStyle/>
          <a:p>
            <a:pPr marL="342900" indent="-342900">
              <a:buSzPct val="100000"/>
              <a:buChar char="•"/>
            </a:pPr>
            <a:r>
              <a:rPr lang="en-US" sz="1750" dirty="0">
                <a:solidFill>
                  <a:srgbClr val="1A1A1A"/>
                </a:solidFill>
                <a:latin typeface="Calibri" pitchFamily="34" charset="0"/>
                <a:ea typeface="Calibri" pitchFamily="34" charset="-122"/>
                <a:cs typeface="Calibri" pitchFamily="34" charset="-120"/>
              </a:rPr>
              <a:t>Qui sont vos concurrents ?</a:t>
            </a:r>
            <a:endParaRPr lang="en-US" sz="1750" dirty="0"/>
          </a:p>
        </p:txBody>
      </p:sp>
      <p:sp>
        <p:nvSpPr>
          <p:cNvPr id="17" name="Text 15"/>
          <p:cNvSpPr/>
          <p:nvPr/>
        </p:nvSpPr>
        <p:spPr>
          <a:xfrm>
            <a:off x="640080" y="4526280"/>
            <a:ext cx="5257800" cy="457200"/>
          </a:xfrm>
          <a:prstGeom prst="rect">
            <a:avLst/>
          </a:prstGeom>
          <a:noFill/>
          <a:ln/>
        </p:spPr>
        <p:txBody>
          <a:bodyPr wrap="square" lIns="0" tIns="0" rIns="0" bIns="0" rtlCol="0" anchor="ctr"/>
          <a:lstStyle/>
          <a:p>
            <a:pPr marL="342900" indent="-342900">
              <a:buSzPct val="100000"/>
              <a:buChar char="•"/>
            </a:pPr>
            <a:r>
              <a:rPr lang="en-US" sz="1750" dirty="0">
                <a:solidFill>
                  <a:srgbClr val="1A1A1A"/>
                </a:solidFill>
                <a:latin typeface="Calibri" pitchFamily="34" charset="0"/>
                <a:ea typeface="Calibri" pitchFamily="34" charset="-122"/>
                <a:cs typeface="Calibri" pitchFamily="34" charset="-120"/>
              </a:rPr>
              <a:t>Comment générez-vous des revenus ?</a:t>
            </a:r>
            <a:endParaRPr lang="en-US" sz="1750" dirty="0"/>
          </a:p>
        </p:txBody>
      </p:sp>
      <p:sp>
        <p:nvSpPr>
          <p:cNvPr id="18" name="Text 16"/>
          <p:cNvSpPr/>
          <p:nvPr/>
        </p:nvSpPr>
        <p:spPr>
          <a:xfrm>
            <a:off x="6217920" y="4526280"/>
            <a:ext cx="5257800" cy="457200"/>
          </a:xfrm>
          <a:prstGeom prst="rect">
            <a:avLst/>
          </a:prstGeom>
          <a:noFill/>
          <a:ln/>
        </p:spPr>
        <p:txBody>
          <a:bodyPr wrap="square" lIns="0" tIns="0" rIns="0" bIns="0" rtlCol="0" anchor="ctr"/>
          <a:lstStyle/>
          <a:p>
            <a:pPr marL="342900" indent="-342900">
              <a:buSzPct val="100000"/>
              <a:buChar char="•"/>
            </a:pPr>
            <a:r>
              <a:rPr lang="en-US" sz="1750" dirty="0">
                <a:solidFill>
                  <a:srgbClr val="1A1A1A"/>
                </a:solidFill>
                <a:latin typeface="Calibri" pitchFamily="34" charset="0"/>
                <a:ea typeface="Calibri" pitchFamily="34" charset="-122"/>
                <a:cs typeface="Calibri" pitchFamily="34" charset="-120"/>
              </a:rPr>
              <a:t>Qui est votre client, précisément ?</a:t>
            </a:r>
            <a:endParaRPr lang="en-US" sz="1750" dirty="0"/>
          </a:p>
        </p:txBody>
      </p:sp>
      <p:sp>
        <p:nvSpPr>
          <p:cNvPr id="19" name="Text 17"/>
          <p:cNvSpPr/>
          <p:nvPr/>
        </p:nvSpPr>
        <p:spPr>
          <a:xfrm>
            <a:off x="640080" y="5029200"/>
            <a:ext cx="5257800" cy="457200"/>
          </a:xfrm>
          <a:prstGeom prst="rect">
            <a:avLst/>
          </a:prstGeom>
          <a:noFill/>
          <a:ln/>
        </p:spPr>
        <p:txBody>
          <a:bodyPr wrap="square" lIns="0" tIns="0" rIns="0" bIns="0" rtlCol="0" anchor="ctr"/>
          <a:lstStyle/>
          <a:p>
            <a:pPr marL="342900" indent="-342900">
              <a:buSzPct val="100000"/>
              <a:buChar char="•"/>
            </a:pPr>
            <a:r>
              <a:rPr lang="en-US" sz="1750" dirty="0">
                <a:solidFill>
                  <a:srgbClr val="1A1A1A"/>
                </a:solidFill>
                <a:latin typeface="Calibri" pitchFamily="34" charset="0"/>
                <a:ea typeface="Calibri" pitchFamily="34" charset="-122"/>
                <a:cs typeface="Calibri" pitchFamily="34" charset="-120"/>
              </a:rPr>
              <a:t>Comment allez-vous passer à l'échelle ?</a:t>
            </a:r>
            <a:endParaRPr lang="en-US" sz="1750" dirty="0"/>
          </a:p>
        </p:txBody>
      </p:sp>
      <p:sp>
        <p:nvSpPr>
          <p:cNvPr id="20" name="Text 18"/>
          <p:cNvSpPr/>
          <p:nvPr/>
        </p:nvSpPr>
        <p:spPr>
          <a:xfrm>
            <a:off x="6217920" y="5029200"/>
            <a:ext cx="5257800" cy="457200"/>
          </a:xfrm>
          <a:prstGeom prst="rect">
            <a:avLst/>
          </a:prstGeom>
          <a:noFill/>
          <a:ln/>
        </p:spPr>
        <p:txBody>
          <a:bodyPr wrap="square" lIns="0" tIns="0" rIns="0" bIns="0" rtlCol="0" anchor="ctr"/>
          <a:lstStyle/>
          <a:p>
            <a:pPr marL="342900" indent="-342900">
              <a:buSzPct val="100000"/>
              <a:buChar char="•"/>
            </a:pPr>
            <a:r>
              <a:rPr lang="en-US" sz="1750" dirty="0">
                <a:solidFill>
                  <a:srgbClr val="1A1A1A"/>
                </a:solidFill>
                <a:latin typeface="Calibri" pitchFamily="34" charset="0"/>
                <a:ea typeface="Calibri" pitchFamily="34" charset="-122"/>
                <a:cs typeface="Calibri" pitchFamily="34" charset="-120"/>
              </a:rPr>
              <a:t>Que se passe-t-il si l'IA se trompe ?</a:t>
            </a:r>
            <a:endParaRPr lang="en-US" sz="1750" dirty="0"/>
          </a:p>
        </p:txBody>
      </p:sp>
      <p:sp>
        <p:nvSpPr>
          <p:cNvPr id="21" name="Shape 19"/>
          <p:cNvSpPr/>
          <p:nvPr/>
        </p:nvSpPr>
        <p:spPr>
          <a:xfrm>
            <a:off x="640080" y="5623560"/>
            <a:ext cx="10908792" cy="685800"/>
          </a:xfrm>
          <a:prstGeom prst="rect">
            <a:avLst/>
          </a:prstGeom>
          <a:solidFill>
            <a:srgbClr val="EAF5EE"/>
          </a:solidFill>
          <a:ln/>
        </p:spPr>
      </p:sp>
      <p:sp>
        <p:nvSpPr>
          <p:cNvPr id="22" name="Text 20"/>
          <p:cNvSpPr/>
          <p:nvPr/>
        </p:nvSpPr>
        <p:spPr>
          <a:xfrm>
            <a:off x="868680" y="5623560"/>
            <a:ext cx="10451592" cy="685800"/>
          </a:xfrm>
          <a:prstGeom prst="rect">
            <a:avLst/>
          </a:prstGeom>
          <a:noFill/>
          <a:ln/>
        </p:spPr>
        <p:txBody>
          <a:bodyPr wrap="square" lIns="0" tIns="0" rIns="0" bIns="0" rtlCol="0" anchor="ctr"/>
          <a:lstStyle/>
          <a:p>
            <a:pPr marL="0" indent="0">
              <a:buNone/>
            </a:pPr>
            <a:r>
              <a:rPr lang="en-US" sz="1750" i="1" dirty="0">
                <a:solidFill>
                  <a:srgbClr val="000000"/>
                </a:solidFill>
                <a:latin typeface="Calibri" pitchFamily="34" charset="0"/>
                <a:ea typeface="Calibri" pitchFamily="34" charset="-122"/>
                <a:cs typeface="Calibri" pitchFamily="34" charset="-120"/>
              </a:rPr>
              <a:t>Note pédagogique : questions posées façon « cold-call » HBS — un membre interpellé au hasard, sans prévenir.</a:t>
            </a:r>
            <a:endParaRPr lang="en-US" sz="1750" dirty="0"/>
          </a:p>
        </p:txBody>
      </p:sp>
      <p:sp>
        <p:nvSpPr>
          <p:cNvPr id="23" name="Text 21"/>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24" name="Text 22"/>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23</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9601200" y="4297680"/>
            <a:ext cx="4114800" cy="4114800"/>
          </a:xfrm>
          <a:prstGeom prst="ellipse">
            <a:avLst/>
          </a:prstGeom>
          <a:solidFill>
            <a:srgbClr val="155D36"/>
          </a:solidFill>
          <a:ln/>
        </p:spPr>
      </p:sp>
      <p:sp>
        <p:nvSpPr>
          <p:cNvPr id="3" name="Shape 1"/>
          <p:cNvSpPr/>
          <p:nvPr/>
        </p:nvSpPr>
        <p:spPr>
          <a:xfrm>
            <a:off x="822960" y="1554480"/>
            <a:ext cx="1051560" cy="1051560"/>
          </a:xfrm>
          <a:prstGeom prst="ellipse">
            <a:avLst/>
          </a:prstGeom>
          <a:solidFill>
            <a:srgbClr val="8E2DE2"/>
          </a:solidFill>
          <a:ln/>
        </p:spPr>
      </p:sp>
      <p:pic>
        <p:nvPicPr>
          <p:cNvPr id="4" name="Image 0" descr="preencoded.png"/>
          <p:cNvPicPr>
            <a:picLocks noChangeAspect="1"/>
          </p:cNvPicPr>
          <p:nvPr/>
        </p:nvPicPr>
        <p:blipFill>
          <a:blip r:embed="rId3"/>
          <a:stretch>
            <a:fillRect/>
          </a:stretch>
        </p:blipFill>
        <p:spPr>
          <a:xfrm>
            <a:off x="949147" y="1680667"/>
            <a:ext cx="799186" cy="799186"/>
          </a:xfrm>
          <a:prstGeom prst="rect">
            <a:avLst/>
          </a:prstGeom>
        </p:spPr>
      </p:pic>
      <p:sp>
        <p:nvSpPr>
          <p:cNvPr id="5" name="Text 2"/>
          <p:cNvSpPr/>
          <p:nvPr/>
        </p:nvSpPr>
        <p:spPr>
          <a:xfrm>
            <a:off x="822960" y="2788920"/>
            <a:ext cx="10360152" cy="411480"/>
          </a:xfrm>
          <a:prstGeom prst="rect">
            <a:avLst/>
          </a:prstGeom>
          <a:noFill/>
          <a:ln/>
        </p:spPr>
        <p:txBody>
          <a:bodyPr wrap="square" lIns="0" tIns="0" rIns="0" bIns="0" rtlCol="0" anchor="ctr"/>
          <a:lstStyle/>
          <a:p>
            <a:pPr marL="0" indent="0">
              <a:buNone/>
            </a:pPr>
            <a:r>
              <a:rPr lang="en-US" sz="1900" b="1" kern="0" spc="200" dirty="0">
                <a:solidFill>
                  <a:srgbClr val="8E2DE2"/>
                </a:solidFill>
                <a:latin typeface="Calibri" pitchFamily="34" charset="0"/>
                <a:ea typeface="Calibri" pitchFamily="34" charset="-122"/>
                <a:cs typeface="Calibri" pitchFamily="34" charset="-120"/>
              </a:rPr>
              <a:t>SÉQUENCE 7</a:t>
            </a:r>
            <a:endParaRPr lang="en-US" sz="1900" dirty="0"/>
          </a:p>
        </p:txBody>
      </p:sp>
      <p:sp>
        <p:nvSpPr>
          <p:cNvPr id="6" name="Text 3"/>
          <p:cNvSpPr/>
          <p:nvPr/>
        </p:nvSpPr>
        <p:spPr>
          <a:xfrm>
            <a:off x="822960" y="3200400"/>
            <a:ext cx="10360152"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Les erreurs qui font perdre</a:t>
            </a:r>
            <a:endParaRPr lang="en-US" sz="4000" dirty="0"/>
          </a:p>
        </p:txBody>
      </p:sp>
      <p:sp>
        <p:nvSpPr>
          <p:cNvPr id="7" name="Text 4"/>
          <p:cNvSpPr/>
          <p:nvPr/>
        </p:nvSpPr>
        <p:spPr>
          <a:xfrm>
            <a:off x="822960" y="4343400"/>
            <a:ext cx="9902952" cy="731520"/>
          </a:xfrm>
          <a:prstGeom prst="rect">
            <a:avLst/>
          </a:prstGeom>
          <a:noFill/>
          <a:ln/>
        </p:spPr>
        <p:txBody>
          <a:bodyPr wrap="square" lIns="0" tIns="0" rIns="0" bIns="0" rtlCol="0" anchor="ctr"/>
          <a:lstStyle/>
          <a:p>
            <a:pPr marL="0" indent="0">
              <a:buNone/>
            </a:pPr>
            <a:r>
              <a:rPr lang="en-US" sz="2050" i="1" dirty="0">
                <a:solidFill>
                  <a:srgbClr val="EAF5EE"/>
                </a:solidFill>
                <a:latin typeface="Calibri" pitchFamily="34" charset="0"/>
                <a:ea typeface="Calibri" pitchFamily="34" charset="-122"/>
                <a:cs typeface="Calibri" pitchFamily="34" charset="-120"/>
              </a:rPr>
              <a:t>Ce qui fait chuter une équipe en compétition — 15 minutes</a:t>
            </a:r>
            <a:endParaRPr lang="en-US" sz="2050" dirty="0"/>
          </a:p>
        </p:txBody>
      </p:sp>
      <p:sp>
        <p:nvSpPr>
          <p:cNvPr id="8" name="Text 5"/>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9" name="Text 6"/>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24</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411480"/>
          </a:xfrm>
          <a:prstGeom prst="rect">
            <a:avLst/>
          </a:prstGeom>
          <a:noFill/>
          <a:ln/>
        </p:spPr>
        <p:txBody>
          <a:bodyPr wrap="square" lIns="0" tIns="0" rIns="0" bIns="0" rtlCol="0" anchor="ctr"/>
          <a:lstStyle/>
          <a:p>
            <a:pPr marL="0" indent="0">
              <a:buNone/>
            </a:pPr>
            <a:r>
              <a:rPr lang="en-US" sz="1900" b="1" kern="0" spc="200" dirty="0">
                <a:solidFill>
                  <a:srgbClr val="8E2DE2"/>
                </a:solidFill>
                <a:latin typeface="Calibri" pitchFamily="34" charset="0"/>
                <a:ea typeface="Calibri" pitchFamily="34" charset="-122"/>
                <a:cs typeface="Calibri" pitchFamily="34" charset="-120"/>
              </a:rPr>
              <a:t>SÉQUENCE 7</a:t>
            </a:r>
            <a:endParaRPr lang="en-US" sz="1900" dirty="0"/>
          </a:p>
        </p:txBody>
      </p:sp>
      <p:sp>
        <p:nvSpPr>
          <p:cNvPr id="3" name="Text 1"/>
          <p:cNvSpPr/>
          <p:nvPr/>
        </p:nvSpPr>
        <p:spPr>
          <a:xfrm>
            <a:off x="640080" y="868680"/>
            <a:ext cx="10908792" cy="1188720"/>
          </a:xfrm>
          <a:prstGeom prst="rect">
            <a:avLst/>
          </a:prstGeom>
          <a:noFill/>
          <a:ln/>
        </p:spPr>
        <p:txBody>
          <a:bodyPr wrap="square" lIns="0" tIns="0" rIns="0" bIns="0" rtlCol="0" anchor="t"/>
          <a:lstStyle/>
          <a:p>
            <a:pPr marL="0" indent="0">
              <a:buNone/>
            </a:pPr>
            <a:r>
              <a:rPr lang="en-US" sz="4200" b="1" dirty="0">
                <a:solidFill>
                  <a:srgbClr val="000000"/>
                </a:solidFill>
                <a:latin typeface="Cambria" pitchFamily="34" charset="0"/>
                <a:ea typeface="Cambria" pitchFamily="34" charset="-122"/>
                <a:cs typeface="Cambria" pitchFamily="34" charset="-120"/>
              </a:rPr>
              <a:t>9 erreurs à éliminer avant le jour J</a:t>
            </a:r>
            <a:endParaRPr lang="en-US" sz="4200" dirty="0"/>
          </a:p>
        </p:txBody>
      </p:sp>
      <p:sp>
        <p:nvSpPr>
          <p:cNvPr id="4" name="Shape 2"/>
          <p:cNvSpPr/>
          <p:nvPr/>
        </p:nvSpPr>
        <p:spPr>
          <a:xfrm>
            <a:off x="640080" y="2148840"/>
            <a:ext cx="3429000" cy="1051560"/>
          </a:xfrm>
          <a:prstGeom prst="rect">
            <a:avLst/>
          </a:prstGeom>
          <a:solidFill>
            <a:srgbClr val="EAF5EE"/>
          </a:solidFill>
          <a:ln/>
        </p:spPr>
      </p:sp>
      <p:sp>
        <p:nvSpPr>
          <p:cNvPr id="5" name="Shape 3"/>
          <p:cNvSpPr/>
          <p:nvPr/>
        </p:nvSpPr>
        <p:spPr>
          <a:xfrm>
            <a:off x="804672" y="2446020"/>
            <a:ext cx="457200" cy="457200"/>
          </a:xfrm>
          <a:prstGeom prst="ellipse">
            <a:avLst/>
          </a:prstGeom>
          <a:solidFill>
            <a:srgbClr val="8E2DE2"/>
          </a:solidFill>
          <a:ln/>
        </p:spPr>
      </p:sp>
      <p:pic>
        <p:nvPicPr>
          <p:cNvPr id="6" name="Image 0" descr="preencoded.png"/>
          <p:cNvPicPr>
            <a:picLocks noChangeAspect="1"/>
          </p:cNvPicPr>
          <p:nvPr/>
        </p:nvPicPr>
        <p:blipFill>
          <a:blip r:embed="rId3"/>
          <a:stretch>
            <a:fillRect/>
          </a:stretch>
        </p:blipFill>
        <p:spPr>
          <a:xfrm>
            <a:off x="859536" y="2500884"/>
            <a:ext cx="347472" cy="347472"/>
          </a:xfrm>
          <a:prstGeom prst="rect">
            <a:avLst/>
          </a:prstGeom>
        </p:spPr>
      </p:pic>
      <p:sp>
        <p:nvSpPr>
          <p:cNvPr id="7" name="Text 4"/>
          <p:cNvSpPr/>
          <p:nvPr/>
        </p:nvSpPr>
        <p:spPr>
          <a:xfrm>
            <a:off x="1371600" y="2148840"/>
            <a:ext cx="2514600" cy="1051560"/>
          </a:xfrm>
          <a:prstGeom prst="rect">
            <a:avLst/>
          </a:prstGeom>
          <a:noFill/>
          <a:ln/>
        </p:spPr>
        <p:txBody>
          <a:bodyPr wrap="square" lIns="0" tIns="0" rIns="0" bIns="0" rtlCol="0" anchor="ctr"/>
          <a:lstStyle/>
          <a:p>
            <a:pPr marL="0" indent="0">
              <a:lnSpc>
                <a:spcPct val="110000"/>
              </a:lnSpc>
              <a:buNone/>
            </a:pPr>
            <a:r>
              <a:rPr lang="en-US" sz="1750" dirty="0">
                <a:solidFill>
                  <a:srgbClr val="1A1A1A"/>
                </a:solidFill>
                <a:latin typeface="Calibri" pitchFamily="34" charset="0"/>
                <a:ea typeface="Calibri" pitchFamily="34" charset="-122"/>
                <a:cs typeface="Calibri" pitchFamily="34" charset="-120"/>
              </a:rPr>
              <a:t>Trop de technologie, pas assez de client</a:t>
            </a:r>
            <a:endParaRPr lang="en-US" sz="1750" dirty="0"/>
          </a:p>
        </p:txBody>
      </p:sp>
      <p:sp>
        <p:nvSpPr>
          <p:cNvPr id="8" name="Shape 5"/>
          <p:cNvSpPr/>
          <p:nvPr/>
        </p:nvSpPr>
        <p:spPr>
          <a:xfrm>
            <a:off x="4434840" y="2148840"/>
            <a:ext cx="3429000" cy="1051560"/>
          </a:xfrm>
          <a:prstGeom prst="rect">
            <a:avLst/>
          </a:prstGeom>
          <a:solidFill>
            <a:srgbClr val="EAF5EE"/>
          </a:solidFill>
          <a:ln/>
        </p:spPr>
      </p:sp>
      <p:sp>
        <p:nvSpPr>
          <p:cNvPr id="9" name="Shape 6"/>
          <p:cNvSpPr/>
          <p:nvPr/>
        </p:nvSpPr>
        <p:spPr>
          <a:xfrm>
            <a:off x="4599432" y="2446020"/>
            <a:ext cx="457200" cy="457200"/>
          </a:xfrm>
          <a:prstGeom prst="ellipse">
            <a:avLst/>
          </a:prstGeom>
          <a:solidFill>
            <a:srgbClr val="8E2DE2"/>
          </a:solidFill>
          <a:ln/>
        </p:spPr>
      </p:sp>
      <p:pic>
        <p:nvPicPr>
          <p:cNvPr id="10" name="Image 1" descr="preencoded.png"/>
          <p:cNvPicPr>
            <a:picLocks noChangeAspect="1"/>
          </p:cNvPicPr>
          <p:nvPr/>
        </p:nvPicPr>
        <p:blipFill>
          <a:blip r:embed="rId3"/>
          <a:stretch>
            <a:fillRect/>
          </a:stretch>
        </p:blipFill>
        <p:spPr>
          <a:xfrm>
            <a:off x="4654296" y="2500884"/>
            <a:ext cx="347472" cy="347472"/>
          </a:xfrm>
          <a:prstGeom prst="rect">
            <a:avLst/>
          </a:prstGeom>
        </p:spPr>
      </p:pic>
      <p:sp>
        <p:nvSpPr>
          <p:cNvPr id="11" name="Text 7"/>
          <p:cNvSpPr/>
          <p:nvPr/>
        </p:nvSpPr>
        <p:spPr>
          <a:xfrm>
            <a:off x="5166360" y="2148840"/>
            <a:ext cx="2514600" cy="1051560"/>
          </a:xfrm>
          <a:prstGeom prst="rect">
            <a:avLst/>
          </a:prstGeom>
          <a:noFill/>
          <a:ln/>
        </p:spPr>
        <p:txBody>
          <a:bodyPr wrap="square" lIns="0" tIns="0" rIns="0" bIns="0" rtlCol="0" anchor="ctr"/>
          <a:lstStyle/>
          <a:p>
            <a:pPr marL="0" indent="0">
              <a:lnSpc>
                <a:spcPct val="110000"/>
              </a:lnSpc>
              <a:buNone/>
            </a:pPr>
            <a:r>
              <a:rPr lang="en-US" sz="1750" dirty="0">
                <a:solidFill>
                  <a:srgbClr val="1A1A1A"/>
                </a:solidFill>
                <a:latin typeface="Calibri" pitchFamily="34" charset="0"/>
                <a:ea typeface="Calibri" pitchFamily="34" charset="-122"/>
                <a:cs typeface="Calibri" pitchFamily="34" charset="-120"/>
              </a:rPr>
              <a:t>Aucun modèle économique clair</a:t>
            </a:r>
            <a:endParaRPr lang="en-US" sz="1750" dirty="0"/>
          </a:p>
        </p:txBody>
      </p:sp>
      <p:sp>
        <p:nvSpPr>
          <p:cNvPr id="12" name="Shape 8"/>
          <p:cNvSpPr/>
          <p:nvPr/>
        </p:nvSpPr>
        <p:spPr>
          <a:xfrm>
            <a:off x="8229600" y="2148840"/>
            <a:ext cx="3429000" cy="1051560"/>
          </a:xfrm>
          <a:prstGeom prst="rect">
            <a:avLst/>
          </a:prstGeom>
          <a:solidFill>
            <a:srgbClr val="EAF5EE"/>
          </a:solidFill>
          <a:ln/>
        </p:spPr>
      </p:sp>
      <p:sp>
        <p:nvSpPr>
          <p:cNvPr id="13" name="Shape 9"/>
          <p:cNvSpPr/>
          <p:nvPr/>
        </p:nvSpPr>
        <p:spPr>
          <a:xfrm>
            <a:off x="8394192" y="2446020"/>
            <a:ext cx="457200" cy="457200"/>
          </a:xfrm>
          <a:prstGeom prst="ellipse">
            <a:avLst/>
          </a:prstGeom>
          <a:solidFill>
            <a:srgbClr val="8E2DE2"/>
          </a:solidFill>
          <a:ln/>
        </p:spPr>
      </p:sp>
      <p:pic>
        <p:nvPicPr>
          <p:cNvPr id="14" name="Image 2" descr="preencoded.png"/>
          <p:cNvPicPr>
            <a:picLocks noChangeAspect="1"/>
          </p:cNvPicPr>
          <p:nvPr/>
        </p:nvPicPr>
        <p:blipFill>
          <a:blip r:embed="rId3"/>
          <a:stretch>
            <a:fillRect/>
          </a:stretch>
        </p:blipFill>
        <p:spPr>
          <a:xfrm>
            <a:off x="8449056" y="2500884"/>
            <a:ext cx="347472" cy="347472"/>
          </a:xfrm>
          <a:prstGeom prst="rect">
            <a:avLst/>
          </a:prstGeom>
        </p:spPr>
      </p:pic>
      <p:sp>
        <p:nvSpPr>
          <p:cNvPr id="15" name="Text 10"/>
          <p:cNvSpPr/>
          <p:nvPr/>
        </p:nvSpPr>
        <p:spPr>
          <a:xfrm>
            <a:off x="8961120" y="2148840"/>
            <a:ext cx="2514600" cy="1051560"/>
          </a:xfrm>
          <a:prstGeom prst="rect">
            <a:avLst/>
          </a:prstGeom>
          <a:noFill/>
          <a:ln/>
        </p:spPr>
        <p:txBody>
          <a:bodyPr wrap="square" lIns="0" tIns="0" rIns="0" bIns="0" rtlCol="0" anchor="ctr"/>
          <a:lstStyle/>
          <a:p>
            <a:pPr marL="0" indent="0">
              <a:lnSpc>
                <a:spcPct val="110000"/>
              </a:lnSpc>
              <a:buNone/>
            </a:pPr>
            <a:r>
              <a:rPr lang="en-US" sz="1750" dirty="0">
                <a:solidFill>
                  <a:srgbClr val="1A1A1A"/>
                </a:solidFill>
                <a:latin typeface="Calibri" pitchFamily="34" charset="0"/>
                <a:ea typeface="Calibri" pitchFamily="34" charset="-122"/>
                <a:cs typeface="Calibri" pitchFamily="34" charset="-120"/>
              </a:rPr>
              <a:t>Absence de chiffres ou de données</a:t>
            </a:r>
            <a:endParaRPr lang="en-US" sz="1750" dirty="0"/>
          </a:p>
        </p:txBody>
      </p:sp>
      <p:sp>
        <p:nvSpPr>
          <p:cNvPr id="16" name="Shape 11"/>
          <p:cNvSpPr/>
          <p:nvPr/>
        </p:nvSpPr>
        <p:spPr>
          <a:xfrm>
            <a:off x="640080" y="3401568"/>
            <a:ext cx="3429000" cy="1051560"/>
          </a:xfrm>
          <a:prstGeom prst="rect">
            <a:avLst/>
          </a:prstGeom>
          <a:solidFill>
            <a:srgbClr val="EAF5EE"/>
          </a:solidFill>
          <a:ln/>
        </p:spPr>
      </p:sp>
      <p:sp>
        <p:nvSpPr>
          <p:cNvPr id="17" name="Shape 12"/>
          <p:cNvSpPr/>
          <p:nvPr/>
        </p:nvSpPr>
        <p:spPr>
          <a:xfrm>
            <a:off x="804672" y="3698748"/>
            <a:ext cx="457200" cy="457200"/>
          </a:xfrm>
          <a:prstGeom prst="ellipse">
            <a:avLst/>
          </a:prstGeom>
          <a:solidFill>
            <a:srgbClr val="8E2DE2"/>
          </a:solidFill>
          <a:ln/>
        </p:spPr>
      </p:sp>
      <p:pic>
        <p:nvPicPr>
          <p:cNvPr id="18" name="Image 3" descr="preencoded.png"/>
          <p:cNvPicPr>
            <a:picLocks noChangeAspect="1"/>
          </p:cNvPicPr>
          <p:nvPr/>
        </p:nvPicPr>
        <p:blipFill>
          <a:blip r:embed="rId3"/>
          <a:stretch>
            <a:fillRect/>
          </a:stretch>
        </p:blipFill>
        <p:spPr>
          <a:xfrm>
            <a:off x="859536" y="3753612"/>
            <a:ext cx="347472" cy="347472"/>
          </a:xfrm>
          <a:prstGeom prst="rect">
            <a:avLst/>
          </a:prstGeom>
        </p:spPr>
      </p:pic>
      <p:sp>
        <p:nvSpPr>
          <p:cNvPr id="19" name="Text 13"/>
          <p:cNvSpPr/>
          <p:nvPr/>
        </p:nvSpPr>
        <p:spPr>
          <a:xfrm>
            <a:off x="1371600" y="3401568"/>
            <a:ext cx="2514600" cy="1051560"/>
          </a:xfrm>
          <a:prstGeom prst="rect">
            <a:avLst/>
          </a:prstGeom>
          <a:noFill/>
          <a:ln/>
        </p:spPr>
        <p:txBody>
          <a:bodyPr wrap="square" lIns="0" tIns="0" rIns="0" bIns="0" rtlCol="0" anchor="ctr"/>
          <a:lstStyle/>
          <a:p>
            <a:pPr marL="0" indent="0">
              <a:lnSpc>
                <a:spcPct val="110000"/>
              </a:lnSpc>
              <a:buNone/>
            </a:pPr>
            <a:r>
              <a:rPr lang="en-US" sz="1750" dirty="0">
                <a:solidFill>
                  <a:srgbClr val="1A1A1A"/>
                </a:solidFill>
                <a:latin typeface="Calibri" pitchFamily="34" charset="0"/>
                <a:ea typeface="Calibri" pitchFamily="34" charset="-122"/>
                <a:cs typeface="Calibri" pitchFamily="34" charset="-120"/>
              </a:rPr>
              <a:t>Aucune preuve d'impact</a:t>
            </a:r>
            <a:endParaRPr lang="en-US" sz="1750" dirty="0"/>
          </a:p>
        </p:txBody>
      </p:sp>
      <p:sp>
        <p:nvSpPr>
          <p:cNvPr id="20" name="Shape 14"/>
          <p:cNvSpPr/>
          <p:nvPr/>
        </p:nvSpPr>
        <p:spPr>
          <a:xfrm>
            <a:off x="4434840" y="3401568"/>
            <a:ext cx="3429000" cy="1051560"/>
          </a:xfrm>
          <a:prstGeom prst="rect">
            <a:avLst/>
          </a:prstGeom>
          <a:solidFill>
            <a:srgbClr val="EAF5EE"/>
          </a:solidFill>
          <a:ln/>
        </p:spPr>
      </p:sp>
      <p:sp>
        <p:nvSpPr>
          <p:cNvPr id="21" name="Shape 15"/>
          <p:cNvSpPr/>
          <p:nvPr/>
        </p:nvSpPr>
        <p:spPr>
          <a:xfrm>
            <a:off x="4599432" y="3698748"/>
            <a:ext cx="457200" cy="457200"/>
          </a:xfrm>
          <a:prstGeom prst="ellipse">
            <a:avLst/>
          </a:prstGeom>
          <a:solidFill>
            <a:srgbClr val="8E2DE2"/>
          </a:solidFill>
          <a:ln/>
        </p:spPr>
      </p:sp>
      <p:pic>
        <p:nvPicPr>
          <p:cNvPr id="22" name="Image 4" descr="preencoded.png"/>
          <p:cNvPicPr>
            <a:picLocks noChangeAspect="1"/>
          </p:cNvPicPr>
          <p:nvPr/>
        </p:nvPicPr>
        <p:blipFill>
          <a:blip r:embed="rId3"/>
          <a:stretch>
            <a:fillRect/>
          </a:stretch>
        </p:blipFill>
        <p:spPr>
          <a:xfrm>
            <a:off x="4654296" y="3753612"/>
            <a:ext cx="347472" cy="347472"/>
          </a:xfrm>
          <a:prstGeom prst="rect">
            <a:avLst/>
          </a:prstGeom>
        </p:spPr>
      </p:pic>
      <p:sp>
        <p:nvSpPr>
          <p:cNvPr id="23" name="Text 16"/>
          <p:cNvSpPr/>
          <p:nvPr/>
        </p:nvSpPr>
        <p:spPr>
          <a:xfrm>
            <a:off x="5166360" y="3401568"/>
            <a:ext cx="2514600" cy="1051560"/>
          </a:xfrm>
          <a:prstGeom prst="rect">
            <a:avLst/>
          </a:prstGeom>
          <a:noFill/>
          <a:ln/>
        </p:spPr>
        <p:txBody>
          <a:bodyPr wrap="square" lIns="0" tIns="0" rIns="0" bIns="0" rtlCol="0" anchor="ctr"/>
          <a:lstStyle/>
          <a:p>
            <a:pPr marL="0" indent="0">
              <a:lnSpc>
                <a:spcPct val="110000"/>
              </a:lnSpc>
              <a:buNone/>
            </a:pPr>
            <a:r>
              <a:rPr lang="en-US" sz="1750" dirty="0">
                <a:solidFill>
                  <a:srgbClr val="1A1A1A"/>
                </a:solidFill>
                <a:latin typeface="Calibri" pitchFamily="34" charset="0"/>
                <a:ea typeface="Calibri" pitchFamily="34" charset="-122"/>
                <a:cs typeface="Calibri" pitchFamily="34" charset="-120"/>
              </a:rPr>
              <a:t>Marché mal défini</a:t>
            </a:r>
            <a:endParaRPr lang="en-US" sz="1750" dirty="0"/>
          </a:p>
        </p:txBody>
      </p:sp>
      <p:sp>
        <p:nvSpPr>
          <p:cNvPr id="24" name="Shape 17"/>
          <p:cNvSpPr/>
          <p:nvPr/>
        </p:nvSpPr>
        <p:spPr>
          <a:xfrm>
            <a:off x="8229600" y="3401568"/>
            <a:ext cx="3429000" cy="1051560"/>
          </a:xfrm>
          <a:prstGeom prst="rect">
            <a:avLst/>
          </a:prstGeom>
          <a:solidFill>
            <a:srgbClr val="EAF5EE"/>
          </a:solidFill>
          <a:ln/>
        </p:spPr>
      </p:sp>
      <p:sp>
        <p:nvSpPr>
          <p:cNvPr id="25" name="Shape 18"/>
          <p:cNvSpPr/>
          <p:nvPr/>
        </p:nvSpPr>
        <p:spPr>
          <a:xfrm>
            <a:off x="8394192" y="3698748"/>
            <a:ext cx="457200" cy="457200"/>
          </a:xfrm>
          <a:prstGeom prst="ellipse">
            <a:avLst/>
          </a:prstGeom>
          <a:solidFill>
            <a:srgbClr val="8E2DE2"/>
          </a:solidFill>
          <a:ln/>
        </p:spPr>
      </p:sp>
      <p:pic>
        <p:nvPicPr>
          <p:cNvPr id="26" name="Image 5" descr="preencoded.png"/>
          <p:cNvPicPr>
            <a:picLocks noChangeAspect="1"/>
          </p:cNvPicPr>
          <p:nvPr/>
        </p:nvPicPr>
        <p:blipFill>
          <a:blip r:embed="rId3"/>
          <a:stretch>
            <a:fillRect/>
          </a:stretch>
        </p:blipFill>
        <p:spPr>
          <a:xfrm>
            <a:off x="8449056" y="3753612"/>
            <a:ext cx="347472" cy="347472"/>
          </a:xfrm>
          <a:prstGeom prst="rect">
            <a:avLst/>
          </a:prstGeom>
        </p:spPr>
      </p:pic>
      <p:sp>
        <p:nvSpPr>
          <p:cNvPr id="27" name="Text 19"/>
          <p:cNvSpPr/>
          <p:nvPr/>
        </p:nvSpPr>
        <p:spPr>
          <a:xfrm>
            <a:off x="8961120" y="3401568"/>
            <a:ext cx="2514600" cy="1051560"/>
          </a:xfrm>
          <a:prstGeom prst="rect">
            <a:avLst/>
          </a:prstGeom>
          <a:noFill/>
          <a:ln/>
        </p:spPr>
        <p:txBody>
          <a:bodyPr wrap="square" lIns="0" tIns="0" rIns="0" bIns="0" rtlCol="0" anchor="ctr"/>
          <a:lstStyle/>
          <a:p>
            <a:pPr marL="0" indent="0">
              <a:lnSpc>
                <a:spcPct val="110000"/>
              </a:lnSpc>
              <a:buNone/>
            </a:pPr>
            <a:r>
              <a:rPr lang="en-US" sz="1750" dirty="0">
                <a:solidFill>
                  <a:srgbClr val="1A1A1A"/>
                </a:solidFill>
                <a:latin typeface="Calibri" pitchFamily="34" charset="0"/>
                <a:ea typeface="Calibri" pitchFamily="34" charset="-122"/>
                <a:cs typeface="Calibri" pitchFamily="34" charset="-120"/>
              </a:rPr>
              <a:t>Manque de conviction dans la voix</a:t>
            </a:r>
            <a:endParaRPr lang="en-US" sz="1750" dirty="0"/>
          </a:p>
        </p:txBody>
      </p:sp>
      <p:sp>
        <p:nvSpPr>
          <p:cNvPr id="28" name="Shape 20"/>
          <p:cNvSpPr/>
          <p:nvPr/>
        </p:nvSpPr>
        <p:spPr>
          <a:xfrm>
            <a:off x="640080" y="4654296"/>
            <a:ext cx="3429000" cy="1051560"/>
          </a:xfrm>
          <a:prstGeom prst="rect">
            <a:avLst/>
          </a:prstGeom>
          <a:solidFill>
            <a:srgbClr val="EAF5EE"/>
          </a:solidFill>
          <a:ln/>
        </p:spPr>
      </p:sp>
      <p:sp>
        <p:nvSpPr>
          <p:cNvPr id="29" name="Shape 21"/>
          <p:cNvSpPr/>
          <p:nvPr/>
        </p:nvSpPr>
        <p:spPr>
          <a:xfrm>
            <a:off x="804672" y="4951476"/>
            <a:ext cx="457200" cy="457200"/>
          </a:xfrm>
          <a:prstGeom prst="ellipse">
            <a:avLst/>
          </a:prstGeom>
          <a:solidFill>
            <a:srgbClr val="8E2DE2"/>
          </a:solidFill>
          <a:ln/>
        </p:spPr>
      </p:sp>
      <p:pic>
        <p:nvPicPr>
          <p:cNvPr id="30" name="Image 6" descr="preencoded.png"/>
          <p:cNvPicPr>
            <a:picLocks noChangeAspect="1"/>
          </p:cNvPicPr>
          <p:nvPr/>
        </p:nvPicPr>
        <p:blipFill>
          <a:blip r:embed="rId3"/>
          <a:stretch>
            <a:fillRect/>
          </a:stretch>
        </p:blipFill>
        <p:spPr>
          <a:xfrm>
            <a:off x="859536" y="5006340"/>
            <a:ext cx="347472" cy="347472"/>
          </a:xfrm>
          <a:prstGeom prst="rect">
            <a:avLst/>
          </a:prstGeom>
        </p:spPr>
      </p:pic>
      <p:sp>
        <p:nvSpPr>
          <p:cNvPr id="31" name="Text 22"/>
          <p:cNvSpPr/>
          <p:nvPr/>
        </p:nvSpPr>
        <p:spPr>
          <a:xfrm>
            <a:off x="1371600" y="4654296"/>
            <a:ext cx="2514600" cy="1051560"/>
          </a:xfrm>
          <a:prstGeom prst="rect">
            <a:avLst/>
          </a:prstGeom>
          <a:noFill/>
          <a:ln/>
        </p:spPr>
        <p:txBody>
          <a:bodyPr wrap="square" lIns="0" tIns="0" rIns="0" bIns="0" rtlCol="0" anchor="ctr"/>
          <a:lstStyle/>
          <a:p>
            <a:pPr marL="0" indent="0">
              <a:lnSpc>
                <a:spcPct val="110000"/>
              </a:lnSpc>
              <a:buNone/>
            </a:pPr>
            <a:r>
              <a:rPr lang="en-US" sz="1750" dirty="0">
                <a:solidFill>
                  <a:srgbClr val="1A1A1A"/>
                </a:solidFill>
                <a:latin typeface="Calibri" pitchFamily="34" charset="0"/>
                <a:ea typeface="Calibri" pitchFamily="34" charset="-122"/>
                <a:cs typeface="Calibri" pitchFamily="34" charset="-120"/>
              </a:rPr>
              <a:t>Trop de texte, police trop petite</a:t>
            </a:r>
            <a:endParaRPr lang="en-US" sz="1750" dirty="0"/>
          </a:p>
        </p:txBody>
      </p:sp>
      <p:sp>
        <p:nvSpPr>
          <p:cNvPr id="32" name="Shape 23"/>
          <p:cNvSpPr/>
          <p:nvPr/>
        </p:nvSpPr>
        <p:spPr>
          <a:xfrm>
            <a:off x="4434840" y="4654296"/>
            <a:ext cx="3429000" cy="1051560"/>
          </a:xfrm>
          <a:prstGeom prst="rect">
            <a:avLst/>
          </a:prstGeom>
          <a:solidFill>
            <a:srgbClr val="EAF5EE"/>
          </a:solidFill>
          <a:ln/>
        </p:spPr>
      </p:sp>
      <p:sp>
        <p:nvSpPr>
          <p:cNvPr id="33" name="Shape 24"/>
          <p:cNvSpPr/>
          <p:nvPr/>
        </p:nvSpPr>
        <p:spPr>
          <a:xfrm>
            <a:off x="4599432" y="4951476"/>
            <a:ext cx="457200" cy="457200"/>
          </a:xfrm>
          <a:prstGeom prst="ellipse">
            <a:avLst/>
          </a:prstGeom>
          <a:solidFill>
            <a:srgbClr val="8E2DE2"/>
          </a:solidFill>
          <a:ln/>
        </p:spPr>
      </p:sp>
      <p:pic>
        <p:nvPicPr>
          <p:cNvPr id="34" name="Image 7" descr="preencoded.png"/>
          <p:cNvPicPr>
            <a:picLocks noChangeAspect="1"/>
          </p:cNvPicPr>
          <p:nvPr/>
        </p:nvPicPr>
        <p:blipFill>
          <a:blip r:embed="rId3"/>
          <a:stretch>
            <a:fillRect/>
          </a:stretch>
        </p:blipFill>
        <p:spPr>
          <a:xfrm>
            <a:off x="4654296" y="5006340"/>
            <a:ext cx="347472" cy="347472"/>
          </a:xfrm>
          <a:prstGeom prst="rect">
            <a:avLst/>
          </a:prstGeom>
        </p:spPr>
      </p:pic>
      <p:sp>
        <p:nvSpPr>
          <p:cNvPr id="35" name="Text 25"/>
          <p:cNvSpPr/>
          <p:nvPr/>
        </p:nvSpPr>
        <p:spPr>
          <a:xfrm>
            <a:off x="5166360" y="4654296"/>
            <a:ext cx="2514600" cy="1051560"/>
          </a:xfrm>
          <a:prstGeom prst="rect">
            <a:avLst/>
          </a:prstGeom>
          <a:noFill/>
          <a:ln/>
        </p:spPr>
        <p:txBody>
          <a:bodyPr wrap="square" lIns="0" tIns="0" rIns="0" bIns="0" rtlCol="0" anchor="ctr"/>
          <a:lstStyle/>
          <a:p>
            <a:pPr marL="0" indent="0">
              <a:lnSpc>
                <a:spcPct val="110000"/>
              </a:lnSpc>
              <a:buNone/>
            </a:pPr>
            <a:r>
              <a:rPr lang="en-US" sz="1750" dirty="0">
                <a:solidFill>
                  <a:srgbClr val="1A1A1A"/>
                </a:solidFill>
                <a:latin typeface="Calibri" pitchFamily="34" charset="0"/>
                <a:ea typeface="Calibri" pitchFamily="34" charset="-122"/>
                <a:cs typeface="Calibri" pitchFamily="34" charset="-120"/>
              </a:rPr>
              <a:t>Absence de démonstration concrète</a:t>
            </a:r>
            <a:endParaRPr lang="en-US" sz="1750" dirty="0"/>
          </a:p>
        </p:txBody>
      </p:sp>
      <p:sp>
        <p:nvSpPr>
          <p:cNvPr id="36" name="Shape 26"/>
          <p:cNvSpPr/>
          <p:nvPr/>
        </p:nvSpPr>
        <p:spPr>
          <a:xfrm>
            <a:off x="8229600" y="4654296"/>
            <a:ext cx="3429000" cy="1051560"/>
          </a:xfrm>
          <a:prstGeom prst="rect">
            <a:avLst/>
          </a:prstGeom>
          <a:solidFill>
            <a:srgbClr val="EAF5EE"/>
          </a:solidFill>
          <a:ln/>
        </p:spPr>
      </p:sp>
      <p:sp>
        <p:nvSpPr>
          <p:cNvPr id="37" name="Shape 27"/>
          <p:cNvSpPr/>
          <p:nvPr/>
        </p:nvSpPr>
        <p:spPr>
          <a:xfrm>
            <a:off x="8394192" y="4951476"/>
            <a:ext cx="457200" cy="457200"/>
          </a:xfrm>
          <a:prstGeom prst="ellipse">
            <a:avLst/>
          </a:prstGeom>
          <a:solidFill>
            <a:srgbClr val="8E2DE2"/>
          </a:solidFill>
          <a:ln/>
        </p:spPr>
      </p:sp>
      <p:pic>
        <p:nvPicPr>
          <p:cNvPr id="38" name="Image 8" descr="preencoded.png"/>
          <p:cNvPicPr>
            <a:picLocks noChangeAspect="1"/>
          </p:cNvPicPr>
          <p:nvPr/>
        </p:nvPicPr>
        <p:blipFill>
          <a:blip r:embed="rId3"/>
          <a:stretch>
            <a:fillRect/>
          </a:stretch>
        </p:blipFill>
        <p:spPr>
          <a:xfrm>
            <a:off x="8449056" y="5006340"/>
            <a:ext cx="347472" cy="347472"/>
          </a:xfrm>
          <a:prstGeom prst="rect">
            <a:avLst/>
          </a:prstGeom>
        </p:spPr>
      </p:pic>
      <p:sp>
        <p:nvSpPr>
          <p:cNvPr id="39" name="Text 28"/>
          <p:cNvSpPr/>
          <p:nvPr/>
        </p:nvSpPr>
        <p:spPr>
          <a:xfrm>
            <a:off x="8961120" y="4654296"/>
            <a:ext cx="2514600" cy="1051560"/>
          </a:xfrm>
          <a:prstGeom prst="rect">
            <a:avLst/>
          </a:prstGeom>
          <a:noFill/>
          <a:ln/>
        </p:spPr>
        <p:txBody>
          <a:bodyPr wrap="square" lIns="0" tIns="0" rIns="0" bIns="0" rtlCol="0" anchor="ctr"/>
          <a:lstStyle/>
          <a:p>
            <a:pPr marL="0" indent="0">
              <a:lnSpc>
                <a:spcPct val="110000"/>
              </a:lnSpc>
              <a:buNone/>
            </a:pPr>
            <a:r>
              <a:rPr lang="en-US" sz="1750" dirty="0">
                <a:solidFill>
                  <a:srgbClr val="1A1A1A"/>
                </a:solidFill>
                <a:latin typeface="Calibri" pitchFamily="34" charset="0"/>
                <a:ea typeface="Calibri" pitchFamily="34" charset="-122"/>
                <a:cs typeface="Calibri" pitchFamily="34" charset="-120"/>
              </a:rPr>
              <a:t>Mauvaise gestion du temps de parole</a:t>
            </a:r>
            <a:endParaRPr lang="en-US" sz="1750" dirty="0"/>
          </a:p>
        </p:txBody>
      </p:sp>
      <p:sp>
        <p:nvSpPr>
          <p:cNvPr id="40" name="Text 29"/>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41" name="Text 3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25</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9601200" y="4297680"/>
            <a:ext cx="4114800" cy="4114800"/>
          </a:xfrm>
          <a:prstGeom prst="ellipse">
            <a:avLst/>
          </a:prstGeom>
          <a:solidFill>
            <a:srgbClr val="155D36"/>
          </a:solidFill>
          <a:ln/>
        </p:spPr>
      </p:sp>
      <p:sp>
        <p:nvSpPr>
          <p:cNvPr id="3" name="Shape 1"/>
          <p:cNvSpPr/>
          <p:nvPr/>
        </p:nvSpPr>
        <p:spPr>
          <a:xfrm>
            <a:off x="822960" y="1554480"/>
            <a:ext cx="1051560" cy="1051560"/>
          </a:xfrm>
          <a:prstGeom prst="ellipse">
            <a:avLst/>
          </a:prstGeom>
          <a:solidFill>
            <a:srgbClr val="8E2DE2"/>
          </a:solidFill>
          <a:ln/>
        </p:spPr>
      </p:sp>
      <p:pic>
        <p:nvPicPr>
          <p:cNvPr id="4" name="Image 0" descr="preencoded.png"/>
          <p:cNvPicPr>
            <a:picLocks noChangeAspect="1"/>
          </p:cNvPicPr>
          <p:nvPr/>
        </p:nvPicPr>
        <p:blipFill>
          <a:blip r:embed="rId3"/>
          <a:stretch>
            <a:fillRect/>
          </a:stretch>
        </p:blipFill>
        <p:spPr>
          <a:xfrm>
            <a:off x="949147" y="1680667"/>
            <a:ext cx="799186" cy="799186"/>
          </a:xfrm>
          <a:prstGeom prst="rect">
            <a:avLst/>
          </a:prstGeom>
        </p:spPr>
      </p:pic>
      <p:sp>
        <p:nvSpPr>
          <p:cNvPr id="5" name="Text 2"/>
          <p:cNvSpPr/>
          <p:nvPr/>
        </p:nvSpPr>
        <p:spPr>
          <a:xfrm>
            <a:off x="822960" y="2788920"/>
            <a:ext cx="10360152" cy="411480"/>
          </a:xfrm>
          <a:prstGeom prst="rect">
            <a:avLst/>
          </a:prstGeom>
          <a:noFill/>
          <a:ln/>
        </p:spPr>
        <p:txBody>
          <a:bodyPr wrap="square" lIns="0" tIns="0" rIns="0" bIns="0" rtlCol="0" anchor="ctr"/>
          <a:lstStyle/>
          <a:p>
            <a:pPr marL="0" indent="0">
              <a:buNone/>
            </a:pPr>
            <a:r>
              <a:rPr lang="en-US" sz="1900" b="1" kern="0" spc="200" dirty="0">
                <a:solidFill>
                  <a:srgbClr val="8E2DE2"/>
                </a:solidFill>
                <a:latin typeface="Calibri" pitchFamily="34" charset="0"/>
                <a:ea typeface="Calibri" pitchFamily="34" charset="-122"/>
                <a:cs typeface="Calibri" pitchFamily="34" charset="-120"/>
              </a:rPr>
              <a:t>SÉQUENCE 8</a:t>
            </a:r>
            <a:endParaRPr lang="en-US" sz="1900" dirty="0"/>
          </a:p>
        </p:txBody>
      </p:sp>
      <p:sp>
        <p:nvSpPr>
          <p:cNvPr id="6" name="Text 3"/>
          <p:cNvSpPr/>
          <p:nvPr/>
        </p:nvSpPr>
        <p:spPr>
          <a:xfrm>
            <a:off x="822960" y="3200400"/>
            <a:ext cx="10360152"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Démonstration live</a:t>
            </a:r>
            <a:endParaRPr lang="en-US" sz="4000" dirty="0"/>
          </a:p>
        </p:txBody>
      </p:sp>
      <p:sp>
        <p:nvSpPr>
          <p:cNvPr id="7" name="Text 4"/>
          <p:cNvSpPr/>
          <p:nvPr/>
        </p:nvSpPr>
        <p:spPr>
          <a:xfrm>
            <a:off x="822960" y="4343400"/>
            <a:ext cx="9902952" cy="731520"/>
          </a:xfrm>
          <a:prstGeom prst="rect">
            <a:avLst/>
          </a:prstGeom>
          <a:noFill/>
          <a:ln/>
        </p:spPr>
        <p:txBody>
          <a:bodyPr wrap="square" lIns="0" tIns="0" rIns="0" bIns="0" rtlCol="0" anchor="ctr"/>
          <a:lstStyle/>
          <a:p>
            <a:pPr marL="0" indent="0">
              <a:buNone/>
            </a:pPr>
            <a:r>
              <a:rPr lang="en-US" sz="2050" i="1" dirty="0">
                <a:solidFill>
                  <a:srgbClr val="EAF5EE"/>
                </a:solidFill>
                <a:latin typeface="Calibri" pitchFamily="34" charset="0"/>
                <a:ea typeface="Calibri" pitchFamily="34" charset="-122"/>
                <a:cs typeface="Calibri" pitchFamily="34" charset="-120"/>
              </a:rPr>
              <a:t>Bon pitch vs mauvais pitch — 20 minutes</a:t>
            </a:r>
            <a:endParaRPr lang="en-US" sz="2050" dirty="0"/>
          </a:p>
        </p:txBody>
      </p:sp>
      <p:sp>
        <p:nvSpPr>
          <p:cNvPr id="8" name="Text 5"/>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9" name="Text 6"/>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26</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411480"/>
          </a:xfrm>
          <a:prstGeom prst="rect">
            <a:avLst/>
          </a:prstGeom>
          <a:noFill/>
          <a:ln/>
        </p:spPr>
        <p:txBody>
          <a:bodyPr wrap="square" lIns="0" tIns="0" rIns="0" bIns="0" rtlCol="0" anchor="ctr"/>
          <a:lstStyle/>
          <a:p>
            <a:pPr marL="0" indent="0">
              <a:buNone/>
            </a:pPr>
            <a:r>
              <a:rPr lang="en-US" sz="1900" b="1" kern="0" spc="200" dirty="0">
                <a:solidFill>
                  <a:srgbClr val="8E2DE2"/>
                </a:solidFill>
                <a:latin typeface="Calibri" pitchFamily="34" charset="0"/>
                <a:ea typeface="Calibri" pitchFamily="34" charset="-122"/>
                <a:cs typeface="Calibri" pitchFamily="34" charset="-120"/>
              </a:rPr>
              <a:t>SÉQUENCE 8</a:t>
            </a:r>
            <a:endParaRPr lang="en-US" sz="1900" dirty="0"/>
          </a:p>
        </p:txBody>
      </p:sp>
      <p:sp>
        <p:nvSpPr>
          <p:cNvPr id="3" name="Text 1"/>
          <p:cNvSpPr/>
          <p:nvPr/>
        </p:nvSpPr>
        <p:spPr>
          <a:xfrm>
            <a:off x="640080" y="868680"/>
            <a:ext cx="10908792" cy="1188720"/>
          </a:xfrm>
          <a:prstGeom prst="rect">
            <a:avLst/>
          </a:prstGeom>
          <a:noFill/>
          <a:ln/>
        </p:spPr>
        <p:txBody>
          <a:bodyPr wrap="square" lIns="0" tIns="0" rIns="0" bIns="0" rtlCol="0" anchor="t"/>
          <a:lstStyle/>
          <a:p>
            <a:pPr marL="0" indent="0">
              <a:buNone/>
            </a:pPr>
            <a:r>
              <a:rPr lang="en-US" sz="4200" b="1" dirty="0">
                <a:solidFill>
                  <a:srgbClr val="000000"/>
                </a:solidFill>
                <a:latin typeface="Cambria" pitchFamily="34" charset="0"/>
                <a:ea typeface="Cambria" pitchFamily="34" charset="-122"/>
                <a:cs typeface="Cambria" pitchFamily="34" charset="-120"/>
              </a:rPr>
              <a:t>Lequel financeriez-vous ?</a:t>
            </a:r>
            <a:endParaRPr lang="en-US" sz="4200" dirty="0"/>
          </a:p>
        </p:txBody>
      </p:sp>
      <p:sp>
        <p:nvSpPr>
          <p:cNvPr id="4" name="Shape 2"/>
          <p:cNvSpPr/>
          <p:nvPr/>
        </p:nvSpPr>
        <p:spPr>
          <a:xfrm>
            <a:off x="640080" y="2148840"/>
            <a:ext cx="5257800" cy="2926080"/>
          </a:xfrm>
          <a:prstGeom prst="rect">
            <a:avLst/>
          </a:prstGeom>
          <a:solidFill>
            <a:srgbClr val="000000"/>
          </a:solidFill>
          <a:ln/>
        </p:spPr>
      </p:sp>
      <p:sp>
        <p:nvSpPr>
          <p:cNvPr id="5" name="Text 3"/>
          <p:cNvSpPr/>
          <p:nvPr/>
        </p:nvSpPr>
        <p:spPr>
          <a:xfrm>
            <a:off x="960120" y="2423160"/>
            <a:ext cx="4617720" cy="457200"/>
          </a:xfrm>
          <a:prstGeom prst="rect">
            <a:avLst/>
          </a:prstGeom>
          <a:noFill/>
          <a:ln/>
        </p:spPr>
        <p:txBody>
          <a:bodyPr wrap="square" lIns="0" tIns="0" rIns="0" bIns="0" rtlCol="0" anchor="ctr"/>
          <a:lstStyle/>
          <a:p>
            <a:pPr marL="0" indent="0">
              <a:buNone/>
            </a:pPr>
            <a:r>
              <a:rPr lang="en-US" sz="2050" b="1" dirty="0">
                <a:solidFill>
                  <a:srgbClr val="8E2DE2"/>
                </a:solidFill>
                <a:latin typeface="Cambria" pitchFamily="34" charset="0"/>
                <a:ea typeface="Cambria" pitchFamily="34" charset="-122"/>
                <a:cs typeface="Cambria" pitchFamily="34" charset="-120"/>
              </a:rPr>
              <a:t>EXCELLENT PITCH</a:t>
            </a:r>
            <a:endParaRPr lang="en-US" sz="2050" dirty="0"/>
          </a:p>
        </p:txBody>
      </p:sp>
      <p:sp>
        <p:nvSpPr>
          <p:cNvPr id="6" name="Text 4"/>
          <p:cNvSpPr/>
          <p:nvPr/>
        </p:nvSpPr>
        <p:spPr>
          <a:xfrm>
            <a:off x="960120" y="3017520"/>
            <a:ext cx="4617720" cy="1828800"/>
          </a:xfrm>
          <a:prstGeom prst="rect">
            <a:avLst/>
          </a:prstGeom>
          <a:noFill/>
          <a:ln/>
        </p:spPr>
        <p:txBody>
          <a:bodyPr wrap="square" lIns="0" tIns="0" rIns="0" bIns="0" rtlCol="0" anchor="ctr"/>
          <a:lstStyle/>
          <a:p>
            <a:pPr marL="0" indent="0">
              <a:lnSpc>
                <a:spcPct val="130000"/>
              </a:lnSpc>
              <a:buNone/>
            </a:pPr>
            <a:r>
              <a:rPr lang="en-US" sz="2000" dirty="0">
                <a:solidFill>
                  <a:srgbClr val="FFFFFF"/>
                </a:solidFill>
                <a:latin typeface="Calibri" pitchFamily="34" charset="0"/>
                <a:ea typeface="Calibri" pitchFamily="34" charset="-122"/>
                <a:cs typeface="Calibri" pitchFamily="34" charset="-120"/>
              </a:rPr>
              <a:t>Clarté, chiffres, histoire, </a:t>
            </a:r>
            <a:r>
              <a:rPr lang="en-US" sz="2000" dirty="0" err="1">
                <a:solidFill>
                  <a:srgbClr val="FFFFFF"/>
                </a:solidFill>
                <a:latin typeface="Calibri" pitchFamily="34" charset="0"/>
                <a:ea typeface="Calibri" pitchFamily="34" charset="-122"/>
                <a:cs typeface="Calibri" pitchFamily="34" charset="-120"/>
              </a:rPr>
              <a:t>demande</a:t>
            </a:r>
            <a:r>
              <a:rPr lang="en-US" sz="2000" dirty="0">
                <a:solidFill>
                  <a:srgbClr val="FFFFFF"/>
                </a:solidFill>
                <a:latin typeface="Calibri" pitchFamily="34" charset="0"/>
                <a:ea typeface="Calibri" pitchFamily="34" charset="-122"/>
                <a:cs typeface="Calibri" pitchFamily="34" charset="-120"/>
              </a:rPr>
              <a:t> </a:t>
            </a:r>
            <a:r>
              <a:rPr lang="en-US" sz="2000" dirty="0" err="1">
                <a:solidFill>
                  <a:srgbClr val="FFFFFF"/>
                </a:solidFill>
                <a:latin typeface="Calibri" pitchFamily="34" charset="0"/>
                <a:ea typeface="Calibri" pitchFamily="34" charset="-122"/>
                <a:cs typeface="Calibri" pitchFamily="34" charset="-120"/>
              </a:rPr>
              <a:t>précise</a:t>
            </a:r>
            <a:r>
              <a:rPr lang="en-US" sz="2000" dirty="0">
                <a:solidFill>
                  <a:srgbClr val="FFFFFF"/>
                </a:solidFill>
                <a:latin typeface="Calibri" pitchFamily="34" charset="0"/>
                <a:ea typeface="Calibri" pitchFamily="34" charset="-122"/>
                <a:cs typeface="Calibri" pitchFamily="34" charset="-120"/>
              </a:rPr>
              <a:t> — </a:t>
            </a:r>
            <a:r>
              <a:rPr lang="en-US" sz="2000" dirty="0" err="1">
                <a:solidFill>
                  <a:srgbClr val="FFFFFF"/>
                </a:solidFill>
                <a:latin typeface="Calibri" pitchFamily="34" charset="0"/>
                <a:ea typeface="Calibri" pitchFamily="34" charset="-122"/>
                <a:cs typeface="Calibri" pitchFamily="34" charset="-120"/>
              </a:rPr>
              <a:t>présenté</a:t>
            </a:r>
            <a:r>
              <a:rPr lang="en-US" sz="2000" dirty="0">
                <a:solidFill>
                  <a:srgbClr val="FFFFFF"/>
                </a:solidFill>
                <a:latin typeface="Calibri" pitchFamily="34" charset="0"/>
                <a:ea typeface="Calibri" pitchFamily="34" charset="-122"/>
                <a:cs typeface="Calibri" pitchFamily="34" charset="-120"/>
              </a:rPr>
              <a:t> par le </a:t>
            </a:r>
            <a:r>
              <a:rPr lang="en-US" sz="2000" dirty="0" err="1">
                <a:solidFill>
                  <a:srgbClr val="FFFFFF"/>
                </a:solidFill>
                <a:latin typeface="Calibri" pitchFamily="34" charset="0"/>
                <a:ea typeface="Calibri" pitchFamily="34" charset="-122"/>
                <a:cs typeface="Calibri" pitchFamily="34" charset="-120"/>
              </a:rPr>
              <a:t>facilitateur</a:t>
            </a: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7" name="Shape 5"/>
          <p:cNvSpPr/>
          <p:nvPr/>
        </p:nvSpPr>
        <p:spPr>
          <a:xfrm>
            <a:off x="6217920" y="2148840"/>
            <a:ext cx="5257800" cy="2926080"/>
          </a:xfrm>
          <a:prstGeom prst="rect">
            <a:avLst/>
          </a:prstGeom>
          <a:solidFill>
            <a:srgbClr val="F1E6FA"/>
          </a:solidFill>
          <a:ln/>
        </p:spPr>
      </p:sp>
      <p:sp>
        <p:nvSpPr>
          <p:cNvPr id="8" name="Text 6"/>
          <p:cNvSpPr/>
          <p:nvPr/>
        </p:nvSpPr>
        <p:spPr>
          <a:xfrm>
            <a:off x="6537960" y="2423160"/>
            <a:ext cx="4617720" cy="457200"/>
          </a:xfrm>
          <a:prstGeom prst="rect">
            <a:avLst/>
          </a:prstGeom>
          <a:noFill/>
          <a:ln/>
        </p:spPr>
        <p:txBody>
          <a:bodyPr wrap="square" lIns="0" tIns="0" rIns="0" bIns="0" rtlCol="0" anchor="ctr"/>
          <a:lstStyle/>
          <a:p>
            <a:pPr marL="0" indent="0">
              <a:buNone/>
            </a:pPr>
            <a:r>
              <a:rPr lang="en-US" sz="2050" b="1" dirty="0">
                <a:solidFill>
                  <a:srgbClr val="000000"/>
                </a:solidFill>
                <a:latin typeface="Cambria" pitchFamily="34" charset="0"/>
                <a:ea typeface="Cambria" pitchFamily="34" charset="-122"/>
                <a:cs typeface="Cambria" pitchFamily="34" charset="-120"/>
              </a:rPr>
              <a:t>PITCH FAIBLE</a:t>
            </a:r>
            <a:endParaRPr lang="en-US" sz="2050" dirty="0"/>
          </a:p>
        </p:txBody>
      </p:sp>
      <p:sp>
        <p:nvSpPr>
          <p:cNvPr id="9" name="Text 7"/>
          <p:cNvSpPr/>
          <p:nvPr/>
        </p:nvSpPr>
        <p:spPr>
          <a:xfrm>
            <a:off x="6537960" y="3017520"/>
            <a:ext cx="4617720" cy="1828800"/>
          </a:xfrm>
          <a:prstGeom prst="rect">
            <a:avLst/>
          </a:prstGeom>
          <a:noFill/>
          <a:ln/>
        </p:spPr>
        <p:txBody>
          <a:bodyPr wrap="square" lIns="0" tIns="0" rIns="0" bIns="0" rtlCol="0" anchor="ctr"/>
          <a:lstStyle/>
          <a:p>
            <a:pPr marL="0" indent="0">
              <a:lnSpc>
                <a:spcPct val="130000"/>
              </a:lnSpc>
              <a:buNone/>
            </a:pPr>
            <a:r>
              <a:rPr lang="en-US" sz="2000" dirty="0">
                <a:solidFill>
                  <a:srgbClr val="1A1A1A"/>
                </a:solidFill>
                <a:latin typeface="Calibri" pitchFamily="34" charset="0"/>
                <a:ea typeface="Calibri" pitchFamily="34" charset="-122"/>
                <a:cs typeface="Calibri" pitchFamily="34" charset="-120"/>
              </a:rPr>
              <a:t>Vague, technique, sans chiffres, sans demande claire — même sujet, contre-exemple.</a:t>
            </a:r>
            <a:endParaRPr lang="en-US" sz="2000" dirty="0"/>
          </a:p>
        </p:txBody>
      </p:sp>
      <p:sp>
        <p:nvSpPr>
          <p:cNvPr id="10" name="Text 8"/>
          <p:cNvSpPr/>
          <p:nvPr/>
        </p:nvSpPr>
        <p:spPr>
          <a:xfrm>
            <a:off x="640080" y="5349240"/>
            <a:ext cx="10908792" cy="731520"/>
          </a:xfrm>
          <a:prstGeom prst="rect">
            <a:avLst/>
          </a:prstGeom>
          <a:noFill/>
          <a:ln/>
        </p:spPr>
        <p:txBody>
          <a:bodyPr wrap="square" lIns="0" tIns="0" rIns="0" bIns="0" rtlCol="0" anchor="ctr"/>
          <a:lstStyle/>
          <a:p>
            <a:pPr marL="0" indent="0">
              <a:lnSpc>
                <a:spcPct val="125000"/>
              </a:lnSpc>
              <a:buNone/>
            </a:pPr>
            <a:r>
              <a:rPr lang="en-US" sz="1800" i="1" dirty="0">
                <a:solidFill>
                  <a:srgbClr val="6E6E6E"/>
                </a:solidFill>
                <a:latin typeface="Calibri" pitchFamily="34" charset="0"/>
                <a:ea typeface="Calibri" pitchFamily="34" charset="-122"/>
                <a:cs typeface="Calibri" pitchFamily="34" charset="-120"/>
              </a:rPr>
              <a:t>Discussion collective (5 min) : faire émerger les critères de différence avec la salle, plutôt que de les donner directement.</a:t>
            </a:r>
            <a:endParaRPr lang="en-US" sz="1800" dirty="0"/>
          </a:p>
        </p:txBody>
      </p:sp>
      <p:sp>
        <p:nvSpPr>
          <p:cNvPr id="11" name="Text 9"/>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12" name="Text 10"/>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27</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5545836" y="2103120"/>
            <a:ext cx="1097280" cy="1097280"/>
          </a:xfrm>
          <a:prstGeom prst="ellipse">
            <a:avLst/>
          </a:prstGeom>
          <a:solidFill>
            <a:srgbClr val="8E2DE2"/>
          </a:solidFill>
          <a:ln/>
        </p:spPr>
      </p:sp>
      <p:pic>
        <p:nvPicPr>
          <p:cNvPr id="3" name="Image 0" descr="preencoded.png"/>
          <p:cNvPicPr>
            <a:picLocks noChangeAspect="1"/>
          </p:cNvPicPr>
          <p:nvPr/>
        </p:nvPicPr>
        <p:blipFill>
          <a:blip r:embed="rId3"/>
          <a:stretch>
            <a:fillRect/>
          </a:stretch>
        </p:blipFill>
        <p:spPr>
          <a:xfrm>
            <a:off x="5677510" y="2234794"/>
            <a:ext cx="833933" cy="833933"/>
          </a:xfrm>
          <a:prstGeom prst="rect">
            <a:avLst/>
          </a:prstGeom>
        </p:spPr>
      </p:pic>
      <p:sp>
        <p:nvSpPr>
          <p:cNvPr id="4" name="Text 1"/>
          <p:cNvSpPr/>
          <p:nvPr/>
        </p:nvSpPr>
        <p:spPr>
          <a:xfrm>
            <a:off x="0" y="3383280"/>
            <a:ext cx="12188952" cy="82296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PAUSE</a:t>
            </a:r>
            <a:endParaRPr lang="en-US" sz="4600" dirty="0"/>
          </a:p>
        </p:txBody>
      </p:sp>
      <p:sp>
        <p:nvSpPr>
          <p:cNvPr id="6" name="Text 3"/>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7" name="Text 4"/>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28</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9601200" y="4297680"/>
            <a:ext cx="4114800" cy="4114800"/>
          </a:xfrm>
          <a:prstGeom prst="ellipse">
            <a:avLst/>
          </a:prstGeom>
          <a:solidFill>
            <a:srgbClr val="155D36"/>
          </a:solidFill>
          <a:ln/>
        </p:spPr>
      </p:sp>
      <p:sp>
        <p:nvSpPr>
          <p:cNvPr id="3" name="Shape 1"/>
          <p:cNvSpPr/>
          <p:nvPr/>
        </p:nvSpPr>
        <p:spPr>
          <a:xfrm>
            <a:off x="822960" y="1554480"/>
            <a:ext cx="1051560" cy="1051560"/>
          </a:xfrm>
          <a:prstGeom prst="ellipse">
            <a:avLst/>
          </a:prstGeom>
          <a:solidFill>
            <a:srgbClr val="8E2DE2"/>
          </a:solidFill>
          <a:ln/>
        </p:spPr>
      </p:sp>
      <p:pic>
        <p:nvPicPr>
          <p:cNvPr id="4" name="Image 0" descr="preencoded.png"/>
          <p:cNvPicPr>
            <a:picLocks noChangeAspect="1"/>
          </p:cNvPicPr>
          <p:nvPr/>
        </p:nvPicPr>
        <p:blipFill>
          <a:blip r:embed="rId3"/>
          <a:stretch>
            <a:fillRect/>
          </a:stretch>
        </p:blipFill>
        <p:spPr>
          <a:xfrm>
            <a:off x="949147" y="1680667"/>
            <a:ext cx="799186" cy="799186"/>
          </a:xfrm>
          <a:prstGeom prst="rect">
            <a:avLst/>
          </a:prstGeom>
        </p:spPr>
      </p:pic>
      <p:sp>
        <p:nvSpPr>
          <p:cNvPr id="5" name="Text 2"/>
          <p:cNvSpPr/>
          <p:nvPr/>
        </p:nvSpPr>
        <p:spPr>
          <a:xfrm>
            <a:off x="822960" y="2788920"/>
            <a:ext cx="10360152" cy="411480"/>
          </a:xfrm>
          <a:prstGeom prst="rect">
            <a:avLst/>
          </a:prstGeom>
          <a:noFill/>
          <a:ln/>
        </p:spPr>
        <p:txBody>
          <a:bodyPr wrap="square" lIns="0" tIns="0" rIns="0" bIns="0" rtlCol="0" anchor="ctr"/>
          <a:lstStyle/>
          <a:p>
            <a:pPr marL="0" indent="0">
              <a:buNone/>
            </a:pPr>
            <a:r>
              <a:rPr lang="en-US" sz="1900" b="1" kern="0" spc="200" dirty="0">
                <a:solidFill>
                  <a:srgbClr val="8E2DE2"/>
                </a:solidFill>
                <a:latin typeface="Calibri" pitchFamily="34" charset="0"/>
                <a:ea typeface="Calibri" pitchFamily="34" charset="-122"/>
                <a:cs typeface="Calibri" pitchFamily="34" charset="-120"/>
              </a:rPr>
              <a:t>SÉQUENCE 9</a:t>
            </a:r>
            <a:endParaRPr lang="en-US" sz="1900" dirty="0"/>
          </a:p>
        </p:txBody>
      </p:sp>
      <p:sp>
        <p:nvSpPr>
          <p:cNvPr id="6" name="Text 3"/>
          <p:cNvSpPr/>
          <p:nvPr/>
        </p:nvSpPr>
        <p:spPr>
          <a:xfrm>
            <a:off x="822960" y="3200400"/>
            <a:ext cx="10360152"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Pratique en équipe &amp; coaching</a:t>
            </a:r>
            <a:endParaRPr lang="en-US" sz="4000" dirty="0"/>
          </a:p>
        </p:txBody>
      </p:sp>
      <p:sp>
        <p:nvSpPr>
          <p:cNvPr id="7" name="Text 4"/>
          <p:cNvSpPr/>
          <p:nvPr/>
        </p:nvSpPr>
        <p:spPr>
          <a:xfrm>
            <a:off x="822960" y="4343400"/>
            <a:ext cx="9902952" cy="731520"/>
          </a:xfrm>
          <a:prstGeom prst="rect">
            <a:avLst/>
          </a:prstGeom>
          <a:noFill/>
          <a:ln/>
        </p:spPr>
        <p:txBody>
          <a:bodyPr wrap="square" lIns="0" tIns="0" rIns="0" bIns="0" rtlCol="0" anchor="ctr"/>
          <a:lstStyle/>
          <a:p>
            <a:pPr marL="0" indent="0">
              <a:buNone/>
            </a:pPr>
            <a:r>
              <a:rPr lang="en-US" sz="2050" i="1" dirty="0">
                <a:solidFill>
                  <a:srgbClr val="EAF5EE"/>
                </a:solidFill>
                <a:latin typeface="Calibri" pitchFamily="34" charset="0"/>
                <a:ea typeface="Calibri" pitchFamily="34" charset="-122"/>
                <a:cs typeface="Calibri" pitchFamily="34" charset="-120"/>
              </a:rPr>
              <a:t>La séquence la plus déterminante — 55 minutes</a:t>
            </a:r>
            <a:endParaRPr lang="en-US" sz="2050" dirty="0"/>
          </a:p>
        </p:txBody>
      </p:sp>
      <p:sp>
        <p:nvSpPr>
          <p:cNvPr id="8" name="Text 5"/>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9" name="Text 6"/>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29</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411480"/>
          </a:xfrm>
          <a:prstGeom prst="rect">
            <a:avLst/>
          </a:prstGeom>
          <a:noFill/>
          <a:ln/>
        </p:spPr>
        <p:txBody>
          <a:bodyPr wrap="square" lIns="0" tIns="0" rIns="0" bIns="0" rtlCol="0" anchor="ctr"/>
          <a:lstStyle/>
          <a:p>
            <a:pPr marL="0" indent="0">
              <a:buNone/>
            </a:pPr>
            <a:r>
              <a:rPr lang="en-US" sz="1900" b="1" kern="0" spc="200" dirty="0">
                <a:solidFill>
                  <a:srgbClr val="8E2DE2"/>
                </a:solidFill>
                <a:latin typeface="Calibri" pitchFamily="34" charset="0"/>
                <a:ea typeface="Calibri" pitchFamily="34" charset="-122"/>
                <a:cs typeface="Calibri" pitchFamily="34" charset="-120"/>
              </a:rPr>
              <a:t>SÉQUENCE 9</a:t>
            </a:r>
            <a:endParaRPr lang="en-US" sz="1900" dirty="0"/>
          </a:p>
        </p:txBody>
      </p:sp>
      <p:sp>
        <p:nvSpPr>
          <p:cNvPr id="3" name="Text 1"/>
          <p:cNvSpPr/>
          <p:nvPr/>
        </p:nvSpPr>
        <p:spPr>
          <a:xfrm>
            <a:off x="640080" y="868680"/>
            <a:ext cx="10908792" cy="1188720"/>
          </a:xfrm>
          <a:prstGeom prst="rect">
            <a:avLst/>
          </a:prstGeom>
          <a:noFill/>
          <a:ln/>
        </p:spPr>
        <p:txBody>
          <a:bodyPr wrap="square" lIns="0" tIns="0" rIns="0" bIns="0" rtlCol="0" anchor="t"/>
          <a:lstStyle/>
          <a:p>
            <a:pPr marL="0" indent="0">
              <a:buNone/>
            </a:pPr>
            <a:r>
              <a:rPr lang="en-US" sz="4200" b="1" dirty="0">
                <a:solidFill>
                  <a:srgbClr val="000000"/>
                </a:solidFill>
                <a:latin typeface="Cambria" pitchFamily="34" charset="0"/>
                <a:ea typeface="Cambria" pitchFamily="34" charset="-122"/>
                <a:cs typeface="Cambria" pitchFamily="34" charset="-120"/>
              </a:rPr>
              <a:t>Format et grille d'observation du coach</a:t>
            </a:r>
            <a:endParaRPr lang="en-US" sz="4200" dirty="0"/>
          </a:p>
        </p:txBody>
      </p:sp>
      <p:sp>
        <p:nvSpPr>
          <p:cNvPr id="4" name="Text 2"/>
          <p:cNvSpPr/>
          <p:nvPr/>
        </p:nvSpPr>
        <p:spPr>
          <a:xfrm>
            <a:off x="640080" y="2103120"/>
            <a:ext cx="5212080" cy="365760"/>
          </a:xfrm>
          <a:prstGeom prst="rect">
            <a:avLst/>
          </a:prstGeom>
          <a:noFill/>
          <a:ln/>
        </p:spPr>
        <p:txBody>
          <a:bodyPr wrap="square" lIns="0" tIns="0" rIns="0" bIns="0" rtlCol="0" anchor="ctr"/>
          <a:lstStyle/>
          <a:p>
            <a:pPr marL="0" indent="0">
              <a:buNone/>
            </a:pPr>
            <a:r>
              <a:rPr lang="en-US" sz="1900" b="1" dirty="0">
                <a:solidFill>
                  <a:srgbClr val="8E2DE2"/>
                </a:solidFill>
                <a:latin typeface="Calibri" pitchFamily="34" charset="0"/>
                <a:ea typeface="Calibri" pitchFamily="34" charset="-122"/>
                <a:cs typeface="Calibri" pitchFamily="34" charset="-120"/>
              </a:rPr>
              <a:t>FORMAT</a:t>
            </a:r>
            <a:endParaRPr lang="en-US" sz="1900" dirty="0"/>
          </a:p>
        </p:txBody>
      </p:sp>
      <p:sp>
        <p:nvSpPr>
          <p:cNvPr id="5" name="Text 3"/>
          <p:cNvSpPr/>
          <p:nvPr/>
        </p:nvSpPr>
        <p:spPr>
          <a:xfrm>
            <a:off x="640080" y="2514600"/>
            <a:ext cx="5212080" cy="457200"/>
          </a:xfrm>
          <a:prstGeom prst="rect">
            <a:avLst/>
          </a:prstGeom>
          <a:noFill/>
          <a:ln/>
        </p:spPr>
        <p:txBody>
          <a:bodyPr wrap="square" lIns="0" tIns="0" rIns="0" bIns="0" rtlCol="0" anchor="ctr"/>
          <a:lstStyle/>
          <a:p>
            <a:pPr marL="342900" indent="-342900">
              <a:buSzPct val="100000"/>
              <a:buChar char="•"/>
            </a:pPr>
            <a:r>
              <a:rPr lang="en-US" sz="1750" dirty="0">
                <a:solidFill>
                  <a:srgbClr val="1A1A1A"/>
                </a:solidFill>
                <a:latin typeface="Calibri" pitchFamily="34" charset="0"/>
                <a:ea typeface="Calibri" pitchFamily="34" charset="-122"/>
                <a:cs typeface="Calibri" pitchFamily="34" charset="-120"/>
              </a:rPr>
              <a:t>4 groupes de coaching (1 coach par groupe)</a:t>
            </a:r>
            <a:endParaRPr lang="en-US" sz="1750" dirty="0"/>
          </a:p>
        </p:txBody>
      </p:sp>
      <p:sp>
        <p:nvSpPr>
          <p:cNvPr id="6" name="Text 4"/>
          <p:cNvSpPr/>
          <p:nvPr/>
        </p:nvSpPr>
        <p:spPr>
          <a:xfrm>
            <a:off x="640080" y="3017520"/>
            <a:ext cx="5212080" cy="457200"/>
          </a:xfrm>
          <a:prstGeom prst="rect">
            <a:avLst/>
          </a:prstGeom>
          <a:noFill/>
          <a:ln/>
        </p:spPr>
        <p:txBody>
          <a:bodyPr wrap="square" lIns="0" tIns="0" rIns="0" bIns="0" rtlCol="0" anchor="ctr"/>
          <a:lstStyle/>
          <a:p>
            <a:pPr marL="342900" indent="-342900">
              <a:buSzPct val="100000"/>
              <a:buChar char="•"/>
            </a:pPr>
            <a:r>
              <a:rPr lang="en-US" sz="1750" dirty="0">
                <a:solidFill>
                  <a:srgbClr val="1A1A1A"/>
                </a:solidFill>
                <a:latin typeface="Calibri" pitchFamily="34" charset="0"/>
                <a:ea typeface="Calibri" pitchFamily="34" charset="-122"/>
                <a:cs typeface="Calibri" pitchFamily="34" charset="-120"/>
              </a:rPr>
              <a:t>5 min de pitch + 2 min de questions par équipe</a:t>
            </a:r>
            <a:endParaRPr lang="en-US" sz="1750" dirty="0"/>
          </a:p>
        </p:txBody>
      </p:sp>
      <p:sp>
        <p:nvSpPr>
          <p:cNvPr id="7" name="Text 5"/>
          <p:cNvSpPr/>
          <p:nvPr/>
        </p:nvSpPr>
        <p:spPr>
          <a:xfrm>
            <a:off x="640080" y="3520440"/>
            <a:ext cx="5212080" cy="457200"/>
          </a:xfrm>
          <a:prstGeom prst="rect">
            <a:avLst/>
          </a:prstGeom>
          <a:noFill/>
          <a:ln/>
        </p:spPr>
        <p:txBody>
          <a:bodyPr wrap="square" lIns="0" tIns="0" rIns="0" bIns="0" rtlCol="0" anchor="ctr"/>
          <a:lstStyle/>
          <a:p>
            <a:pPr marL="342900" indent="-342900">
              <a:buSzPct val="100000"/>
              <a:buChar char="•"/>
            </a:pPr>
            <a:r>
              <a:rPr lang="en-US" sz="1750" dirty="0">
                <a:solidFill>
                  <a:srgbClr val="1A1A1A"/>
                </a:solidFill>
                <a:latin typeface="Calibri" pitchFamily="34" charset="0"/>
                <a:ea typeface="Calibri" pitchFamily="34" charset="-122"/>
                <a:cs typeface="Calibri" pitchFamily="34" charset="-120"/>
              </a:rPr>
              <a:t>Retour immédiat : 2 points forts, 1 point à améliorer</a:t>
            </a:r>
            <a:endParaRPr lang="en-US" sz="1750" dirty="0"/>
          </a:p>
        </p:txBody>
      </p:sp>
      <p:sp>
        <p:nvSpPr>
          <p:cNvPr id="8" name="Text 6"/>
          <p:cNvSpPr/>
          <p:nvPr/>
        </p:nvSpPr>
        <p:spPr>
          <a:xfrm>
            <a:off x="640080" y="4023360"/>
            <a:ext cx="5212080" cy="457200"/>
          </a:xfrm>
          <a:prstGeom prst="rect">
            <a:avLst/>
          </a:prstGeom>
          <a:noFill/>
          <a:ln/>
        </p:spPr>
        <p:txBody>
          <a:bodyPr wrap="square" lIns="0" tIns="0" rIns="0" bIns="0" rtlCol="0" anchor="ctr"/>
          <a:lstStyle/>
          <a:p>
            <a:pPr marL="342900" indent="-342900">
              <a:buSzPct val="100000"/>
              <a:buChar char="•"/>
            </a:pPr>
            <a:r>
              <a:rPr lang="en-US" sz="1750" dirty="0">
                <a:solidFill>
                  <a:srgbClr val="1A1A1A"/>
                </a:solidFill>
                <a:latin typeface="Calibri" pitchFamily="34" charset="0"/>
                <a:ea typeface="Calibri" pitchFamily="34" charset="-122"/>
                <a:cs typeface="Calibri" pitchFamily="34" charset="-120"/>
              </a:rPr>
              <a:t>Reformulation et second passage si le temps le permet</a:t>
            </a:r>
            <a:endParaRPr lang="en-US" sz="1750" dirty="0"/>
          </a:p>
        </p:txBody>
      </p:sp>
      <p:sp>
        <p:nvSpPr>
          <p:cNvPr id="9" name="Shape 7"/>
          <p:cNvSpPr/>
          <p:nvPr/>
        </p:nvSpPr>
        <p:spPr>
          <a:xfrm>
            <a:off x="6263640" y="2103120"/>
            <a:ext cx="5285232" cy="3931920"/>
          </a:xfrm>
          <a:prstGeom prst="rect">
            <a:avLst/>
          </a:prstGeom>
          <a:solidFill>
            <a:srgbClr val="155D36"/>
          </a:solidFill>
          <a:ln/>
        </p:spPr>
      </p:sp>
      <p:sp>
        <p:nvSpPr>
          <p:cNvPr id="10" name="Text 8"/>
          <p:cNvSpPr/>
          <p:nvPr/>
        </p:nvSpPr>
        <p:spPr>
          <a:xfrm>
            <a:off x="6537960" y="2331720"/>
            <a:ext cx="4754880" cy="365760"/>
          </a:xfrm>
          <a:prstGeom prst="rect">
            <a:avLst/>
          </a:prstGeom>
          <a:noFill/>
          <a:ln/>
        </p:spPr>
        <p:txBody>
          <a:bodyPr wrap="square" lIns="0" tIns="0" rIns="0" bIns="0" rtlCol="0" anchor="ctr"/>
          <a:lstStyle/>
          <a:p>
            <a:pPr marL="0" indent="0">
              <a:buNone/>
            </a:pPr>
            <a:r>
              <a:rPr lang="en-US" sz="1900" b="1" dirty="0">
                <a:solidFill>
                  <a:srgbClr val="8E2DE2"/>
                </a:solidFill>
                <a:latin typeface="Calibri" pitchFamily="34" charset="0"/>
                <a:ea typeface="Calibri" pitchFamily="34" charset="-122"/>
                <a:cs typeface="Calibri" pitchFamily="34" charset="-120"/>
              </a:rPr>
              <a:t>GRILLE D'OBSERVATION</a:t>
            </a:r>
            <a:endParaRPr lang="en-US" sz="1900" dirty="0"/>
          </a:p>
        </p:txBody>
      </p:sp>
      <p:sp>
        <p:nvSpPr>
          <p:cNvPr id="11" name="Text 9"/>
          <p:cNvSpPr/>
          <p:nvPr/>
        </p:nvSpPr>
        <p:spPr>
          <a:xfrm>
            <a:off x="6537960" y="2788920"/>
            <a:ext cx="4754880" cy="530352"/>
          </a:xfrm>
          <a:prstGeom prst="rect">
            <a:avLst/>
          </a:prstGeom>
          <a:noFill/>
          <a:ln/>
        </p:spPr>
        <p:txBody>
          <a:bodyPr wrap="square" lIns="0" tIns="0" rIns="0" bIns="0" rtlCol="0" anchor="ctr"/>
          <a:lstStyle/>
          <a:p>
            <a:pPr marL="342900" indent="-342900">
              <a:buSzPct val="100000"/>
              <a:buChar char="•"/>
            </a:pPr>
            <a:r>
              <a:rPr lang="en-US" sz="1600" dirty="0">
                <a:solidFill>
                  <a:srgbClr val="FFFFFF"/>
                </a:solidFill>
                <a:latin typeface="Calibri" pitchFamily="34" charset="0"/>
                <a:ea typeface="Calibri" pitchFamily="34" charset="-122"/>
                <a:cs typeface="Calibri" pitchFamily="34" charset="-120"/>
              </a:rPr>
              <a:t>Le problème est-il clair en 30 secondes ?</a:t>
            </a:r>
            <a:endParaRPr lang="en-US" sz="1600" dirty="0"/>
          </a:p>
        </p:txBody>
      </p:sp>
      <p:sp>
        <p:nvSpPr>
          <p:cNvPr id="12" name="Text 10"/>
          <p:cNvSpPr/>
          <p:nvPr/>
        </p:nvSpPr>
        <p:spPr>
          <a:xfrm>
            <a:off x="6537960" y="3355848"/>
            <a:ext cx="4754880" cy="530352"/>
          </a:xfrm>
          <a:prstGeom prst="rect">
            <a:avLst/>
          </a:prstGeom>
          <a:noFill/>
          <a:ln/>
        </p:spPr>
        <p:txBody>
          <a:bodyPr wrap="square" lIns="0" tIns="0" rIns="0" bIns="0" rtlCol="0" anchor="ctr"/>
          <a:lstStyle/>
          <a:p>
            <a:pPr marL="342900" indent="-342900">
              <a:buSzPct val="100000"/>
              <a:buChar char="•"/>
            </a:pPr>
            <a:r>
              <a:rPr lang="en-US" sz="1600" dirty="0">
                <a:solidFill>
                  <a:srgbClr val="FFFFFF"/>
                </a:solidFill>
                <a:latin typeface="Calibri" pitchFamily="34" charset="0"/>
                <a:ea typeface="Calibri" pitchFamily="34" charset="-122"/>
                <a:cs typeface="Calibri" pitchFamily="34" charset="-120"/>
              </a:rPr>
              <a:t>Le rôle de l'IA est-il justifié ou artificiel ?</a:t>
            </a:r>
            <a:endParaRPr lang="en-US" sz="1600" dirty="0"/>
          </a:p>
        </p:txBody>
      </p:sp>
      <p:sp>
        <p:nvSpPr>
          <p:cNvPr id="13" name="Text 11"/>
          <p:cNvSpPr/>
          <p:nvPr/>
        </p:nvSpPr>
        <p:spPr>
          <a:xfrm>
            <a:off x="6537960" y="3922776"/>
            <a:ext cx="4754880" cy="530352"/>
          </a:xfrm>
          <a:prstGeom prst="rect">
            <a:avLst/>
          </a:prstGeom>
          <a:noFill/>
          <a:ln/>
        </p:spPr>
        <p:txBody>
          <a:bodyPr wrap="square" lIns="0" tIns="0" rIns="0" bIns="0" rtlCol="0" anchor="ctr"/>
          <a:lstStyle/>
          <a:p>
            <a:pPr marL="342900" indent="-342900">
              <a:buSzPct val="100000"/>
              <a:buChar char="•"/>
            </a:pPr>
            <a:r>
              <a:rPr lang="en-US" sz="1600" dirty="0">
                <a:solidFill>
                  <a:srgbClr val="FFFFFF"/>
                </a:solidFill>
                <a:latin typeface="Calibri" pitchFamily="34" charset="0"/>
                <a:ea typeface="Calibri" pitchFamily="34" charset="-122"/>
                <a:cs typeface="Calibri" pitchFamily="34" charset="-120"/>
              </a:rPr>
              <a:t>Le modèle économique est-il crédible ?</a:t>
            </a:r>
            <a:endParaRPr lang="en-US" sz="1600" dirty="0"/>
          </a:p>
        </p:txBody>
      </p:sp>
      <p:sp>
        <p:nvSpPr>
          <p:cNvPr id="14" name="Text 12"/>
          <p:cNvSpPr/>
          <p:nvPr/>
        </p:nvSpPr>
        <p:spPr>
          <a:xfrm>
            <a:off x="6537960" y="4489704"/>
            <a:ext cx="4754880" cy="530352"/>
          </a:xfrm>
          <a:prstGeom prst="rect">
            <a:avLst/>
          </a:prstGeom>
          <a:noFill/>
          <a:ln/>
        </p:spPr>
        <p:txBody>
          <a:bodyPr wrap="square" lIns="0" tIns="0" rIns="0" bIns="0" rtlCol="0" anchor="ctr"/>
          <a:lstStyle/>
          <a:p>
            <a:pPr marL="342900" indent="-342900">
              <a:buSzPct val="100000"/>
              <a:buChar char="•"/>
            </a:pPr>
            <a:r>
              <a:rPr lang="en-US" sz="1600" dirty="0">
                <a:solidFill>
                  <a:srgbClr val="FFFFFF"/>
                </a:solidFill>
                <a:latin typeface="Calibri" pitchFamily="34" charset="0"/>
                <a:ea typeface="Calibri" pitchFamily="34" charset="-122"/>
                <a:cs typeface="Calibri" pitchFamily="34" charset="-120"/>
              </a:rPr>
              <a:t>L'équipe comprend-elle le marché africain ?</a:t>
            </a:r>
            <a:endParaRPr lang="en-US" sz="1600" dirty="0"/>
          </a:p>
        </p:txBody>
      </p:sp>
      <p:sp>
        <p:nvSpPr>
          <p:cNvPr id="15" name="Text 13"/>
          <p:cNvSpPr/>
          <p:nvPr/>
        </p:nvSpPr>
        <p:spPr>
          <a:xfrm>
            <a:off x="6537960" y="5056632"/>
            <a:ext cx="4754880" cy="530352"/>
          </a:xfrm>
          <a:prstGeom prst="rect">
            <a:avLst/>
          </a:prstGeom>
          <a:noFill/>
          <a:ln/>
        </p:spPr>
        <p:txBody>
          <a:bodyPr wrap="square" lIns="0" tIns="0" rIns="0" bIns="0" rtlCol="0" anchor="ctr"/>
          <a:lstStyle/>
          <a:p>
            <a:pPr marL="342900" indent="-342900">
              <a:buSzPct val="100000"/>
              <a:buChar char="•"/>
            </a:pPr>
            <a:r>
              <a:rPr lang="en-US" sz="1600" dirty="0">
                <a:solidFill>
                  <a:srgbClr val="FFFFFF"/>
                </a:solidFill>
                <a:latin typeface="Calibri" pitchFamily="34" charset="0"/>
                <a:ea typeface="Calibri" pitchFamily="34" charset="-122"/>
                <a:cs typeface="Calibri" pitchFamily="34" charset="-120"/>
              </a:rPr>
              <a:t>La présence scénique inspire-t-elle confiance ?</a:t>
            </a:r>
            <a:endParaRPr lang="en-US" sz="1600" dirty="0"/>
          </a:p>
        </p:txBody>
      </p:sp>
      <p:sp>
        <p:nvSpPr>
          <p:cNvPr id="16" name="Text 14"/>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17" name="Text 15"/>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30</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1828800" y="-1828800"/>
            <a:ext cx="4572000" cy="4572000"/>
          </a:xfrm>
          <a:prstGeom prst="ellipse">
            <a:avLst/>
          </a:prstGeom>
          <a:solidFill>
            <a:srgbClr val="155D36"/>
          </a:solidFill>
          <a:ln/>
        </p:spPr>
      </p:sp>
      <p:sp>
        <p:nvSpPr>
          <p:cNvPr id="3" name="Shape 1"/>
          <p:cNvSpPr/>
          <p:nvPr/>
        </p:nvSpPr>
        <p:spPr>
          <a:xfrm>
            <a:off x="5591556" y="640080"/>
            <a:ext cx="1005840" cy="1005840"/>
          </a:xfrm>
          <a:prstGeom prst="ellipse">
            <a:avLst/>
          </a:prstGeom>
          <a:solidFill>
            <a:srgbClr val="8E2DE2"/>
          </a:solidFill>
          <a:ln/>
        </p:spPr>
      </p:sp>
      <p:pic>
        <p:nvPicPr>
          <p:cNvPr id="4" name="Image 0" descr="preencoded.png"/>
          <p:cNvPicPr>
            <a:picLocks noChangeAspect="1"/>
          </p:cNvPicPr>
          <p:nvPr/>
        </p:nvPicPr>
        <p:blipFill>
          <a:blip r:embed="rId3"/>
          <a:stretch>
            <a:fillRect/>
          </a:stretch>
        </p:blipFill>
        <p:spPr>
          <a:xfrm>
            <a:off x="5712257" y="760781"/>
            <a:ext cx="764438" cy="764438"/>
          </a:xfrm>
          <a:prstGeom prst="rect">
            <a:avLst/>
          </a:prstGeom>
        </p:spPr>
      </p:pic>
      <p:sp>
        <p:nvSpPr>
          <p:cNvPr id="5" name="Text 2"/>
          <p:cNvSpPr/>
          <p:nvPr/>
        </p:nvSpPr>
        <p:spPr>
          <a:xfrm>
            <a:off x="0" y="1828800"/>
            <a:ext cx="12188952" cy="365760"/>
          </a:xfrm>
          <a:prstGeom prst="rect">
            <a:avLst/>
          </a:prstGeom>
          <a:noFill/>
          <a:ln/>
        </p:spPr>
        <p:txBody>
          <a:bodyPr wrap="square" lIns="0" tIns="0" rIns="0" bIns="0" rtlCol="0" anchor="ctr"/>
          <a:lstStyle/>
          <a:p>
            <a:pPr marL="0" indent="0" algn="ctr">
              <a:buNone/>
            </a:pPr>
            <a:r>
              <a:rPr lang="en-US" sz="1800" b="1" kern="0" spc="200" dirty="0">
                <a:solidFill>
                  <a:srgbClr val="8E2DE2"/>
                </a:solidFill>
                <a:latin typeface="Calibri" pitchFamily="34" charset="0"/>
                <a:ea typeface="Calibri" pitchFamily="34" charset="-122"/>
                <a:cs typeface="Calibri" pitchFamily="34" charset="-120"/>
              </a:rPr>
              <a:t>SÉQUENCE 10 — DÉFI FINAL</a:t>
            </a:r>
            <a:endParaRPr lang="en-US" sz="1800" dirty="0"/>
          </a:p>
        </p:txBody>
      </p:sp>
      <p:sp>
        <p:nvSpPr>
          <p:cNvPr id="6" name="Text 3"/>
          <p:cNvSpPr/>
          <p:nvPr/>
        </p:nvSpPr>
        <p:spPr>
          <a:xfrm>
            <a:off x="1188720" y="2286000"/>
            <a:ext cx="9811512" cy="2651760"/>
          </a:xfrm>
          <a:prstGeom prst="rect">
            <a:avLst/>
          </a:prstGeom>
          <a:noFill/>
          <a:ln/>
        </p:spPr>
        <p:txBody>
          <a:bodyPr wrap="square" lIns="0" tIns="0" rIns="0" bIns="0" rtlCol="0" anchor="ctr"/>
          <a:lstStyle/>
          <a:p>
            <a:pPr marL="0" indent="0" algn="ctr">
              <a:lnSpc>
                <a:spcPct val="130000"/>
              </a:lnSpc>
              <a:buNone/>
            </a:pPr>
            <a:r>
              <a:rPr lang="en-US" sz="2550" i="1" dirty="0">
                <a:solidFill>
                  <a:srgbClr val="FFFFFF"/>
                </a:solidFill>
                <a:latin typeface="Cambria" pitchFamily="34" charset="0"/>
                <a:ea typeface="Cambria" pitchFamily="34" charset="-122"/>
                <a:cs typeface="Cambria" pitchFamily="34" charset="-120"/>
              </a:rPr>
              <a:t>« Votre objectif aujourd'hui n'est pas simplement de gagner le VIBEATHON. C'est de convaincre un juré que votre idée mérite d'exister au-delà de cette compétition. Montrez que vous construisez un pont entre les meilleures pratiques mondiales et l'exécution réelle sur les marchés africains. »</a:t>
            </a:r>
            <a:endParaRPr lang="en-US" sz="2550" dirty="0"/>
          </a:p>
        </p:txBody>
      </p:sp>
      <p:sp>
        <p:nvSpPr>
          <p:cNvPr id="7" name="Text 4"/>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8" name="Text 5"/>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31</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411480"/>
          </a:xfrm>
          <a:prstGeom prst="rect">
            <a:avLst/>
          </a:prstGeom>
          <a:noFill/>
          <a:ln/>
        </p:spPr>
        <p:txBody>
          <a:bodyPr wrap="square" lIns="0" tIns="0" rIns="0" bIns="0" rtlCol="0" anchor="ctr"/>
          <a:lstStyle/>
          <a:p>
            <a:pPr marL="0" indent="0">
              <a:buNone/>
            </a:pPr>
            <a:r>
              <a:rPr lang="en-US" sz="1900" b="1" kern="0" spc="200" dirty="0">
                <a:solidFill>
                  <a:srgbClr val="8E2DE2"/>
                </a:solidFill>
                <a:latin typeface="Calibri" pitchFamily="34" charset="0"/>
                <a:ea typeface="Calibri" pitchFamily="34" charset="-122"/>
                <a:cs typeface="Calibri" pitchFamily="34" charset="-120"/>
              </a:rPr>
              <a:t>RÉFÉRENCE OFFICIELLE — TERMES DE RÉFÉRENCE</a:t>
            </a:r>
            <a:endParaRPr lang="en-US" sz="1900" dirty="0"/>
          </a:p>
        </p:txBody>
      </p:sp>
      <p:sp>
        <p:nvSpPr>
          <p:cNvPr id="3" name="Text 1"/>
          <p:cNvSpPr/>
          <p:nvPr/>
        </p:nvSpPr>
        <p:spPr>
          <a:xfrm>
            <a:off x="640080" y="868680"/>
            <a:ext cx="10908792" cy="1188720"/>
          </a:xfrm>
          <a:prstGeom prst="rect">
            <a:avLst/>
          </a:prstGeom>
          <a:noFill/>
          <a:ln/>
        </p:spPr>
        <p:txBody>
          <a:bodyPr wrap="square" lIns="0" tIns="0" rIns="0" bIns="0" rtlCol="0" anchor="t"/>
          <a:lstStyle/>
          <a:p>
            <a:pPr marL="0" indent="0">
              <a:buNone/>
            </a:pPr>
            <a:r>
              <a:rPr lang="en-US" sz="4200" b="1" dirty="0">
                <a:solidFill>
                  <a:srgbClr val="000000"/>
                </a:solidFill>
                <a:latin typeface="Cambria" pitchFamily="34" charset="0"/>
                <a:ea typeface="Cambria" pitchFamily="34" charset="-122"/>
                <a:cs typeface="Cambria" pitchFamily="34" charset="-120"/>
              </a:rPr>
              <a:t>Grille d'évaluation du pitch</a:t>
            </a:r>
            <a:endParaRPr lang="en-US" sz="4200" dirty="0"/>
          </a:p>
        </p:txBody>
      </p:sp>
      <p:sp>
        <p:nvSpPr>
          <p:cNvPr id="4" name="Shape 2"/>
          <p:cNvSpPr/>
          <p:nvPr/>
        </p:nvSpPr>
        <p:spPr>
          <a:xfrm>
            <a:off x="640080" y="1558065"/>
            <a:ext cx="10908792" cy="777240"/>
          </a:xfrm>
          <a:prstGeom prst="rect">
            <a:avLst/>
          </a:prstGeom>
          <a:solidFill>
            <a:srgbClr val="EAF5EE"/>
          </a:solidFill>
          <a:ln/>
        </p:spPr>
      </p:sp>
      <p:sp>
        <p:nvSpPr>
          <p:cNvPr id="5" name="Text 3"/>
          <p:cNvSpPr/>
          <p:nvPr/>
        </p:nvSpPr>
        <p:spPr>
          <a:xfrm>
            <a:off x="960120" y="1558065"/>
            <a:ext cx="9445752" cy="777240"/>
          </a:xfrm>
          <a:prstGeom prst="rect">
            <a:avLst/>
          </a:prstGeom>
          <a:noFill/>
          <a:ln/>
        </p:spPr>
        <p:txBody>
          <a:bodyPr wrap="square" lIns="0" tIns="0" rIns="0" bIns="0" rtlCol="0" anchor="ctr"/>
          <a:lstStyle/>
          <a:p>
            <a:pPr marL="0" indent="0">
              <a:buNone/>
            </a:pPr>
            <a:r>
              <a:rPr lang="en-US" sz="2100" b="1" dirty="0">
                <a:solidFill>
                  <a:srgbClr val="1A1A1A"/>
                </a:solidFill>
                <a:latin typeface="Calibri" pitchFamily="34" charset="0"/>
                <a:ea typeface="Calibri" pitchFamily="34" charset="-122"/>
                <a:cs typeface="Calibri" pitchFamily="34" charset="-120"/>
              </a:rPr>
              <a:t>Impact problème / solution</a:t>
            </a:r>
            <a:endParaRPr lang="en-US" sz="2100" dirty="0"/>
          </a:p>
        </p:txBody>
      </p:sp>
      <p:sp>
        <p:nvSpPr>
          <p:cNvPr id="6" name="Shape 4"/>
          <p:cNvSpPr/>
          <p:nvPr/>
        </p:nvSpPr>
        <p:spPr>
          <a:xfrm>
            <a:off x="10497312" y="1562637"/>
            <a:ext cx="768096" cy="768096"/>
          </a:xfrm>
          <a:prstGeom prst="ellipse">
            <a:avLst/>
          </a:prstGeom>
          <a:solidFill>
            <a:srgbClr val="8E2DE2"/>
          </a:solidFill>
          <a:ln/>
        </p:spPr>
      </p:sp>
      <p:sp>
        <p:nvSpPr>
          <p:cNvPr id="7" name="Text 5"/>
          <p:cNvSpPr/>
          <p:nvPr/>
        </p:nvSpPr>
        <p:spPr>
          <a:xfrm>
            <a:off x="10497312" y="1562637"/>
            <a:ext cx="768096" cy="768096"/>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30%</a:t>
            </a:r>
            <a:endParaRPr lang="en-US" sz="1900" dirty="0"/>
          </a:p>
        </p:txBody>
      </p:sp>
      <p:sp>
        <p:nvSpPr>
          <p:cNvPr id="8" name="Shape 6"/>
          <p:cNvSpPr/>
          <p:nvPr/>
        </p:nvSpPr>
        <p:spPr>
          <a:xfrm>
            <a:off x="640080" y="2536473"/>
            <a:ext cx="10908792" cy="777240"/>
          </a:xfrm>
          <a:prstGeom prst="rect">
            <a:avLst/>
          </a:prstGeom>
          <a:solidFill>
            <a:srgbClr val="F1E6FA"/>
          </a:solidFill>
          <a:ln/>
        </p:spPr>
      </p:sp>
      <p:sp>
        <p:nvSpPr>
          <p:cNvPr id="9" name="Text 7"/>
          <p:cNvSpPr/>
          <p:nvPr/>
        </p:nvSpPr>
        <p:spPr>
          <a:xfrm>
            <a:off x="960120" y="2536473"/>
            <a:ext cx="9445752" cy="777240"/>
          </a:xfrm>
          <a:prstGeom prst="rect">
            <a:avLst/>
          </a:prstGeom>
          <a:noFill/>
          <a:ln/>
        </p:spPr>
        <p:txBody>
          <a:bodyPr wrap="square" lIns="0" tIns="0" rIns="0" bIns="0" rtlCol="0" anchor="ctr"/>
          <a:lstStyle/>
          <a:p>
            <a:pPr marL="0" indent="0">
              <a:buNone/>
            </a:pPr>
            <a:r>
              <a:rPr lang="en-US" sz="2100" b="1" dirty="0">
                <a:solidFill>
                  <a:srgbClr val="1A1A1A"/>
                </a:solidFill>
                <a:latin typeface="Calibri" pitchFamily="34" charset="0"/>
                <a:ea typeface="Calibri" pitchFamily="34" charset="-122"/>
                <a:cs typeface="Calibri" pitchFamily="34" charset="-120"/>
              </a:rPr>
              <a:t>Faisabilité</a:t>
            </a:r>
            <a:endParaRPr lang="en-US" sz="2100" dirty="0"/>
          </a:p>
        </p:txBody>
      </p:sp>
      <p:sp>
        <p:nvSpPr>
          <p:cNvPr id="10" name="Shape 8"/>
          <p:cNvSpPr/>
          <p:nvPr/>
        </p:nvSpPr>
        <p:spPr>
          <a:xfrm>
            <a:off x="10497312" y="2541045"/>
            <a:ext cx="768096" cy="768096"/>
          </a:xfrm>
          <a:prstGeom prst="ellipse">
            <a:avLst/>
          </a:prstGeom>
          <a:solidFill>
            <a:srgbClr val="8E2DE2"/>
          </a:solidFill>
          <a:ln/>
        </p:spPr>
      </p:sp>
      <p:sp>
        <p:nvSpPr>
          <p:cNvPr id="11" name="Text 9"/>
          <p:cNvSpPr/>
          <p:nvPr/>
        </p:nvSpPr>
        <p:spPr>
          <a:xfrm>
            <a:off x="10497312" y="2541045"/>
            <a:ext cx="768096" cy="768096"/>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20%</a:t>
            </a:r>
            <a:endParaRPr lang="en-US" sz="1900" dirty="0"/>
          </a:p>
        </p:txBody>
      </p:sp>
      <p:sp>
        <p:nvSpPr>
          <p:cNvPr id="12" name="Shape 10"/>
          <p:cNvSpPr/>
          <p:nvPr/>
        </p:nvSpPr>
        <p:spPr>
          <a:xfrm>
            <a:off x="640080" y="3514881"/>
            <a:ext cx="10908792" cy="777240"/>
          </a:xfrm>
          <a:prstGeom prst="rect">
            <a:avLst/>
          </a:prstGeom>
          <a:solidFill>
            <a:srgbClr val="EAF5EE"/>
          </a:solidFill>
          <a:ln/>
        </p:spPr>
      </p:sp>
      <p:sp>
        <p:nvSpPr>
          <p:cNvPr id="13" name="Text 11"/>
          <p:cNvSpPr/>
          <p:nvPr/>
        </p:nvSpPr>
        <p:spPr>
          <a:xfrm>
            <a:off x="960120" y="3514881"/>
            <a:ext cx="9445752" cy="777240"/>
          </a:xfrm>
          <a:prstGeom prst="rect">
            <a:avLst/>
          </a:prstGeom>
          <a:noFill/>
          <a:ln/>
        </p:spPr>
        <p:txBody>
          <a:bodyPr wrap="square" lIns="0" tIns="0" rIns="0" bIns="0" rtlCol="0" anchor="ctr"/>
          <a:lstStyle/>
          <a:p>
            <a:pPr marL="0" indent="0">
              <a:buNone/>
            </a:pPr>
            <a:r>
              <a:rPr lang="en-US" sz="2100" b="1" dirty="0">
                <a:solidFill>
                  <a:srgbClr val="1A1A1A"/>
                </a:solidFill>
                <a:latin typeface="Calibri" pitchFamily="34" charset="0"/>
                <a:ea typeface="Calibri" pitchFamily="34" charset="-122"/>
                <a:cs typeface="Calibri" pitchFamily="34" charset="-120"/>
              </a:rPr>
              <a:t>Usage pertinent de l'IA</a:t>
            </a:r>
            <a:endParaRPr lang="en-US" sz="2100" dirty="0"/>
          </a:p>
        </p:txBody>
      </p:sp>
      <p:sp>
        <p:nvSpPr>
          <p:cNvPr id="14" name="Shape 12"/>
          <p:cNvSpPr/>
          <p:nvPr/>
        </p:nvSpPr>
        <p:spPr>
          <a:xfrm>
            <a:off x="10497312" y="3519453"/>
            <a:ext cx="768096" cy="768096"/>
          </a:xfrm>
          <a:prstGeom prst="ellipse">
            <a:avLst/>
          </a:prstGeom>
          <a:solidFill>
            <a:srgbClr val="8E2DE2"/>
          </a:solidFill>
          <a:ln/>
        </p:spPr>
      </p:sp>
      <p:sp>
        <p:nvSpPr>
          <p:cNvPr id="15" name="Text 13"/>
          <p:cNvSpPr/>
          <p:nvPr/>
        </p:nvSpPr>
        <p:spPr>
          <a:xfrm>
            <a:off x="10497312" y="3519453"/>
            <a:ext cx="768096" cy="768096"/>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20%</a:t>
            </a:r>
            <a:endParaRPr lang="en-US" sz="1900" dirty="0"/>
          </a:p>
        </p:txBody>
      </p:sp>
      <p:sp>
        <p:nvSpPr>
          <p:cNvPr id="16" name="Shape 14"/>
          <p:cNvSpPr/>
          <p:nvPr/>
        </p:nvSpPr>
        <p:spPr>
          <a:xfrm>
            <a:off x="640080" y="4493289"/>
            <a:ext cx="10908792" cy="777240"/>
          </a:xfrm>
          <a:prstGeom prst="rect">
            <a:avLst/>
          </a:prstGeom>
          <a:solidFill>
            <a:srgbClr val="F1E6FA"/>
          </a:solidFill>
          <a:ln/>
        </p:spPr>
      </p:sp>
      <p:sp>
        <p:nvSpPr>
          <p:cNvPr id="17" name="Text 15"/>
          <p:cNvSpPr/>
          <p:nvPr/>
        </p:nvSpPr>
        <p:spPr>
          <a:xfrm>
            <a:off x="960120" y="4493289"/>
            <a:ext cx="9445752" cy="777240"/>
          </a:xfrm>
          <a:prstGeom prst="rect">
            <a:avLst/>
          </a:prstGeom>
          <a:noFill/>
          <a:ln/>
        </p:spPr>
        <p:txBody>
          <a:bodyPr wrap="square" lIns="0" tIns="0" rIns="0" bIns="0" rtlCol="0" anchor="ctr"/>
          <a:lstStyle/>
          <a:p>
            <a:pPr marL="0" indent="0">
              <a:buNone/>
            </a:pPr>
            <a:r>
              <a:rPr lang="en-US" sz="2100" b="1" dirty="0">
                <a:solidFill>
                  <a:srgbClr val="1A1A1A"/>
                </a:solidFill>
                <a:latin typeface="Calibri" pitchFamily="34" charset="0"/>
                <a:ea typeface="Calibri" pitchFamily="34" charset="-122"/>
                <a:cs typeface="Calibri" pitchFamily="34" charset="-120"/>
              </a:rPr>
              <a:t>Innovation</a:t>
            </a:r>
            <a:endParaRPr lang="en-US" sz="2100" dirty="0"/>
          </a:p>
        </p:txBody>
      </p:sp>
      <p:sp>
        <p:nvSpPr>
          <p:cNvPr id="18" name="Shape 16"/>
          <p:cNvSpPr/>
          <p:nvPr/>
        </p:nvSpPr>
        <p:spPr>
          <a:xfrm>
            <a:off x="10497312" y="4497861"/>
            <a:ext cx="768096" cy="768096"/>
          </a:xfrm>
          <a:prstGeom prst="ellipse">
            <a:avLst/>
          </a:prstGeom>
          <a:solidFill>
            <a:srgbClr val="8E2DE2"/>
          </a:solidFill>
          <a:ln/>
        </p:spPr>
      </p:sp>
      <p:sp>
        <p:nvSpPr>
          <p:cNvPr id="19" name="Text 17"/>
          <p:cNvSpPr/>
          <p:nvPr/>
        </p:nvSpPr>
        <p:spPr>
          <a:xfrm>
            <a:off x="10497312" y="4497861"/>
            <a:ext cx="768096" cy="768096"/>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15%</a:t>
            </a:r>
            <a:endParaRPr lang="en-US" sz="1900" dirty="0"/>
          </a:p>
        </p:txBody>
      </p:sp>
      <p:sp>
        <p:nvSpPr>
          <p:cNvPr id="20" name="Shape 18"/>
          <p:cNvSpPr/>
          <p:nvPr/>
        </p:nvSpPr>
        <p:spPr>
          <a:xfrm>
            <a:off x="640080" y="5471697"/>
            <a:ext cx="10908792" cy="777240"/>
          </a:xfrm>
          <a:prstGeom prst="rect">
            <a:avLst/>
          </a:prstGeom>
          <a:solidFill>
            <a:srgbClr val="EAF5EE"/>
          </a:solidFill>
          <a:ln/>
        </p:spPr>
      </p:sp>
      <p:sp>
        <p:nvSpPr>
          <p:cNvPr id="21" name="Text 19"/>
          <p:cNvSpPr/>
          <p:nvPr/>
        </p:nvSpPr>
        <p:spPr>
          <a:xfrm>
            <a:off x="960120" y="5471697"/>
            <a:ext cx="9445752" cy="777240"/>
          </a:xfrm>
          <a:prstGeom prst="rect">
            <a:avLst/>
          </a:prstGeom>
          <a:noFill/>
          <a:ln/>
        </p:spPr>
        <p:txBody>
          <a:bodyPr wrap="square" lIns="0" tIns="0" rIns="0" bIns="0" rtlCol="0" anchor="ctr"/>
          <a:lstStyle/>
          <a:p>
            <a:pPr marL="0" indent="0">
              <a:buNone/>
            </a:pPr>
            <a:r>
              <a:rPr lang="en-US" sz="2100" b="1" dirty="0">
                <a:solidFill>
                  <a:srgbClr val="1A1A1A"/>
                </a:solidFill>
                <a:latin typeface="Calibri" pitchFamily="34" charset="0"/>
                <a:ea typeface="Calibri" pitchFamily="34" charset="-122"/>
                <a:cs typeface="Calibri" pitchFamily="34" charset="-120"/>
              </a:rPr>
              <a:t>Qualité du pitch et clarté</a:t>
            </a:r>
            <a:endParaRPr lang="en-US" sz="2100" dirty="0"/>
          </a:p>
        </p:txBody>
      </p:sp>
      <p:sp>
        <p:nvSpPr>
          <p:cNvPr id="22" name="Shape 20"/>
          <p:cNvSpPr/>
          <p:nvPr/>
        </p:nvSpPr>
        <p:spPr>
          <a:xfrm>
            <a:off x="10497312" y="5476269"/>
            <a:ext cx="768096" cy="768096"/>
          </a:xfrm>
          <a:prstGeom prst="ellipse">
            <a:avLst/>
          </a:prstGeom>
          <a:solidFill>
            <a:srgbClr val="8E2DE2"/>
          </a:solidFill>
          <a:ln/>
        </p:spPr>
      </p:sp>
      <p:sp>
        <p:nvSpPr>
          <p:cNvPr id="23" name="Text 21"/>
          <p:cNvSpPr/>
          <p:nvPr/>
        </p:nvSpPr>
        <p:spPr>
          <a:xfrm>
            <a:off x="10497312" y="5476269"/>
            <a:ext cx="768096" cy="768096"/>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15%</a:t>
            </a:r>
            <a:endParaRPr lang="en-US" sz="1900" dirty="0"/>
          </a:p>
        </p:txBody>
      </p:sp>
      <p:sp>
        <p:nvSpPr>
          <p:cNvPr id="24" name="Text 22"/>
          <p:cNvSpPr/>
          <p:nvPr/>
        </p:nvSpPr>
        <p:spPr>
          <a:xfrm>
            <a:off x="457200" y="6411201"/>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25" name="Text 23"/>
          <p:cNvSpPr/>
          <p:nvPr/>
        </p:nvSpPr>
        <p:spPr>
          <a:xfrm>
            <a:off x="11274552" y="6411201"/>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32</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9601200" y="4297680"/>
            <a:ext cx="4114800" cy="4114800"/>
          </a:xfrm>
          <a:prstGeom prst="ellipse">
            <a:avLst/>
          </a:prstGeom>
          <a:solidFill>
            <a:srgbClr val="155D36"/>
          </a:solidFill>
          <a:ln/>
        </p:spPr>
      </p:sp>
      <p:sp>
        <p:nvSpPr>
          <p:cNvPr id="3" name="Shape 1"/>
          <p:cNvSpPr/>
          <p:nvPr/>
        </p:nvSpPr>
        <p:spPr>
          <a:xfrm>
            <a:off x="822960" y="1554480"/>
            <a:ext cx="1051560" cy="1051560"/>
          </a:xfrm>
          <a:prstGeom prst="ellipse">
            <a:avLst/>
          </a:prstGeom>
          <a:solidFill>
            <a:srgbClr val="8E2DE2"/>
          </a:solidFill>
          <a:ln/>
        </p:spPr>
      </p:sp>
      <p:pic>
        <p:nvPicPr>
          <p:cNvPr id="4" name="Image 0" descr="preencoded.png"/>
          <p:cNvPicPr>
            <a:picLocks noChangeAspect="1"/>
          </p:cNvPicPr>
          <p:nvPr/>
        </p:nvPicPr>
        <p:blipFill>
          <a:blip r:embed="rId3"/>
          <a:stretch>
            <a:fillRect/>
          </a:stretch>
        </p:blipFill>
        <p:spPr>
          <a:xfrm>
            <a:off x="949147" y="1680667"/>
            <a:ext cx="799186" cy="799186"/>
          </a:xfrm>
          <a:prstGeom prst="rect">
            <a:avLst/>
          </a:prstGeom>
        </p:spPr>
      </p:pic>
      <p:sp>
        <p:nvSpPr>
          <p:cNvPr id="5" name="Text 2"/>
          <p:cNvSpPr/>
          <p:nvPr/>
        </p:nvSpPr>
        <p:spPr>
          <a:xfrm>
            <a:off x="822960" y="2788920"/>
            <a:ext cx="10360152" cy="411480"/>
          </a:xfrm>
          <a:prstGeom prst="rect">
            <a:avLst/>
          </a:prstGeom>
          <a:noFill/>
          <a:ln/>
        </p:spPr>
        <p:txBody>
          <a:bodyPr wrap="square" lIns="0" tIns="0" rIns="0" bIns="0" rtlCol="0" anchor="ctr"/>
          <a:lstStyle/>
          <a:p>
            <a:pPr marL="0" indent="0">
              <a:buNone/>
            </a:pPr>
            <a:r>
              <a:rPr lang="en-US" sz="1900" b="1" kern="0" spc="200" dirty="0">
                <a:solidFill>
                  <a:srgbClr val="8E2DE2"/>
                </a:solidFill>
                <a:latin typeface="Calibri" pitchFamily="34" charset="0"/>
                <a:ea typeface="Calibri" pitchFamily="34" charset="-122"/>
                <a:cs typeface="Calibri" pitchFamily="34" charset="-120"/>
              </a:rPr>
              <a:t>ANNEXE</a:t>
            </a:r>
            <a:endParaRPr lang="en-US" sz="1900" dirty="0"/>
          </a:p>
        </p:txBody>
      </p:sp>
      <p:sp>
        <p:nvSpPr>
          <p:cNvPr id="6" name="Text 3"/>
          <p:cNvSpPr/>
          <p:nvPr/>
        </p:nvSpPr>
        <p:spPr>
          <a:xfrm>
            <a:off x="822960" y="3200400"/>
            <a:ext cx="10360152" cy="12801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3 études de cas inspirantes</a:t>
            </a:r>
            <a:endParaRPr lang="en-US" sz="4000" dirty="0"/>
          </a:p>
        </p:txBody>
      </p:sp>
      <p:sp>
        <p:nvSpPr>
          <p:cNvPr id="7" name="Text 4"/>
          <p:cNvSpPr/>
          <p:nvPr/>
        </p:nvSpPr>
        <p:spPr>
          <a:xfrm>
            <a:off x="822960" y="4343400"/>
            <a:ext cx="9902952" cy="731520"/>
          </a:xfrm>
          <a:prstGeom prst="rect">
            <a:avLst/>
          </a:prstGeom>
          <a:noFill/>
          <a:ln/>
        </p:spPr>
        <p:txBody>
          <a:bodyPr wrap="square" lIns="0" tIns="0" rIns="0" bIns="0" rtlCol="0" anchor="ctr"/>
          <a:lstStyle/>
          <a:p>
            <a:pPr marL="0" indent="0">
              <a:buNone/>
            </a:pPr>
            <a:r>
              <a:rPr lang="en-US" sz="2050" i="1" dirty="0">
                <a:solidFill>
                  <a:srgbClr val="EAF5EE"/>
                </a:solidFill>
                <a:latin typeface="Calibri" pitchFamily="34" charset="0"/>
                <a:ea typeface="Calibri" pitchFamily="34" charset="-122"/>
                <a:cs typeface="Calibri" pitchFamily="34" charset="-120"/>
              </a:rPr>
              <a:t>À citer en Séquences 3 et 5</a:t>
            </a:r>
            <a:endParaRPr lang="en-US" sz="2050" dirty="0"/>
          </a:p>
        </p:txBody>
      </p:sp>
      <p:sp>
        <p:nvSpPr>
          <p:cNvPr id="8" name="Text 5"/>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9" name="Text 6"/>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33</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411480"/>
          </a:xfrm>
          <a:prstGeom prst="rect">
            <a:avLst/>
          </a:prstGeom>
          <a:noFill/>
          <a:ln/>
        </p:spPr>
        <p:txBody>
          <a:bodyPr wrap="square" lIns="0" tIns="0" rIns="0" bIns="0" rtlCol="0" anchor="ctr"/>
          <a:lstStyle/>
          <a:p>
            <a:pPr marL="0" indent="0">
              <a:buNone/>
            </a:pPr>
            <a:r>
              <a:rPr lang="en-US" sz="1900" b="1" kern="0" spc="200" dirty="0">
                <a:solidFill>
                  <a:srgbClr val="8E2DE2"/>
                </a:solidFill>
                <a:latin typeface="Calibri" pitchFamily="34" charset="0"/>
                <a:ea typeface="Calibri" pitchFamily="34" charset="-122"/>
                <a:cs typeface="Calibri" pitchFamily="34" charset="-120"/>
              </a:rPr>
              <a:t>ANNEXE — CAS INSPIRANTS</a:t>
            </a:r>
            <a:endParaRPr lang="en-US" sz="1900" dirty="0"/>
          </a:p>
        </p:txBody>
      </p:sp>
      <p:sp>
        <p:nvSpPr>
          <p:cNvPr id="3" name="Text 1"/>
          <p:cNvSpPr/>
          <p:nvPr/>
        </p:nvSpPr>
        <p:spPr>
          <a:xfrm>
            <a:off x="640080" y="868680"/>
            <a:ext cx="10908792" cy="1188720"/>
          </a:xfrm>
          <a:prstGeom prst="rect">
            <a:avLst/>
          </a:prstGeom>
          <a:noFill/>
          <a:ln/>
        </p:spPr>
        <p:txBody>
          <a:bodyPr wrap="square" lIns="0" tIns="0" rIns="0" bIns="0" rtlCol="0" anchor="t"/>
          <a:lstStyle/>
          <a:p>
            <a:pPr marL="0" indent="0">
              <a:buNone/>
            </a:pPr>
            <a:r>
              <a:rPr lang="en-US" sz="4200" b="1" dirty="0">
                <a:solidFill>
                  <a:srgbClr val="000000"/>
                </a:solidFill>
                <a:latin typeface="Cambria" pitchFamily="34" charset="0"/>
                <a:ea typeface="Cambria" pitchFamily="34" charset="-122"/>
                <a:cs typeface="Cambria" pitchFamily="34" charset="-120"/>
              </a:rPr>
              <a:t>Le pont entre excellence mondiale et exécution africaine</a:t>
            </a:r>
            <a:endParaRPr lang="en-US" sz="4200" dirty="0"/>
          </a:p>
        </p:txBody>
      </p:sp>
      <p:sp>
        <p:nvSpPr>
          <p:cNvPr id="4" name="Shape 2"/>
          <p:cNvSpPr/>
          <p:nvPr/>
        </p:nvSpPr>
        <p:spPr>
          <a:xfrm>
            <a:off x="640080" y="2148840"/>
            <a:ext cx="3429000" cy="3931920"/>
          </a:xfrm>
          <a:prstGeom prst="rect">
            <a:avLst/>
          </a:prstGeom>
          <a:solidFill>
            <a:srgbClr val="EAF5EE"/>
          </a:solidFill>
          <a:ln/>
          <a:effectLst>
            <a:outerShdw blurRad="152400" dist="38100" dir="2700000" algn="bl" rotWithShape="0">
              <a:srgbClr val="000000">
                <a:alpha val="15000"/>
              </a:srgbClr>
            </a:outerShdw>
          </a:effectLst>
        </p:spPr>
      </p:sp>
      <p:sp>
        <p:nvSpPr>
          <p:cNvPr id="5" name="Shape 3"/>
          <p:cNvSpPr/>
          <p:nvPr/>
        </p:nvSpPr>
        <p:spPr>
          <a:xfrm>
            <a:off x="868680" y="2377440"/>
            <a:ext cx="502920" cy="502920"/>
          </a:xfrm>
          <a:prstGeom prst="ellipse">
            <a:avLst/>
          </a:prstGeom>
          <a:solidFill>
            <a:srgbClr val="8E2DE2"/>
          </a:solidFill>
          <a:ln/>
        </p:spPr>
      </p:sp>
      <p:pic>
        <p:nvPicPr>
          <p:cNvPr id="6" name="Image 0" descr="preencoded.png"/>
          <p:cNvPicPr>
            <a:picLocks noChangeAspect="1"/>
          </p:cNvPicPr>
          <p:nvPr/>
        </p:nvPicPr>
        <p:blipFill>
          <a:blip r:embed="rId3"/>
          <a:stretch>
            <a:fillRect/>
          </a:stretch>
        </p:blipFill>
        <p:spPr>
          <a:xfrm>
            <a:off x="929030" y="2437790"/>
            <a:ext cx="382219" cy="382219"/>
          </a:xfrm>
          <a:prstGeom prst="rect">
            <a:avLst/>
          </a:prstGeom>
        </p:spPr>
      </p:pic>
      <p:sp>
        <p:nvSpPr>
          <p:cNvPr id="7" name="Text 4"/>
          <p:cNvSpPr/>
          <p:nvPr/>
        </p:nvSpPr>
        <p:spPr>
          <a:xfrm>
            <a:off x="868680" y="3017520"/>
            <a:ext cx="2971800" cy="502920"/>
          </a:xfrm>
          <a:prstGeom prst="rect">
            <a:avLst/>
          </a:prstGeom>
          <a:noFill/>
          <a:ln/>
        </p:spPr>
        <p:txBody>
          <a:bodyPr wrap="square" lIns="0" tIns="0" rIns="0" bIns="0" rtlCol="0" anchor="ctr"/>
          <a:lstStyle/>
          <a:p>
            <a:pPr marL="0" indent="0">
              <a:buNone/>
            </a:pPr>
            <a:r>
              <a:rPr lang="en-US" sz="1900" b="1" dirty="0">
                <a:solidFill>
                  <a:srgbClr val="000000"/>
                </a:solidFill>
                <a:latin typeface="Cambria" pitchFamily="34" charset="0"/>
                <a:ea typeface="Cambria" pitchFamily="34" charset="-122"/>
                <a:cs typeface="Cambria" pitchFamily="34" charset="-120"/>
              </a:rPr>
              <a:t>InstaDeep — Tunisie</a:t>
            </a:r>
            <a:endParaRPr lang="en-US" sz="1900" dirty="0"/>
          </a:p>
        </p:txBody>
      </p:sp>
      <p:sp>
        <p:nvSpPr>
          <p:cNvPr id="8" name="Text 5"/>
          <p:cNvSpPr/>
          <p:nvPr/>
        </p:nvSpPr>
        <p:spPr>
          <a:xfrm>
            <a:off x="868680" y="3566160"/>
            <a:ext cx="2971800" cy="1463040"/>
          </a:xfrm>
          <a:prstGeom prst="rect">
            <a:avLst/>
          </a:prstGeom>
          <a:noFill/>
          <a:ln/>
        </p:spPr>
        <p:txBody>
          <a:bodyPr wrap="square" lIns="0" tIns="0" rIns="0" bIns="0" rtlCol="0" anchor="ctr"/>
          <a:lstStyle/>
          <a:p>
            <a:pPr marL="0" indent="0">
              <a:lnSpc>
                <a:spcPct val="125000"/>
              </a:lnSpc>
              <a:buNone/>
            </a:pPr>
            <a:r>
              <a:rPr lang="en-US" sz="1750" dirty="0">
                <a:solidFill>
                  <a:srgbClr val="1A1A1A"/>
                </a:solidFill>
                <a:latin typeface="Calibri" pitchFamily="34" charset="0"/>
                <a:ea typeface="Calibri" pitchFamily="34" charset="-122"/>
                <a:cs typeface="Calibri" pitchFamily="34" charset="-120"/>
              </a:rPr>
              <a:t>IA fondée à Tunis, rachetée par BioNTech pour ~680 M$ (2023). L'une des plus grandes sorties tech du continent.</a:t>
            </a:r>
            <a:endParaRPr lang="en-US" sz="1750" dirty="0"/>
          </a:p>
        </p:txBody>
      </p:sp>
      <p:sp>
        <p:nvSpPr>
          <p:cNvPr id="9" name="Shape 6"/>
          <p:cNvSpPr/>
          <p:nvPr/>
        </p:nvSpPr>
        <p:spPr>
          <a:xfrm>
            <a:off x="868680" y="5120640"/>
            <a:ext cx="2971800" cy="822960"/>
          </a:xfrm>
          <a:prstGeom prst="rect">
            <a:avLst/>
          </a:prstGeom>
          <a:solidFill>
            <a:srgbClr val="000000"/>
          </a:solidFill>
          <a:ln/>
        </p:spPr>
      </p:sp>
      <p:sp>
        <p:nvSpPr>
          <p:cNvPr id="10" name="Text 7"/>
          <p:cNvSpPr/>
          <p:nvPr/>
        </p:nvSpPr>
        <p:spPr>
          <a:xfrm>
            <a:off x="1005840" y="5184648"/>
            <a:ext cx="2697480" cy="713232"/>
          </a:xfrm>
          <a:prstGeom prst="rect">
            <a:avLst/>
          </a:prstGeom>
          <a:noFill/>
          <a:ln/>
        </p:spPr>
        <p:txBody>
          <a:bodyPr wrap="square" lIns="0" tIns="0" rIns="0" bIns="0" rtlCol="0" anchor="ctr"/>
          <a:lstStyle/>
          <a:p>
            <a:pPr marL="0" indent="0">
              <a:lnSpc>
                <a:spcPct val="115000"/>
              </a:lnSpc>
              <a:buNone/>
            </a:pPr>
            <a:r>
              <a:rPr lang="en-US" sz="1600" i="1" dirty="0">
                <a:solidFill>
                  <a:srgbClr val="FFFFFF"/>
                </a:solidFill>
                <a:latin typeface="Calibri" pitchFamily="34" charset="0"/>
                <a:ea typeface="Calibri" pitchFamily="34" charset="-122"/>
                <a:cs typeface="Calibri" pitchFamily="34" charset="-120"/>
              </a:rPr>
              <a:t>Une équipe africaine peut viser le sommet mondial.</a:t>
            </a:r>
            <a:endParaRPr lang="en-US" sz="1600" dirty="0"/>
          </a:p>
        </p:txBody>
      </p:sp>
      <p:sp>
        <p:nvSpPr>
          <p:cNvPr id="11" name="Shape 8"/>
          <p:cNvSpPr/>
          <p:nvPr/>
        </p:nvSpPr>
        <p:spPr>
          <a:xfrm>
            <a:off x="4434840" y="2148840"/>
            <a:ext cx="3429000" cy="3931920"/>
          </a:xfrm>
          <a:prstGeom prst="rect">
            <a:avLst/>
          </a:prstGeom>
          <a:solidFill>
            <a:srgbClr val="EAF5EE"/>
          </a:solidFill>
          <a:ln/>
          <a:effectLst>
            <a:outerShdw blurRad="152400" dist="38100" dir="2700000" algn="bl" rotWithShape="0">
              <a:srgbClr val="000000">
                <a:alpha val="15000"/>
              </a:srgbClr>
            </a:outerShdw>
          </a:effectLst>
        </p:spPr>
      </p:sp>
      <p:sp>
        <p:nvSpPr>
          <p:cNvPr id="12" name="Shape 9"/>
          <p:cNvSpPr/>
          <p:nvPr/>
        </p:nvSpPr>
        <p:spPr>
          <a:xfrm>
            <a:off x="4663440" y="2377440"/>
            <a:ext cx="502920" cy="502920"/>
          </a:xfrm>
          <a:prstGeom prst="ellipse">
            <a:avLst/>
          </a:prstGeom>
          <a:solidFill>
            <a:srgbClr val="8E2DE2"/>
          </a:solidFill>
          <a:ln/>
        </p:spPr>
      </p:sp>
      <p:pic>
        <p:nvPicPr>
          <p:cNvPr id="13" name="Image 1" descr="preencoded.png"/>
          <p:cNvPicPr>
            <a:picLocks noChangeAspect="1"/>
          </p:cNvPicPr>
          <p:nvPr/>
        </p:nvPicPr>
        <p:blipFill>
          <a:blip r:embed="rId3"/>
          <a:stretch>
            <a:fillRect/>
          </a:stretch>
        </p:blipFill>
        <p:spPr>
          <a:xfrm>
            <a:off x="4723790" y="2437790"/>
            <a:ext cx="382219" cy="382219"/>
          </a:xfrm>
          <a:prstGeom prst="rect">
            <a:avLst/>
          </a:prstGeom>
        </p:spPr>
      </p:pic>
      <p:sp>
        <p:nvSpPr>
          <p:cNvPr id="14" name="Text 10"/>
          <p:cNvSpPr/>
          <p:nvPr/>
        </p:nvSpPr>
        <p:spPr>
          <a:xfrm>
            <a:off x="4663440" y="3017520"/>
            <a:ext cx="2971800" cy="502920"/>
          </a:xfrm>
          <a:prstGeom prst="rect">
            <a:avLst/>
          </a:prstGeom>
          <a:noFill/>
          <a:ln/>
        </p:spPr>
        <p:txBody>
          <a:bodyPr wrap="square" lIns="0" tIns="0" rIns="0" bIns="0" rtlCol="0" anchor="ctr"/>
          <a:lstStyle/>
          <a:p>
            <a:pPr marL="0" indent="0">
              <a:buNone/>
            </a:pPr>
            <a:r>
              <a:rPr lang="en-US" sz="1900" b="1" dirty="0">
                <a:solidFill>
                  <a:srgbClr val="000000"/>
                </a:solidFill>
                <a:latin typeface="Cambria" pitchFamily="34" charset="0"/>
                <a:ea typeface="Cambria" pitchFamily="34" charset="-122"/>
                <a:cs typeface="Cambria" pitchFamily="34" charset="-120"/>
              </a:rPr>
              <a:t>Aerobotics — Afrique du Sud</a:t>
            </a:r>
            <a:endParaRPr lang="en-US" sz="1900" dirty="0"/>
          </a:p>
        </p:txBody>
      </p:sp>
      <p:sp>
        <p:nvSpPr>
          <p:cNvPr id="15" name="Text 11"/>
          <p:cNvSpPr/>
          <p:nvPr/>
        </p:nvSpPr>
        <p:spPr>
          <a:xfrm>
            <a:off x="4663440" y="3566160"/>
            <a:ext cx="2971800" cy="1463040"/>
          </a:xfrm>
          <a:prstGeom prst="rect">
            <a:avLst/>
          </a:prstGeom>
          <a:noFill/>
          <a:ln/>
        </p:spPr>
        <p:txBody>
          <a:bodyPr wrap="square" lIns="0" tIns="0" rIns="0" bIns="0" rtlCol="0" anchor="ctr"/>
          <a:lstStyle/>
          <a:p>
            <a:pPr marL="0" indent="0">
              <a:lnSpc>
                <a:spcPct val="125000"/>
              </a:lnSpc>
              <a:buNone/>
            </a:pPr>
            <a:r>
              <a:rPr lang="en-US" sz="1750" dirty="0">
                <a:solidFill>
                  <a:srgbClr val="1A1A1A"/>
                </a:solidFill>
                <a:latin typeface="Calibri" pitchFamily="34" charset="0"/>
                <a:ea typeface="Calibri" pitchFamily="34" charset="-122"/>
                <a:cs typeface="Calibri" pitchFamily="34" charset="-120"/>
              </a:rPr>
              <a:t>Détection IA des maladies dans les vergers. Passée par Y Combinator, déployée jusqu'aux États-Unis.</a:t>
            </a:r>
            <a:endParaRPr lang="en-US" sz="1750" dirty="0"/>
          </a:p>
        </p:txBody>
      </p:sp>
      <p:sp>
        <p:nvSpPr>
          <p:cNvPr id="16" name="Shape 12"/>
          <p:cNvSpPr/>
          <p:nvPr/>
        </p:nvSpPr>
        <p:spPr>
          <a:xfrm>
            <a:off x="4663440" y="5120640"/>
            <a:ext cx="2971800" cy="822960"/>
          </a:xfrm>
          <a:prstGeom prst="rect">
            <a:avLst/>
          </a:prstGeom>
          <a:solidFill>
            <a:srgbClr val="000000"/>
          </a:solidFill>
          <a:ln/>
        </p:spPr>
      </p:sp>
      <p:sp>
        <p:nvSpPr>
          <p:cNvPr id="17" name="Text 13"/>
          <p:cNvSpPr/>
          <p:nvPr/>
        </p:nvSpPr>
        <p:spPr>
          <a:xfrm>
            <a:off x="4800600" y="5184648"/>
            <a:ext cx="2697480" cy="713232"/>
          </a:xfrm>
          <a:prstGeom prst="rect">
            <a:avLst/>
          </a:prstGeom>
          <a:noFill/>
          <a:ln/>
        </p:spPr>
        <p:txBody>
          <a:bodyPr wrap="square" lIns="0" tIns="0" rIns="0" bIns="0" rtlCol="0" anchor="ctr"/>
          <a:lstStyle/>
          <a:p>
            <a:pPr marL="0" indent="0">
              <a:lnSpc>
                <a:spcPct val="115000"/>
              </a:lnSpc>
              <a:buNone/>
            </a:pPr>
            <a:r>
              <a:rPr lang="en-US" sz="1600" i="1" dirty="0">
                <a:solidFill>
                  <a:srgbClr val="FFFFFF"/>
                </a:solidFill>
                <a:latin typeface="Calibri" pitchFamily="34" charset="0"/>
                <a:ea typeface="Calibri" pitchFamily="34" charset="-122"/>
                <a:cs typeface="Calibri" pitchFamily="34" charset="-120"/>
              </a:rPr>
              <a:t>Du problème local à l'adoption mondiale.</a:t>
            </a:r>
            <a:endParaRPr lang="en-US" sz="1600" dirty="0"/>
          </a:p>
        </p:txBody>
      </p:sp>
      <p:sp>
        <p:nvSpPr>
          <p:cNvPr id="18" name="Shape 14"/>
          <p:cNvSpPr/>
          <p:nvPr/>
        </p:nvSpPr>
        <p:spPr>
          <a:xfrm>
            <a:off x="8229600" y="2148840"/>
            <a:ext cx="3429000" cy="3931920"/>
          </a:xfrm>
          <a:prstGeom prst="rect">
            <a:avLst/>
          </a:prstGeom>
          <a:solidFill>
            <a:srgbClr val="EAF5EE"/>
          </a:solidFill>
          <a:ln/>
          <a:effectLst>
            <a:outerShdw blurRad="152400" dist="38100" dir="2700000" algn="bl" rotWithShape="0">
              <a:srgbClr val="000000">
                <a:alpha val="15000"/>
              </a:srgbClr>
            </a:outerShdw>
          </a:effectLst>
        </p:spPr>
      </p:sp>
      <p:sp>
        <p:nvSpPr>
          <p:cNvPr id="19" name="Shape 15"/>
          <p:cNvSpPr/>
          <p:nvPr/>
        </p:nvSpPr>
        <p:spPr>
          <a:xfrm>
            <a:off x="8458200" y="2377440"/>
            <a:ext cx="502920" cy="502920"/>
          </a:xfrm>
          <a:prstGeom prst="ellipse">
            <a:avLst/>
          </a:prstGeom>
          <a:solidFill>
            <a:srgbClr val="8E2DE2"/>
          </a:solidFill>
          <a:ln/>
        </p:spPr>
      </p:sp>
      <p:pic>
        <p:nvPicPr>
          <p:cNvPr id="20" name="Image 2" descr="preencoded.png"/>
          <p:cNvPicPr>
            <a:picLocks noChangeAspect="1"/>
          </p:cNvPicPr>
          <p:nvPr/>
        </p:nvPicPr>
        <p:blipFill>
          <a:blip r:embed="rId3"/>
          <a:stretch>
            <a:fillRect/>
          </a:stretch>
        </p:blipFill>
        <p:spPr>
          <a:xfrm>
            <a:off x="8518550" y="2437790"/>
            <a:ext cx="382219" cy="382219"/>
          </a:xfrm>
          <a:prstGeom prst="rect">
            <a:avLst/>
          </a:prstGeom>
        </p:spPr>
      </p:pic>
      <p:sp>
        <p:nvSpPr>
          <p:cNvPr id="21" name="Text 16"/>
          <p:cNvSpPr/>
          <p:nvPr/>
        </p:nvSpPr>
        <p:spPr>
          <a:xfrm>
            <a:off x="8458200" y="3017520"/>
            <a:ext cx="2971800" cy="502920"/>
          </a:xfrm>
          <a:prstGeom prst="rect">
            <a:avLst/>
          </a:prstGeom>
          <a:noFill/>
          <a:ln/>
        </p:spPr>
        <p:txBody>
          <a:bodyPr wrap="square" lIns="0" tIns="0" rIns="0" bIns="0" rtlCol="0" anchor="ctr"/>
          <a:lstStyle/>
          <a:p>
            <a:pPr marL="0" indent="0">
              <a:buNone/>
            </a:pPr>
            <a:r>
              <a:rPr lang="en-US" sz="1900" b="1" dirty="0">
                <a:solidFill>
                  <a:srgbClr val="000000"/>
                </a:solidFill>
                <a:latin typeface="Cambria" pitchFamily="34" charset="0"/>
                <a:ea typeface="Cambria" pitchFamily="34" charset="-122"/>
                <a:cs typeface="Cambria" pitchFamily="34" charset="-120"/>
              </a:rPr>
              <a:t>M-KOPA — Kenya</a:t>
            </a:r>
            <a:endParaRPr lang="en-US" sz="1900" dirty="0"/>
          </a:p>
        </p:txBody>
      </p:sp>
      <p:sp>
        <p:nvSpPr>
          <p:cNvPr id="22" name="Text 17"/>
          <p:cNvSpPr/>
          <p:nvPr/>
        </p:nvSpPr>
        <p:spPr>
          <a:xfrm>
            <a:off x="8458200" y="3566160"/>
            <a:ext cx="2971800" cy="1463040"/>
          </a:xfrm>
          <a:prstGeom prst="rect">
            <a:avLst/>
          </a:prstGeom>
          <a:noFill/>
          <a:ln/>
        </p:spPr>
        <p:txBody>
          <a:bodyPr wrap="square" lIns="0" tIns="0" rIns="0" bIns="0" rtlCol="0" anchor="ctr"/>
          <a:lstStyle/>
          <a:p>
            <a:pPr marL="0" indent="0">
              <a:lnSpc>
                <a:spcPct val="125000"/>
              </a:lnSpc>
              <a:buNone/>
            </a:pPr>
            <a:r>
              <a:rPr lang="en-US" sz="1750" dirty="0">
                <a:solidFill>
                  <a:srgbClr val="1A1A1A"/>
                </a:solidFill>
                <a:latin typeface="Calibri" pitchFamily="34" charset="0"/>
                <a:ea typeface="Calibri" pitchFamily="34" charset="-122"/>
                <a:cs typeface="Calibri" pitchFamily="34" charset="-120"/>
              </a:rPr>
              <a:t>Scoring IA pour le crédit d'actifs, à grande échelle, dans un marché financier réglementé d'Afrique de l'Est.</a:t>
            </a:r>
            <a:endParaRPr lang="en-US" sz="1750" dirty="0"/>
          </a:p>
        </p:txBody>
      </p:sp>
      <p:sp>
        <p:nvSpPr>
          <p:cNvPr id="23" name="Shape 18"/>
          <p:cNvSpPr/>
          <p:nvPr/>
        </p:nvSpPr>
        <p:spPr>
          <a:xfrm>
            <a:off x="8458200" y="5120640"/>
            <a:ext cx="2971800" cy="822960"/>
          </a:xfrm>
          <a:prstGeom prst="rect">
            <a:avLst/>
          </a:prstGeom>
          <a:solidFill>
            <a:srgbClr val="000000"/>
          </a:solidFill>
          <a:ln/>
        </p:spPr>
      </p:sp>
      <p:sp>
        <p:nvSpPr>
          <p:cNvPr id="24" name="Text 19"/>
          <p:cNvSpPr/>
          <p:nvPr/>
        </p:nvSpPr>
        <p:spPr>
          <a:xfrm>
            <a:off x="8595360" y="5184648"/>
            <a:ext cx="2697480" cy="713232"/>
          </a:xfrm>
          <a:prstGeom prst="rect">
            <a:avLst/>
          </a:prstGeom>
          <a:noFill/>
          <a:ln/>
        </p:spPr>
        <p:txBody>
          <a:bodyPr wrap="square" lIns="0" tIns="0" rIns="0" bIns="0" rtlCol="0" anchor="ctr"/>
          <a:lstStyle/>
          <a:p>
            <a:pPr marL="0" indent="0">
              <a:lnSpc>
                <a:spcPct val="115000"/>
              </a:lnSpc>
              <a:buNone/>
            </a:pPr>
            <a:r>
              <a:rPr lang="en-US" sz="1600" i="1" dirty="0">
                <a:solidFill>
                  <a:srgbClr val="FFFFFF"/>
                </a:solidFill>
                <a:latin typeface="Calibri" pitchFamily="34" charset="0"/>
                <a:ea typeface="Calibri" pitchFamily="34" charset="-122"/>
                <a:cs typeface="Calibri" pitchFamily="34" charset="-120"/>
              </a:rPr>
              <a:t>L'exécution en marché réglementé, à l'échelle.</a:t>
            </a:r>
            <a:endParaRPr lang="en-US" sz="1600" dirty="0"/>
          </a:p>
        </p:txBody>
      </p:sp>
      <p:sp>
        <p:nvSpPr>
          <p:cNvPr id="25" name="Text 20"/>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1400" dirty="0">
                <a:solidFill>
                  <a:srgbClr val="6E6E6E"/>
                </a:solidFill>
                <a:latin typeface="Calibri" pitchFamily="34" charset="0"/>
                <a:ea typeface="Calibri" pitchFamily="34" charset="-122"/>
                <a:cs typeface="Calibri" pitchFamily="34" charset="-120"/>
              </a:rPr>
              <a:t>VIBEATHON 2026 — PITCH MASTERCLASS</a:t>
            </a:r>
            <a:endParaRPr lang="en-US" sz="1400" dirty="0"/>
          </a:p>
        </p:txBody>
      </p:sp>
      <p:sp>
        <p:nvSpPr>
          <p:cNvPr id="26" name="Text 21"/>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1400" dirty="0">
                <a:solidFill>
                  <a:srgbClr val="6E6E6E"/>
                </a:solidFill>
                <a:latin typeface="Calibri" pitchFamily="34" charset="0"/>
                <a:ea typeface="Calibri" pitchFamily="34" charset="-122"/>
                <a:cs typeface="Calibri" pitchFamily="34" charset="-120"/>
              </a:rPr>
              <a:t>34</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9966960" y="-1463040"/>
            <a:ext cx="4572000" cy="4572000"/>
          </a:xfrm>
          <a:prstGeom prst="ellipse">
            <a:avLst/>
          </a:prstGeom>
          <a:solidFill>
            <a:srgbClr val="155D36"/>
          </a:solidFill>
          <a:ln/>
        </p:spPr>
      </p:sp>
      <p:sp>
        <p:nvSpPr>
          <p:cNvPr id="3" name="Shape 1"/>
          <p:cNvSpPr/>
          <p:nvPr/>
        </p:nvSpPr>
        <p:spPr>
          <a:xfrm>
            <a:off x="-2011680" y="4754880"/>
            <a:ext cx="4114800" cy="4114800"/>
          </a:xfrm>
          <a:prstGeom prst="ellipse">
            <a:avLst/>
          </a:prstGeom>
          <a:solidFill>
            <a:srgbClr val="155D36"/>
          </a:solidFill>
          <a:ln/>
        </p:spPr>
      </p:sp>
      <p:sp>
        <p:nvSpPr>
          <p:cNvPr id="4" name="Shape 2"/>
          <p:cNvSpPr/>
          <p:nvPr/>
        </p:nvSpPr>
        <p:spPr>
          <a:xfrm>
            <a:off x="5545836" y="1737360"/>
            <a:ext cx="1097280" cy="1097280"/>
          </a:xfrm>
          <a:prstGeom prst="ellipse">
            <a:avLst/>
          </a:prstGeom>
          <a:solidFill>
            <a:srgbClr val="8E2DE2"/>
          </a:solidFill>
          <a:ln/>
        </p:spPr>
      </p:sp>
      <p:pic>
        <p:nvPicPr>
          <p:cNvPr id="5" name="Image 0" descr="preencoded.png"/>
          <p:cNvPicPr>
            <a:picLocks noChangeAspect="1"/>
          </p:cNvPicPr>
          <p:nvPr/>
        </p:nvPicPr>
        <p:blipFill>
          <a:blip r:embed="rId3"/>
          <a:stretch>
            <a:fillRect/>
          </a:stretch>
        </p:blipFill>
        <p:spPr>
          <a:xfrm>
            <a:off x="5677510" y="1869034"/>
            <a:ext cx="833933" cy="833933"/>
          </a:xfrm>
          <a:prstGeom prst="rect">
            <a:avLst/>
          </a:prstGeom>
        </p:spPr>
      </p:pic>
      <p:sp>
        <p:nvSpPr>
          <p:cNvPr id="6" name="Text 3"/>
          <p:cNvSpPr/>
          <p:nvPr/>
        </p:nvSpPr>
        <p:spPr>
          <a:xfrm>
            <a:off x="0" y="3017520"/>
            <a:ext cx="12188952" cy="82296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À VOUS DE JOUER</a:t>
            </a:r>
            <a:endParaRPr lang="en-US" sz="4400" dirty="0"/>
          </a:p>
        </p:txBody>
      </p:sp>
      <p:sp>
        <p:nvSpPr>
          <p:cNvPr id="7" name="Text 4"/>
          <p:cNvSpPr/>
          <p:nvPr/>
        </p:nvSpPr>
        <p:spPr>
          <a:xfrm>
            <a:off x="0" y="3840480"/>
            <a:ext cx="12188952" cy="548640"/>
          </a:xfrm>
          <a:prstGeom prst="rect">
            <a:avLst/>
          </a:prstGeom>
          <a:noFill/>
          <a:ln/>
        </p:spPr>
        <p:txBody>
          <a:bodyPr wrap="square" lIns="0" tIns="0" rIns="0" bIns="0" rtlCol="0" anchor="ctr"/>
          <a:lstStyle/>
          <a:p>
            <a:pPr marL="0" indent="0" algn="ctr">
              <a:buNone/>
            </a:pPr>
            <a:r>
              <a:rPr lang="en-US" sz="2300" i="1" dirty="0">
                <a:solidFill>
                  <a:srgbClr val="C24BEE"/>
                </a:solidFill>
                <a:latin typeface="Calibri" pitchFamily="34" charset="0"/>
                <a:ea typeface="Calibri" pitchFamily="34" charset="-122"/>
                <a:cs typeface="Calibri" pitchFamily="34" charset="-120"/>
              </a:rPr>
              <a:t>From African Ideas to Global Impact</a:t>
            </a:r>
            <a:endParaRPr lang="en-US" sz="2300" dirty="0"/>
          </a:p>
        </p:txBody>
      </p:sp>
      <p:sp>
        <p:nvSpPr>
          <p:cNvPr id="8" name="Text 5"/>
          <p:cNvSpPr/>
          <p:nvPr/>
        </p:nvSpPr>
        <p:spPr>
          <a:xfrm>
            <a:off x="0" y="6035040"/>
            <a:ext cx="12188952" cy="365760"/>
          </a:xfrm>
          <a:prstGeom prst="rect">
            <a:avLst/>
          </a:prstGeom>
          <a:noFill/>
          <a:ln/>
        </p:spPr>
        <p:txBody>
          <a:bodyPr wrap="square" lIns="0" tIns="0" rIns="0" bIns="0" rtlCol="0" anchor="ctr"/>
          <a:lstStyle/>
          <a:p>
            <a:pPr marL="0" indent="0" algn="ctr">
              <a:buNone/>
            </a:pPr>
            <a:r>
              <a:rPr lang="en-US" sz="1750" b="1" kern="0" spc="200" dirty="0">
                <a:solidFill>
                  <a:srgbClr val="6E6E6E"/>
                </a:solidFill>
                <a:latin typeface="Calibri" pitchFamily="34" charset="0"/>
                <a:ea typeface="Calibri" pitchFamily="34" charset="-122"/>
                <a:cs typeface="Calibri" pitchFamily="34" charset="-120"/>
              </a:rPr>
              <a:t>AFRINOVATECH</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1490</TotalTime>
  <Words>2025</Words>
  <Application>Microsoft Office PowerPoint</Application>
  <PresentationFormat>Grand écran</PresentationFormat>
  <Paragraphs>395</Paragraphs>
  <Slides>35</Slides>
  <Notes>35</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35</vt:i4>
      </vt:variant>
    </vt:vector>
  </HeadingPairs>
  <TitlesOfParts>
    <vt:vector size="39"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VIBEATHON 2026 — Pitch Masterclass (4h)</dc:title>
  <dc:subject>PptxGenJS Presentation</dc:subject>
  <dc:creator>AFRINOVATECH</dc:creator>
  <cp:lastModifiedBy>LYDISHOP BOUTIQUE</cp:lastModifiedBy>
  <cp:revision>6</cp:revision>
  <dcterms:created xsi:type="dcterms:W3CDTF">2026-07-03T07:34:08Z</dcterms:created>
  <dcterms:modified xsi:type="dcterms:W3CDTF">2026-07-04T08:28:46Z</dcterms:modified>
</cp:coreProperties>
</file>